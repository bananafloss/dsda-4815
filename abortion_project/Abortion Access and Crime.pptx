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88" r:id="rId7"/>
    <p:sldId id="271" r:id="rId8"/>
    <p:sldId id="272" r:id="rId9"/>
    <p:sldId id="273" r:id="rId10"/>
    <p:sldId id="274" r:id="rId11"/>
    <p:sldId id="275" r:id="rId12"/>
    <p:sldId id="276" r:id="rId13"/>
    <p:sldId id="285" r:id="rId14"/>
    <p:sldId id="279" r:id="rId15"/>
    <p:sldId id="283" r:id="rId16"/>
    <p:sldId id="278" r:id="rId17"/>
    <p:sldId id="280" r:id="rId18"/>
    <p:sldId id="281" r:id="rId19"/>
    <p:sldId id="284" r:id="rId20"/>
    <p:sldId id="289" r:id="rId21"/>
    <p:sldId id="286" r:id="rId22"/>
    <p:sldId id="287" r:id="rId23"/>
    <p:sldId id="290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99" d="100"/>
          <a:sy n="99" d="100"/>
        </p:scale>
        <p:origin x="87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EF10DE-9897-4FCF-BE0A-1E342637219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0DAD21-BC44-4AE6-9B16-41449FAD69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Clear inflection point (country wide legalization)</a:t>
          </a:r>
        </a:p>
      </dgm:t>
    </dgm:pt>
    <dgm:pt modelId="{74C765DF-D288-4A89-A85B-5610A13AE727}" type="parTrans" cxnId="{417CB8B0-7D39-40D1-AC02-A61292D8F81B}">
      <dgm:prSet/>
      <dgm:spPr/>
      <dgm:t>
        <a:bodyPr/>
        <a:lstStyle/>
        <a:p>
          <a:endParaRPr lang="en-US"/>
        </a:p>
      </dgm:t>
    </dgm:pt>
    <dgm:pt modelId="{C39520AA-A752-492B-B5AA-E64DACCA6C6B}" type="sibTrans" cxnId="{417CB8B0-7D39-40D1-AC02-A61292D8F81B}">
      <dgm:prSet/>
      <dgm:spPr/>
      <dgm:t>
        <a:bodyPr/>
        <a:lstStyle/>
        <a:p>
          <a:endParaRPr lang="en-US"/>
        </a:p>
      </dgm:t>
    </dgm:pt>
    <dgm:pt modelId="{33370750-5AB5-43CC-9BC5-E012E6319D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Some states legalized sooner</a:t>
          </a:r>
        </a:p>
      </dgm:t>
    </dgm:pt>
    <dgm:pt modelId="{60AEBB57-DEA4-4C94-97D7-9993EB46E3E2}" type="parTrans" cxnId="{63A94864-6A47-4433-86E5-3CA9F1784CFB}">
      <dgm:prSet/>
      <dgm:spPr/>
      <dgm:t>
        <a:bodyPr/>
        <a:lstStyle/>
        <a:p>
          <a:endParaRPr lang="en-US"/>
        </a:p>
      </dgm:t>
    </dgm:pt>
    <dgm:pt modelId="{00090807-33EF-4460-BA35-746E21403385}" type="sibTrans" cxnId="{63A94864-6A47-4433-86E5-3CA9F1784CFB}">
      <dgm:prSet/>
      <dgm:spPr/>
      <dgm:t>
        <a:bodyPr/>
        <a:lstStyle/>
        <a:p>
          <a:endParaRPr lang="en-US"/>
        </a:p>
      </dgm:t>
    </dgm:pt>
    <dgm:pt modelId="{951C2021-0F68-4159-8981-E05022A4FE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Compare the crime rates and drop offs in these earlier states vs later states</a:t>
          </a:r>
        </a:p>
      </dgm:t>
    </dgm:pt>
    <dgm:pt modelId="{859CF9C1-B636-468A-8B48-BBB577046BE0}" type="parTrans" cxnId="{1CD5A0AF-8011-4C39-848A-3E8C4986BEB0}">
      <dgm:prSet/>
      <dgm:spPr/>
      <dgm:t>
        <a:bodyPr/>
        <a:lstStyle/>
        <a:p>
          <a:endParaRPr lang="en-US"/>
        </a:p>
      </dgm:t>
    </dgm:pt>
    <dgm:pt modelId="{6A0871CB-6AD6-4468-8AE4-3FAA7423E1D5}" type="sibTrans" cxnId="{1CD5A0AF-8011-4C39-848A-3E8C4986BEB0}">
      <dgm:prSet/>
      <dgm:spPr/>
      <dgm:t>
        <a:bodyPr/>
        <a:lstStyle/>
        <a:p>
          <a:endParaRPr lang="en-US"/>
        </a:p>
      </dgm:t>
    </dgm:pt>
    <dgm:pt modelId="{691BB32C-4175-4F03-A10D-DDA845D0D30F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CD522D35-411D-45C4-91DB-B51C75CFCDA2}" type="parTrans" cxnId="{F3605C46-3CB0-4100-8ECE-B56B2713E729}">
      <dgm:prSet/>
      <dgm:spPr/>
      <dgm:t>
        <a:bodyPr/>
        <a:lstStyle/>
        <a:p>
          <a:endParaRPr lang="en-US"/>
        </a:p>
      </dgm:t>
    </dgm:pt>
    <dgm:pt modelId="{FEC6D3C4-A0E9-4C15-8F3F-2A35C9E74C58}" type="sibTrans" cxnId="{F3605C46-3CB0-4100-8ECE-B56B2713E729}">
      <dgm:prSet/>
      <dgm:spPr/>
      <dgm:t>
        <a:bodyPr/>
        <a:lstStyle/>
        <a:p>
          <a:endParaRPr lang="en-US"/>
        </a:p>
      </dgm:t>
    </dgm:pt>
    <dgm:pt modelId="{AF55F206-D118-43ED-82A4-E0A10CF3E5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Controlled for various factors</a:t>
          </a:r>
        </a:p>
      </dgm:t>
    </dgm:pt>
    <dgm:pt modelId="{BE6FCDE5-CB53-4D38-83A4-34104F99EBFD}" type="parTrans" cxnId="{32BEF6B5-F241-4741-86B7-88F5FF9CEEB1}">
      <dgm:prSet/>
      <dgm:spPr/>
      <dgm:t>
        <a:bodyPr/>
        <a:lstStyle/>
        <a:p>
          <a:endParaRPr lang="en-US"/>
        </a:p>
      </dgm:t>
    </dgm:pt>
    <dgm:pt modelId="{8A0ED3EE-D35C-4177-A57A-8F9E743EE668}" type="sibTrans" cxnId="{32BEF6B5-F241-4741-86B7-88F5FF9CEEB1}">
      <dgm:prSet/>
      <dgm:spPr/>
      <dgm:t>
        <a:bodyPr/>
        <a:lstStyle/>
        <a:p>
          <a:endParaRPr lang="en-US"/>
        </a:p>
      </dgm:t>
    </dgm:pt>
    <dgm:pt modelId="{6843EC3A-2404-43C2-BCCC-DEC8983CC9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Policing levels</a:t>
          </a:r>
        </a:p>
      </dgm:t>
    </dgm:pt>
    <dgm:pt modelId="{907FB09E-8710-4D1C-ADA3-A18AF0634737}" type="parTrans" cxnId="{A5406070-1CA0-44C6-BCAA-8FEBD152532E}">
      <dgm:prSet/>
      <dgm:spPr/>
      <dgm:t>
        <a:bodyPr/>
        <a:lstStyle/>
        <a:p>
          <a:endParaRPr lang="en-US"/>
        </a:p>
      </dgm:t>
    </dgm:pt>
    <dgm:pt modelId="{6E92BDAF-2AB3-4670-9181-04527C2D78E3}" type="sibTrans" cxnId="{A5406070-1CA0-44C6-BCAA-8FEBD152532E}">
      <dgm:prSet/>
      <dgm:spPr/>
      <dgm:t>
        <a:bodyPr/>
        <a:lstStyle/>
        <a:p>
          <a:endParaRPr lang="en-US"/>
        </a:p>
      </dgm:t>
    </dgm:pt>
    <dgm:pt modelId="{EDCC739C-CC25-484E-9E90-C6A0A5BDFD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Economic conditions</a:t>
          </a:r>
        </a:p>
      </dgm:t>
    </dgm:pt>
    <dgm:pt modelId="{C302F4D3-432D-4E05-8453-00A842E367CE}" type="parTrans" cxnId="{9D71D95B-652E-4307-B529-14D62C7B1EC5}">
      <dgm:prSet/>
      <dgm:spPr/>
      <dgm:t>
        <a:bodyPr/>
        <a:lstStyle/>
        <a:p>
          <a:endParaRPr lang="en-US"/>
        </a:p>
      </dgm:t>
    </dgm:pt>
    <dgm:pt modelId="{AABF9712-4919-4987-A9A9-7DA0094275A9}" type="sibTrans" cxnId="{9D71D95B-652E-4307-B529-14D62C7B1EC5}">
      <dgm:prSet/>
      <dgm:spPr/>
      <dgm:t>
        <a:bodyPr/>
        <a:lstStyle/>
        <a:p>
          <a:endParaRPr lang="en-US"/>
        </a:p>
      </dgm:t>
    </dgm:pt>
    <dgm:pt modelId="{8BDBF1F3-1165-4DD8-9CB8-5F7DA510BAFD}" type="pres">
      <dgm:prSet presAssocID="{21EF10DE-9897-4FCF-BE0A-1E3426372193}" presName="root" presStyleCnt="0">
        <dgm:presLayoutVars>
          <dgm:dir/>
          <dgm:resizeHandles val="exact"/>
        </dgm:presLayoutVars>
      </dgm:prSet>
      <dgm:spPr/>
    </dgm:pt>
    <dgm:pt modelId="{CF7D1AD7-35AD-4D16-ADD8-C0FD07DDFBFE}" type="pres">
      <dgm:prSet presAssocID="{420DAD21-BC44-4AE6-9B16-41449FAD693D}" presName="compNode" presStyleCnt="0"/>
      <dgm:spPr/>
    </dgm:pt>
    <dgm:pt modelId="{5F9A99B5-9D5E-452E-9483-BA15BC07DA71}" type="pres">
      <dgm:prSet presAssocID="{420DAD21-BC44-4AE6-9B16-41449FAD693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F989903C-2BFC-4FC2-A800-1FE2B5791614}" type="pres">
      <dgm:prSet presAssocID="{420DAD21-BC44-4AE6-9B16-41449FAD693D}" presName="iconSpace" presStyleCnt="0"/>
      <dgm:spPr/>
    </dgm:pt>
    <dgm:pt modelId="{68AB02DE-CE7F-47FA-BB5F-D4CF6FB58ACD}" type="pres">
      <dgm:prSet presAssocID="{420DAD21-BC44-4AE6-9B16-41449FAD693D}" presName="parTx" presStyleLbl="revTx" presStyleIdx="0" presStyleCnt="8">
        <dgm:presLayoutVars>
          <dgm:chMax val="0"/>
          <dgm:chPref val="0"/>
        </dgm:presLayoutVars>
      </dgm:prSet>
      <dgm:spPr/>
    </dgm:pt>
    <dgm:pt modelId="{877EA0CA-0C7E-40F9-95BE-281C5C64E82F}" type="pres">
      <dgm:prSet presAssocID="{420DAD21-BC44-4AE6-9B16-41449FAD693D}" presName="txSpace" presStyleCnt="0"/>
      <dgm:spPr/>
    </dgm:pt>
    <dgm:pt modelId="{A172C3F5-0100-4406-A472-6D92C45FFE4D}" type="pres">
      <dgm:prSet presAssocID="{420DAD21-BC44-4AE6-9B16-41449FAD693D}" presName="desTx" presStyleLbl="revTx" presStyleIdx="1" presStyleCnt="8">
        <dgm:presLayoutVars/>
      </dgm:prSet>
      <dgm:spPr/>
    </dgm:pt>
    <dgm:pt modelId="{BACD9DA8-643A-423D-A712-E595B3144497}" type="pres">
      <dgm:prSet presAssocID="{C39520AA-A752-492B-B5AA-E64DACCA6C6B}" presName="sibTrans" presStyleCnt="0"/>
      <dgm:spPr/>
    </dgm:pt>
    <dgm:pt modelId="{96066BD5-58C8-4A48-B68E-4BE0C1DCFABE}" type="pres">
      <dgm:prSet presAssocID="{33370750-5AB5-43CC-9BC5-E012E6319D80}" presName="compNode" presStyleCnt="0"/>
      <dgm:spPr/>
    </dgm:pt>
    <dgm:pt modelId="{9C69208D-3FA8-4CDB-AD16-A1498D8BF082}" type="pres">
      <dgm:prSet presAssocID="{33370750-5AB5-43CC-9BC5-E012E6319D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583E338-8A42-4640-BD76-95E7F2C78161}" type="pres">
      <dgm:prSet presAssocID="{33370750-5AB5-43CC-9BC5-E012E6319D80}" presName="iconSpace" presStyleCnt="0"/>
      <dgm:spPr/>
    </dgm:pt>
    <dgm:pt modelId="{8E04517A-480C-43E2-BDA9-25A7D0674E07}" type="pres">
      <dgm:prSet presAssocID="{33370750-5AB5-43CC-9BC5-E012E6319D80}" presName="parTx" presStyleLbl="revTx" presStyleIdx="2" presStyleCnt="8">
        <dgm:presLayoutVars>
          <dgm:chMax val="0"/>
          <dgm:chPref val="0"/>
        </dgm:presLayoutVars>
      </dgm:prSet>
      <dgm:spPr/>
    </dgm:pt>
    <dgm:pt modelId="{0874E785-BA9F-4FEB-9FE8-855A163D9727}" type="pres">
      <dgm:prSet presAssocID="{33370750-5AB5-43CC-9BC5-E012E6319D80}" presName="txSpace" presStyleCnt="0"/>
      <dgm:spPr/>
    </dgm:pt>
    <dgm:pt modelId="{0095564F-C8E8-433A-A595-59E44F23D908}" type="pres">
      <dgm:prSet presAssocID="{33370750-5AB5-43CC-9BC5-E012E6319D80}" presName="desTx" presStyleLbl="revTx" presStyleIdx="3" presStyleCnt="8">
        <dgm:presLayoutVars/>
      </dgm:prSet>
      <dgm:spPr/>
    </dgm:pt>
    <dgm:pt modelId="{3A0002EB-2963-418F-9C21-42DE1065F953}" type="pres">
      <dgm:prSet presAssocID="{00090807-33EF-4460-BA35-746E21403385}" presName="sibTrans" presStyleCnt="0"/>
      <dgm:spPr/>
    </dgm:pt>
    <dgm:pt modelId="{CCD77D08-734A-4D0C-BD79-1EFFBEA4B1F0}" type="pres">
      <dgm:prSet presAssocID="{951C2021-0F68-4159-8981-E05022A4FE87}" presName="compNode" presStyleCnt="0"/>
      <dgm:spPr/>
    </dgm:pt>
    <dgm:pt modelId="{11CF7A9A-DD9A-4BBF-9DC6-1BB455735104}" type="pres">
      <dgm:prSet presAssocID="{951C2021-0F68-4159-8981-E05022A4FE8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3F7F6035-8C73-4DD7-A016-98E8074D4C40}" type="pres">
      <dgm:prSet presAssocID="{951C2021-0F68-4159-8981-E05022A4FE87}" presName="iconSpace" presStyleCnt="0"/>
      <dgm:spPr/>
    </dgm:pt>
    <dgm:pt modelId="{E780A9E6-217D-48FE-B469-16133E11BE88}" type="pres">
      <dgm:prSet presAssocID="{951C2021-0F68-4159-8981-E05022A4FE87}" presName="parTx" presStyleLbl="revTx" presStyleIdx="4" presStyleCnt="8">
        <dgm:presLayoutVars>
          <dgm:chMax val="0"/>
          <dgm:chPref val="0"/>
        </dgm:presLayoutVars>
      </dgm:prSet>
      <dgm:spPr/>
    </dgm:pt>
    <dgm:pt modelId="{90A4C07F-A995-4EAA-92ED-CAA1FF35CD55}" type="pres">
      <dgm:prSet presAssocID="{951C2021-0F68-4159-8981-E05022A4FE87}" presName="txSpace" presStyleCnt="0"/>
      <dgm:spPr/>
    </dgm:pt>
    <dgm:pt modelId="{B5D0B143-5240-420F-873C-CBD57A136FED}" type="pres">
      <dgm:prSet presAssocID="{951C2021-0F68-4159-8981-E05022A4FE87}" presName="desTx" presStyleLbl="revTx" presStyleIdx="5" presStyleCnt="8">
        <dgm:presLayoutVars/>
      </dgm:prSet>
      <dgm:spPr/>
    </dgm:pt>
    <dgm:pt modelId="{BD5EBC49-715B-4FCB-8C47-6CB04227362B}" type="pres">
      <dgm:prSet presAssocID="{6A0871CB-6AD6-4468-8AE4-3FAA7423E1D5}" presName="sibTrans" presStyleCnt="0"/>
      <dgm:spPr/>
    </dgm:pt>
    <dgm:pt modelId="{E42E51EE-47A3-4B98-9F8F-AF9CBCA4E339}" type="pres">
      <dgm:prSet presAssocID="{AF55F206-D118-43ED-82A4-E0A10CF3E5C0}" presName="compNode" presStyleCnt="0"/>
      <dgm:spPr/>
    </dgm:pt>
    <dgm:pt modelId="{A6BA6085-8260-42F0-8E03-9832D6549A71}" type="pres">
      <dgm:prSet presAssocID="{AF55F206-D118-43ED-82A4-E0A10CF3E5C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1267A69-6083-4C5D-998A-1F4A2E511C0F}" type="pres">
      <dgm:prSet presAssocID="{AF55F206-D118-43ED-82A4-E0A10CF3E5C0}" presName="iconSpace" presStyleCnt="0"/>
      <dgm:spPr/>
    </dgm:pt>
    <dgm:pt modelId="{2101FDD3-2E8C-429F-AF4C-B2F6C6930098}" type="pres">
      <dgm:prSet presAssocID="{AF55F206-D118-43ED-82A4-E0A10CF3E5C0}" presName="parTx" presStyleLbl="revTx" presStyleIdx="6" presStyleCnt="8">
        <dgm:presLayoutVars>
          <dgm:chMax val="0"/>
          <dgm:chPref val="0"/>
        </dgm:presLayoutVars>
      </dgm:prSet>
      <dgm:spPr/>
    </dgm:pt>
    <dgm:pt modelId="{3E3AFB76-AADF-4005-94D4-8BAAA2C28738}" type="pres">
      <dgm:prSet presAssocID="{AF55F206-D118-43ED-82A4-E0A10CF3E5C0}" presName="txSpace" presStyleCnt="0"/>
      <dgm:spPr/>
    </dgm:pt>
    <dgm:pt modelId="{E2EAB527-CE82-439E-8644-A523B8F4E620}" type="pres">
      <dgm:prSet presAssocID="{AF55F206-D118-43ED-82A4-E0A10CF3E5C0}" presName="desTx" presStyleLbl="revTx" presStyleIdx="7" presStyleCnt="8">
        <dgm:presLayoutVars/>
      </dgm:prSet>
      <dgm:spPr/>
    </dgm:pt>
  </dgm:ptLst>
  <dgm:cxnLst>
    <dgm:cxn modelId="{DAE8460D-47EA-4AE4-B50E-1F67ACE5EFA6}" type="presOf" srcId="{691BB32C-4175-4F03-A10D-DDA845D0D30F}" destId="{B5D0B143-5240-420F-873C-CBD57A136FED}" srcOrd="0" destOrd="0" presId="urn:microsoft.com/office/officeart/2018/2/layout/IconLabelDescriptionList"/>
    <dgm:cxn modelId="{1E26D61E-9C4A-4321-B8BE-C0A4A8308B20}" type="presOf" srcId="{AF55F206-D118-43ED-82A4-E0A10CF3E5C0}" destId="{2101FDD3-2E8C-429F-AF4C-B2F6C6930098}" srcOrd="0" destOrd="0" presId="urn:microsoft.com/office/officeart/2018/2/layout/IconLabelDescriptionList"/>
    <dgm:cxn modelId="{BD7A9E32-7137-470D-96AE-43D1FC6DA6AA}" type="presOf" srcId="{420DAD21-BC44-4AE6-9B16-41449FAD693D}" destId="{68AB02DE-CE7F-47FA-BB5F-D4CF6FB58ACD}" srcOrd="0" destOrd="0" presId="urn:microsoft.com/office/officeart/2018/2/layout/IconLabelDescriptionList"/>
    <dgm:cxn modelId="{30758436-E6D7-491E-A686-1C786D1DD2D0}" type="presOf" srcId="{951C2021-0F68-4159-8981-E05022A4FE87}" destId="{E780A9E6-217D-48FE-B469-16133E11BE88}" srcOrd="0" destOrd="0" presId="urn:microsoft.com/office/officeart/2018/2/layout/IconLabelDescriptionList"/>
    <dgm:cxn modelId="{9D71D95B-652E-4307-B529-14D62C7B1EC5}" srcId="{AF55F206-D118-43ED-82A4-E0A10CF3E5C0}" destId="{EDCC739C-CC25-484E-9E90-C6A0A5BDFDA3}" srcOrd="1" destOrd="0" parTransId="{C302F4D3-432D-4E05-8453-00A842E367CE}" sibTransId="{AABF9712-4919-4987-A9A9-7DA0094275A9}"/>
    <dgm:cxn modelId="{E76E245D-AFCE-41AD-8071-6ED727EA1A39}" type="presOf" srcId="{EDCC739C-CC25-484E-9E90-C6A0A5BDFDA3}" destId="{E2EAB527-CE82-439E-8644-A523B8F4E620}" srcOrd="0" destOrd="1" presId="urn:microsoft.com/office/officeart/2018/2/layout/IconLabelDescriptionList"/>
    <dgm:cxn modelId="{63A94864-6A47-4433-86E5-3CA9F1784CFB}" srcId="{21EF10DE-9897-4FCF-BE0A-1E3426372193}" destId="{33370750-5AB5-43CC-9BC5-E012E6319D80}" srcOrd="1" destOrd="0" parTransId="{60AEBB57-DEA4-4C94-97D7-9993EB46E3E2}" sibTransId="{00090807-33EF-4460-BA35-746E21403385}"/>
    <dgm:cxn modelId="{F3605C46-3CB0-4100-8ECE-B56B2713E729}" srcId="{951C2021-0F68-4159-8981-E05022A4FE87}" destId="{691BB32C-4175-4F03-A10D-DDA845D0D30F}" srcOrd="0" destOrd="0" parTransId="{CD522D35-411D-45C4-91DB-B51C75CFCDA2}" sibTransId="{FEC6D3C4-A0E9-4C15-8F3F-2A35C9E74C58}"/>
    <dgm:cxn modelId="{FA124E49-ADFF-47DB-BCDD-90AE8C003C5A}" type="presOf" srcId="{33370750-5AB5-43CC-9BC5-E012E6319D80}" destId="{8E04517A-480C-43E2-BDA9-25A7D0674E07}" srcOrd="0" destOrd="0" presId="urn:microsoft.com/office/officeart/2018/2/layout/IconLabelDescriptionList"/>
    <dgm:cxn modelId="{A5406070-1CA0-44C6-BCAA-8FEBD152532E}" srcId="{AF55F206-D118-43ED-82A4-E0A10CF3E5C0}" destId="{6843EC3A-2404-43C2-BCCC-DEC8983CC90F}" srcOrd="0" destOrd="0" parTransId="{907FB09E-8710-4D1C-ADA3-A18AF0634737}" sibTransId="{6E92BDAF-2AB3-4670-9181-04527C2D78E3}"/>
    <dgm:cxn modelId="{1CD5A0AF-8011-4C39-848A-3E8C4986BEB0}" srcId="{21EF10DE-9897-4FCF-BE0A-1E3426372193}" destId="{951C2021-0F68-4159-8981-E05022A4FE87}" srcOrd="2" destOrd="0" parTransId="{859CF9C1-B636-468A-8B48-BBB577046BE0}" sibTransId="{6A0871CB-6AD6-4468-8AE4-3FAA7423E1D5}"/>
    <dgm:cxn modelId="{417CB8B0-7D39-40D1-AC02-A61292D8F81B}" srcId="{21EF10DE-9897-4FCF-BE0A-1E3426372193}" destId="{420DAD21-BC44-4AE6-9B16-41449FAD693D}" srcOrd="0" destOrd="0" parTransId="{74C765DF-D288-4A89-A85B-5610A13AE727}" sibTransId="{C39520AA-A752-492B-B5AA-E64DACCA6C6B}"/>
    <dgm:cxn modelId="{32BEF6B5-F241-4741-86B7-88F5FF9CEEB1}" srcId="{21EF10DE-9897-4FCF-BE0A-1E3426372193}" destId="{AF55F206-D118-43ED-82A4-E0A10CF3E5C0}" srcOrd="3" destOrd="0" parTransId="{BE6FCDE5-CB53-4D38-83A4-34104F99EBFD}" sibTransId="{8A0ED3EE-D35C-4177-A57A-8F9E743EE668}"/>
    <dgm:cxn modelId="{A7958BD3-2AB5-49F9-82B2-AC8F67B64844}" type="presOf" srcId="{21EF10DE-9897-4FCF-BE0A-1E3426372193}" destId="{8BDBF1F3-1165-4DD8-9CB8-5F7DA510BAFD}" srcOrd="0" destOrd="0" presId="urn:microsoft.com/office/officeart/2018/2/layout/IconLabelDescriptionList"/>
    <dgm:cxn modelId="{D795C8FF-3F10-4467-9F22-EA2D73718D8E}" type="presOf" srcId="{6843EC3A-2404-43C2-BCCC-DEC8983CC90F}" destId="{E2EAB527-CE82-439E-8644-A523B8F4E620}" srcOrd="0" destOrd="0" presId="urn:microsoft.com/office/officeart/2018/2/layout/IconLabelDescriptionList"/>
    <dgm:cxn modelId="{49756E9E-9D06-492C-BB19-657E538A2BB3}" type="presParOf" srcId="{8BDBF1F3-1165-4DD8-9CB8-5F7DA510BAFD}" destId="{CF7D1AD7-35AD-4D16-ADD8-C0FD07DDFBFE}" srcOrd="0" destOrd="0" presId="urn:microsoft.com/office/officeart/2018/2/layout/IconLabelDescriptionList"/>
    <dgm:cxn modelId="{637B6081-552F-4AEF-A84B-2ACBCA18C568}" type="presParOf" srcId="{CF7D1AD7-35AD-4D16-ADD8-C0FD07DDFBFE}" destId="{5F9A99B5-9D5E-452E-9483-BA15BC07DA71}" srcOrd="0" destOrd="0" presId="urn:microsoft.com/office/officeart/2018/2/layout/IconLabelDescriptionList"/>
    <dgm:cxn modelId="{8CF4CD8F-7F3E-416A-8D07-50F937635FAE}" type="presParOf" srcId="{CF7D1AD7-35AD-4D16-ADD8-C0FD07DDFBFE}" destId="{F989903C-2BFC-4FC2-A800-1FE2B5791614}" srcOrd="1" destOrd="0" presId="urn:microsoft.com/office/officeart/2018/2/layout/IconLabelDescriptionList"/>
    <dgm:cxn modelId="{3D935990-ED8F-486C-9C7C-2C7785941919}" type="presParOf" srcId="{CF7D1AD7-35AD-4D16-ADD8-C0FD07DDFBFE}" destId="{68AB02DE-CE7F-47FA-BB5F-D4CF6FB58ACD}" srcOrd="2" destOrd="0" presId="urn:microsoft.com/office/officeart/2018/2/layout/IconLabelDescriptionList"/>
    <dgm:cxn modelId="{F032E2F1-EAE4-4CBE-87ED-8C717A3CB95B}" type="presParOf" srcId="{CF7D1AD7-35AD-4D16-ADD8-C0FD07DDFBFE}" destId="{877EA0CA-0C7E-40F9-95BE-281C5C64E82F}" srcOrd="3" destOrd="0" presId="urn:microsoft.com/office/officeart/2018/2/layout/IconLabelDescriptionList"/>
    <dgm:cxn modelId="{69AC9724-54B2-4155-B570-4085A6D61833}" type="presParOf" srcId="{CF7D1AD7-35AD-4D16-ADD8-C0FD07DDFBFE}" destId="{A172C3F5-0100-4406-A472-6D92C45FFE4D}" srcOrd="4" destOrd="0" presId="urn:microsoft.com/office/officeart/2018/2/layout/IconLabelDescriptionList"/>
    <dgm:cxn modelId="{7A7367E1-CBF7-40C6-8A51-8D66B2A91109}" type="presParOf" srcId="{8BDBF1F3-1165-4DD8-9CB8-5F7DA510BAFD}" destId="{BACD9DA8-643A-423D-A712-E595B3144497}" srcOrd="1" destOrd="0" presId="urn:microsoft.com/office/officeart/2018/2/layout/IconLabelDescriptionList"/>
    <dgm:cxn modelId="{765B488C-8C51-4837-BFB4-96E7FCDDB386}" type="presParOf" srcId="{8BDBF1F3-1165-4DD8-9CB8-5F7DA510BAFD}" destId="{96066BD5-58C8-4A48-B68E-4BE0C1DCFABE}" srcOrd="2" destOrd="0" presId="urn:microsoft.com/office/officeart/2018/2/layout/IconLabelDescriptionList"/>
    <dgm:cxn modelId="{C7CA8252-C1F9-40C1-A0F5-40463F6E6398}" type="presParOf" srcId="{96066BD5-58C8-4A48-B68E-4BE0C1DCFABE}" destId="{9C69208D-3FA8-4CDB-AD16-A1498D8BF082}" srcOrd="0" destOrd="0" presId="urn:microsoft.com/office/officeart/2018/2/layout/IconLabelDescriptionList"/>
    <dgm:cxn modelId="{6AB83658-CFA6-4E47-B3A2-6702FE35864D}" type="presParOf" srcId="{96066BD5-58C8-4A48-B68E-4BE0C1DCFABE}" destId="{8583E338-8A42-4640-BD76-95E7F2C78161}" srcOrd="1" destOrd="0" presId="urn:microsoft.com/office/officeart/2018/2/layout/IconLabelDescriptionList"/>
    <dgm:cxn modelId="{19A49999-8F47-40FA-B382-F72FA5BC0495}" type="presParOf" srcId="{96066BD5-58C8-4A48-B68E-4BE0C1DCFABE}" destId="{8E04517A-480C-43E2-BDA9-25A7D0674E07}" srcOrd="2" destOrd="0" presId="urn:microsoft.com/office/officeart/2018/2/layout/IconLabelDescriptionList"/>
    <dgm:cxn modelId="{7138E25C-9E46-4034-9AF0-70538DF531E0}" type="presParOf" srcId="{96066BD5-58C8-4A48-B68E-4BE0C1DCFABE}" destId="{0874E785-BA9F-4FEB-9FE8-855A163D9727}" srcOrd="3" destOrd="0" presId="urn:microsoft.com/office/officeart/2018/2/layout/IconLabelDescriptionList"/>
    <dgm:cxn modelId="{0DE73243-275C-45B0-8894-6B666D9F2878}" type="presParOf" srcId="{96066BD5-58C8-4A48-B68E-4BE0C1DCFABE}" destId="{0095564F-C8E8-433A-A595-59E44F23D908}" srcOrd="4" destOrd="0" presId="urn:microsoft.com/office/officeart/2018/2/layout/IconLabelDescriptionList"/>
    <dgm:cxn modelId="{F6A17187-0BA6-413C-8E23-D3B0B2042246}" type="presParOf" srcId="{8BDBF1F3-1165-4DD8-9CB8-5F7DA510BAFD}" destId="{3A0002EB-2963-418F-9C21-42DE1065F953}" srcOrd="3" destOrd="0" presId="urn:microsoft.com/office/officeart/2018/2/layout/IconLabelDescriptionList"/>
    <dgm:cxn modelId="{E0CFFA06-BAF8-4228-B97F-E5C7437D1BA2}" type="presParOf" srcId="{8BDBF1F3-1165-4DD8-9CB8-5F7DA510BAFD}" destId="{CCD77D08-734A-4D0C-BD79-1EFFBEA4B1F0}" srcOrd="4" destOrd="0" presId="urn:microsoft.com/office/officeart/2018/2/layout/IconLabelDescriptionList"/>
    <dgm:cxn modelId="{86943CA7-BA52-48D0-94F5-68E6D553B6D3}" type="presParOf" srcId="{CCD77D08-734A-4D0C-BD79-1EFFBEA4B1F0}" destId="{11CF7A9A-DD9A-4BBF-9DC6-1BB455735104}" srcOrd="0" destOrd="0" presId="urn:microsoft.com/office/officeart/2018/2/layout/IconLabelDescriptionList"/>
    <dgm:cxn modelId="{669923B0-4E90-4BA5-A24E-3E7C10ED4F22}" type="presParOf" srcId="{CCD77D08-734A-4D0C-BD79-1EFFBEA4B1F0}" destId="{3F7F6035-8C73-4DD7-A016-98E8074D4C40}" srcOrd="1" destOrd="0" presId="urn:microsoft.com/office/officeart/2018/2/layout/IconLabelDescriptionList"/>
    <dgm:cxn modelId="{69CCFDD6-FD9F-4EAB-81C2-E607B8D4332D}" type="presParOf" srcId="{CCD77D08-734A-4D0C-BD79-1EFFBEA4B1F0}" destId="{E780A9E6-217D-48FE-B469-16133E11BE88}" srcOrd="2" destOrd="0" presId="urn:microsoft.com/office/officeart/2018/2/layout/IconLabelDescriptionList"/>
    <dgm:cxn modelId="{A195D610-6810-416A-A6B0-362D214498F4}" type="presParOf" srcId="{CCD77D08-734A-4D0C-BD79-1EFFBEA4B1F0}" destId="{90A4C07F-A995-4EAA-92ED-CAA1FF35CD55}" srcOrd="3" destOrd="0" presId="urn:microsoft.com/office/officeart/2018/2/layout/IconLabelDescriptionList"/>
    <dgm:cxn modelId="{B9413326-71E0-4FCE-B901-56BA7CC39862}" type="presParOf" srcId="{CCD77D08-734A-4D0C-BD79-1EFFBEA4B1F0}" destId="{B5D0B143-5240-420F-873C-CBD57A136FED}" srcOrd="4" destOrd="0" presId="urn:microsoft.com/office/officeart/2018/2/layout/IconLabelDescriptionList"/>
    <dgm:cxn modelId="{C9AEABBA-E84B-4F3D-B350-EA6CD761A764}" type="presParOf" srcId="{8BDBF1F3-1165-4DD8-9CB8-5F7DA510BAFD}" destId="{BD5EBC49-715B-4FCB-8C47-6CB04227362B}" srcOrd="5" destOrd="0" presId="urn:microsoft.com/office/officeart/2018/2/layout/IconLabelDescriptionList"/>
    <dgm:cxn modelId="{467FC4D8-9696-44CC-94FE-5AD500FCA129}" type="presParOf" srcId="{8BDBF1F3-1165-4DD8-9CB8-5F7DA510BAFD}" destId="{E42E51EE-47A3-4B98-9F8F-AF9CBCA4E339}" srcOrd="6" destOrd="0" presId="urn:microsoft.com/office/officeart/2018/2/layout/IconLabelDescriptionList"/>
    <dgm:cxn modelId="{722E80A8-DAFE-49FC-9440-1BAD4FD58601}" type="presParOf" srcId="{E42E51EE-47A3-4B98-9F8F-AF9CBCA4E339}" destId="{A6BA6085-8260-42F0-8E03-9832D6549A71}" srcOrd="0" destOrd="0" presId="urn:microsoft.com/office/officeart/2018/2/layout/IconLabelDescriptionList"/>
    <dgm:cxn modelId="{9403128F-F054-4205-84E4-BE68D143889C}" type="presParOf" srcId="{E42E51EE-47A3-4B98-9F8F-AF9CBCA4E339}" destId="{51267A69-6083-4C5D-998A-1F4A2E511C0F}" srcOrd="1" destOrd="0" presId="urn:microsoft.com/office/officeart/2018/2/layout/IconLabelDescriptionList"/>
    <dgm:cxn modelId="{01625411-077E-42CE-9C88-223D8DE85D86}" type="presParOf" srcId="{E42E51EE-47A3-4B98-9F8F-AF9CBCA4E339}" destId="{2101FDD3-2E8C-429F-AF4C-B2F6C6930098}" srcOrd="2" destOrd="0" presId="urn:microsoft.com/office/officeart/2018/2/layout/IconLabelDescriptionList"/>
    <dgm:cxn modelId="{E4EC1B1F-F92E-4133-8D9E-7AF802DB8E8E}" type="presParOf" srcId="{E42E51EE-47A3-4B98-9F8F-AF9CBCA4E339}" destId="{3E3AFB76-AADF-4005-94D4-8BAAA2C28738}" srcOrd="3" destOrd="0" presId="urn:microsoft.com/office/officeart/2018/2/layout/IconLabelDescriptionList"/>
    <dgm:cxn modelId="{0D4E5C55-2717-4D05-BB8F-057EF3DE60A4}" type="presParOf" srcId="{E42E51EE-47A3-4B98-9F8F-AF9CBCA4E339}" destId="{E2EAB527-CE82-439E-8644-A523B8F4E62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93C9DC-4B85-4CCE-97F7-2ED09B47643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364F262-D58A-492C-8450-50CC96871CD9}">
      <dgm:prSet/>
      <dgm:spPr/>
      <dgm:t>
        <a:bodyPr/>
        <a:lstStyle/>
        <a:p>
          <a:r>
            <a:rPr lang="en-US"/>
            <a:t>Found that states with earlier legalizations did see earlier drops in crime</a:t>
          </a:r>
        </a:p>
      </dgm:t>
    </dgm:pt>
    <dgm:pt modelId="{892D6C90-BCAC-4146-AFAE-C3A71D3DB105}" type="parTrans" cxnId="{6F32F66D-0E38-4359-BAC5-D217D0B01E76}">
      <dgm:prSet/>
      <dgm:spPr/>
      <dgm:t>
        <a:bodyPr/>
        <a:lstStyle/>
        <a:p>
          <a:endParaRPr lang="en-US"/>
        </a:p>
      </dgm:t>
    </dgm:pt>
    <dgm:pt modelId="{70F53341-CE61-4D7E-91BA-AE567B0B9CEC}" type="sibTrans" cxnId="{6F32F66D-0E38-4359-BAC5-D217D0B01E76}">
      <dgm:prSet/>
      <dgm:spPr/>
      <dgm:t>
        <a:bodyPr/>
        <a:lstStyle/>
        <a:p>
          <a:endParaRPr lang="en-US"/>
        </a:p>
      </dgm:t>
    </dgm:pt>
    <dgm:pt modelId="{2944A443-7CC1-4C2B-970C-106FF1ABEF45}">
      <dgm:prSet/>
      <dgm:spPr/>
      <dgm:t>
        <a:bodyPr/>
        <a:lstStyle/>
        <a:p>
          <a:r>
            <a:rPr lang="en-US"/>
            <a:t>Creates a link between unwanted pregnancy abortion rates and crime</a:t>
          </a:r>
        </a:p>
      </dgm:t>
    </dgm:pt>
    <dgm:pt modelId="{7117E03D-ED72-4E72-A2F6-4C82B329FFDB}" type="parTrans" cxnId="{BB756F4A-142A-4BB7-8762-BFA54056AE24}">
      <dgm:prSet/>
      <dgm:spPr/>
      <dgm:t>
        <a:bodyPr/>
        <a:lstStyle/>
        <a:p>
          <a:endParaRPr lang="en-US"/>
        </a:p>
      </dgm:t>
    </dgm:pt>
    <dgm:pt modelId="{9642B564-4627-4DAD-9FC4-D797352393A4}" type="sibTrans" cxnId="{BB756F4A-142A-4BB7-8762-BFA54056AE24}">
      <dgm:prSet/>
      <dgm:spPr/>
      <dgm:t>
        <a:bodyPr/>
        <a:lstStyle/>
        <a:p>
          <a:endParaRPr lang="en-US"/>
        </a:p>
      </dgm:t>
    </dgm:pt>
    <dgm:pt modelId="{77705429-6810-4817-841B-E0F018162ECE}">
      <dgm:prSet/>
      <dgm:spPr/>
      <dgm:t>
        <a:bodyPr/>
        <a:lstStyle/>
        <a:p>
          <a:r>
            <a:rPr lang="en-US"/>
            <a:t>Unwanted pregnancy abortion rates assumed to be linked to legal  abortion access</a:t>
          </a:r>
        </a:p>
      </dgm:t>
    </dgm:pt>
    <dgm:pt modelId="{ED4A6D55-C1C6-4B92-B071-1A524FCE7DBC}" type="parTrans" cxnId="{3DBD514F-58DC-4454-9CD2-3C110F8EB519}">
      <dgm:prSet/>
      <dgm:spPr/>
      <dgm:t>
        <a:bodyPr/>
        <a:lstStyle/>
        <a:p>
          <a:endParaRPr lang="en-US"/>
        </a:p>
      </dgm:t>
    </dgm:pt>
    <dgm:pt modelId="{7304C576-0C56-4E12-A86E-C5C154098F2A}" type="sibTrans" cxnId="{3DBD514F-58DC-4454-9CD2-3C110F8EB519}">
      <dgm:prSet/>
      <dgm:spPr/>
      <dgm:t>
        <a:bodyPr/>
        <a:lstStyle/>
        <a:p>
          <a:endParaRPr lang="en-US"/>
        </a:p>
      </dgm:t>
    </dgm:pt>
    <dgm:pt modelId="{8664E2A5-8AF5-4562-836A-48C8887DFA24}">
      <dgm:prSet/>
      <dgm:spPr/>
      <dgm:t>
        <a:bodyPr/>
        <a:lstStyle/>
        <a:p>
          <a:r>
            <a:rPr lang="en-US"/>
            <a:t>Comes to conclusion that access to legalized abortion may result in lower crime rates</a:t>
          </a:r>
        </a:p>
      </dgm:t>
    </dgm:pt>
    <dgm:pt modelId="{127D0E60-2703-4B64-AE4D-E31EF4965B40}" type="parTrans" cxnId="{1B486E12-9C2E-47F1-8C72-5BF34E04139A}">
      <dgm:prSet/>
      <dgm:spPr/>
      <dgm:t>
        <a:bodyPr/>
        <a:lstStyle/>
        <a:p>
          <a:endParaRPr lang="en-US"/>
        </a:p>
      </dgm:t>
    </dgm:pt>
    <dgm:pt modelId="{919507B0-06F7-4B21-8005-44594B6D399F}" type="sibTrans" cxnId="{1B486E12-9C2E-47F1-8C72-5BF34E04139A}">
      <dgm:prSet/>
      <dgm:spPr/>
      <dgm:t>
        <a:bodyPr/>
        <a:lstStyle/>
        <a:p>
          <a:endParaRPr lang="en-US"/>
        </a:p>
      </dgm:t>
    </dgm:pt>
    <dgm:pt modelId="{E8845183-FD7B-4FA4-AAE7-FF8D248064FA}" type="pres">
      <dgm:prSet presAssocID="{5993C9DC-4B85-4CCE-97F7-2ED09B476433}" presName="vert0" presStyleCnt="0">
        <dgm:presLayoutVars>
          <dgm:dir/>
          <dgm:animOne val="branch"/>
          <dgm:animLvl val="lvl"/>
        </dgm:presLayoutVars>
      </dgm:prSet>
      <dgm:spPr/>
    </dgm:pt>
    <dgm:pt modelId="{1275B69C-1A26-4ED9-B681-CAFED244CED7}" type="pres">
      <dgm:prSet presAssocID="{9364F262-D58A-492C-8450-50CC96871CD9}" presName="thickLine" presStyleLbl="alignNode1" presStyleIdx="0" presStyleCnt="4"/>
      <dgm:spPr/>
    </dgm:pt>
    <dgm:pt modelId="{157E9A09-8F73-4684-8488-9CB3469A7447}" type="pres">
      <dgm:prSet presAssocID="{9364F262-D58A-492C-8450-50CC96871CD9}" presName="horz1" presStyleCnt="0"/>
      <dgm:spPr/>
    </dgm:pt>
    <dgm:pt modelId="{46A8381B-5294-43F1-9074-4146F76893AF}" type="pres">
      <dgm:prSet presAssocID="{9364F262-D58A-492C-8450-50CC96871CD9}" presName="tx1" presStyleLbl="revTx" presStyleIdx="0" presStyleCnt="4"/>
      <dgm:spPr/>
    </dgm:pt>
    <dgm:pt modelId="{7EA4F740-E5F8-49FC-8724-7FC2AB84917A}" type="pres">
      <dgm:prSet presAssocID="{9364F262-D58A-492C-8450-50CC96871CD9}" presName="vert1" presStyleCnt="0"/>
      <dgm:spPr/>
    </dgm:pt>
    <dgm:pt modelId="{0844DE7F-09CB-4F60-AB9A-4FEEB6DFE57E}" type="pres">
      <dgm:prSet presAssocID="{2944A443-7CC1-4C2B-970C-106FF1ABEF45}" presName="thickLine" presStyleLbl="alignNode1" presStyleIdx="1" presStyleCnt="4"/>
      <dgm:spPr/>
    </dgm:pt>
    <dgm:pt modelId="{91B718A6-444F-4FF6-82AF-897B2AE6EE0B}" type="pres">
      <dgm:prSet presAssocID="{2944A443-7CC1-4C2B-970C-106FF1ABEF45}" presName="horz1" presStyleCnt="0"/>
      <dgm:spPr/>
    </dgm:pt>
    <dgm:pt modelId="{0BD63D25-B1D0-4A87-8DA0-47270AD6C876}" type="pres">
      <dgm:prSet presAssocID="{2944A443-7CC1-4C2B-970C-106FF1ABEF45}" presName="tx1" presStyleLbl="revTx" presStyleIdx="1" presStyleCnt="4"/>
      <dgm:spPr/>
    </dgm:pt>
    <dgm:pt modelId="{13A11F58-0AA9-4C00-9ECE-3DF266A06FFF}" type="pres">
      <dgm:prSet presAssocID="{2944A443-7CC1-4C2B-970C-106FF1ABEF45}" presName="vert1" presStyleCnt="0"/>
      <dgm:spPr/>
    </dgm:pt>
    <dgm:pt modelId="{D4D9A246-D500-4C3F-9A86-1100D1D87AA8}" type="pres">
      <dgm:prSet presAssocID="{77705429-6810-4817-841B-E0F018162ECE}" presName="thickLine" presStyleLbl="alignNode1" presStyleIdx="2" presStyleCnt="4"/>
      <dgm:spPr/>
    </dgm:pt>
    <dgm:pt modelId="{18A19ED4-B187-41EB-89F4-5E5A59E22153}" type="pres">
      <dgm:prSet presAssocID="{77705429-6810-4817-841B-E0F018162ECE}" presName="horz1" presStyleCnt="0"/>
      <dgm:spPr/>
    </dgm:pt>
    <dgm:pt modelId="{1D8130C5-7FE4-4155-BB49-CA7239DA7698}" type="pres">
      <dgm:prSet presAssocID="{77705429-6810-4817-841B-E0F018162ECE}" presName="tx1" presStyleLbl="revTx" presStyleIdx="2" presStyleCnt="4"/>
      <dgm:spPr/>
    </dgm:pt>
    <dgm:pt modelId="{60468E30-8B58-4118-A309-AC2647501515}" type="pres">
      <dgm:prSet presAssocID="{77705429-6810-4817-841B-E0F018162ECE}" presName="vert1" presStyleCnt="0"/>
      <dgm:spPr/>
    </dgm:pt>
    <dgm:pt modelId="{66A9F151-1BE6-427F-8445-139F56677413}" type="pres">
      <dgm:prSet presAssocID="{8664E2A5-8AF5-4562-836A-48C8887DFA24}" presName="thickLine" presStyleLbl="alignNode1" presStyleIdx="3" presStyleCnt="4"/>
      <dgm:spPr/>
    </dgm:pt>
    <dgm:pt modelId="{91723F97-760E-4DB2-B9D2-B1059B7CF5D7}" type="pres">
      <dgm:prSet presAssocID="{8664E2A5-8AF5-4562-836A-48C8887DFA24}" presName="horz1" presStyleCnt="0"/>
      <dgm:spPr/>
    </dgm:pt>
    <dgm:pt modelId="{842107C1-2A89-4132-9EEA-28F34E8DE8FA}" type="pres">
      <dgm:prSet presAssocID="{8664E2A5-8AF5-4562-836A-48C8887DFA24}" presName="tx1" presStyleLbl="revTx" presStyleIdx="3" presStyleCnt="4"/>
      <dgm:spPr/>
    </dgm:pt>
    <dgm:pt modelId="{2A2588A0-FC46-4260-BDB1-AD5080BD2384}" type="pres">
      <dgm:prSet presAssocID="{8664E2A5-8AF5-4562-836A-48C8887DFA24}" presName="vert1" presStyleCnt="0"/>
      <dgm:spPr/>
    </dgm:pt>
  </dgm:ptLst>
  <dgm:cxnLst>
    <dgm:cxn modelId="{1B486E12-9C2E-47F1-8C72-5BF34E04139A}" srcId="{5993C9DC-4B85-4CCE-97F7-2ED09B476433}" destId="{8664E2A5-8AF5-4562-836A-48C8887DFA24}" srcOrd="3" destOrd="0" parTransId="{127D0E60-2703-4B64-AE4D-E31EF4965B40}" sibTransId="{919507B0-06F7-4B21-8005-44594B6D399F}"/>
    <dgm:cxn modelId="{08EC0A34-727D-41AD-96B2-F06BACE7B672}" type="presOf" srcId="{8664E2A5-8AF5-4562-836A-48C8887DFA24}" destId="{842107C1-2A89-4132-9EEA-28F34E8DE8FA}" srcOrd="0" destOrd="0" presId="urn:microsoft.com/office/officeart/2008/layout/LinedList"/>
    <dgm:cxn modelId="{BB756F4A-142A-4BB7-8762-BFA54056AE24}" srcId="{5993C9DC-4B85-4CCE-97F7-2ED09B476433}" destId="{2944A443-7CC1-4C2B-970C-106FF1ABEF45}" srcOrd="1" destOrd="0" parTransId="{7117E03D-ED72-4E72-A2F6-4C82B329FFDB}" sibTransId="{9642B564-4627-4DAD-9FC4-D797352393A4}"/>
    <dgm:cxn modelId="{2CE0044D-8877-4959-B95F-6374B2529697}" type="presOf" srcId="{5993C9DC-4B85-4CCE-97F7-2ED09B476433}" destId="{E8845183-FD7B-4FA4-AAE7-FF8D248064FA}" srcOrd="0" destOrd="0" presId="urn:microsoft.com/office/officeart/2008/layout/LinedList"/>
    <dgm:cxn modelId="{6F32F66D-0E38-4359-BAC5-D217D0B01E76}" srcId="{5993C9DC-4B85-4CCE-97F7-2ED09B476433}" destId="{9364F262-D58A-492C-8450-50CC96871CD9}" srcOrd="0" destOrd="0" parTransId="{892D6C90-BCAC-4146-AFAE-C3A71D3DB105}" sibTransId="{70F53341-CE61-4D7E-91BA-AE567B0B9CEC}"/>
    <dgm:cxn modelId="{3DBD514F-58DC-4454-9CD2-3C110F8EB519}" srcId="{5993C9DC-4B85-4CCE-97F7-2ED09B476433}" destId="{77705429-6810-4817-841B-E0F018162ECE}" srcOrd="2" destOrd="0" parTransId="{ED4A6D55-C1C6-4B92-B071-1A524FCE7DBC}" sibTransId="{7304C576-0C56-4E12-A86E-C5C154098F2A}"/>
    <dgm:cxn modelId="{4E583087-F516-4CA9-A3BC-C07DF484E351}" type="presOf" srcId="{77705429-6810-4817-841B-E0F018162ECE}" destId="{1D8130C5-7FE4-4155-BB49-CA7239DA7698}" srcOrd="0" destOrd="0" presId="urn:microsoft.com/office/officeart/2008/layout/LinedList"/>
    <dgm:cxn modelId="{882C0EAF-977E-4D54-B7A1-31388F3E27B5}" type="presOf" srcId="{9364F262-D58A-492C-8450-50CC96871CD9}" destId="{46A8381B-5294-43F1-9074-4146F76893AF}" srcOrd="0" destOrd="0" presId="urn:microsoft.com/office/officeart/2008/layout/LinedList"/>
    <dgm:cxn modelId="{573E49D5-D481-400A-9650-F843E4CCEB34}" type="presOf" srcId="{2944A443-7CC1-4C2B-970C-106FF1ABEF45}" destId="{0BD63D25-B1D0-4A87-8DA0-47270AD6C876}" srcOrd="0" destOrd="0" presId="urn:microsoft.com/office/officeart/2008/layout/LinedList"/>
    <dgm:cxn modelId="{E8472D61-B79B-4D53-B59E-2C0270A0ADAE}" type="presParOf" srcId="{E8845183-FD7B-4FA4-AAE7-FF8D248064FA}" destId="{1275B69C-1A26-4ED9-B681-CAFED244CED7}" srcOrd="0" destOrd="0" presId="urn:microsoft.com/office/officeart/2008/layout/LinedList"/>
    <dgm:cxn modelId="{876778AD-813A-4722-A054-947B418DC327}" type="presParOf" srcId="{E8845183-FD7B-4FA4-AAE7-FF8D248064FA}" destId="{157E9A09-8F73-4684-8488-9CB3469A7447}" srcOrd="1" destOrd="0" presId="urn:microsoft.com/office/officeart/2008/layout/LinedList"/>
    <dgm:cxn modelId="{7AA875FF-55A8-44E6-8389-75CC0876C42B}" type="presParOf" srcId="{157E9A09-8F73-4684-8488-9CB3469A7447}" destId="{46A8381B-5294-43F1-9074-4146F76893AF}" srcOrd="0" destOrd="0" presId="urn:microsoft.com/office/officeart/2008/layout/LinedList"/>
    <dgm:cxn modelId="{D0580965-4DB5-4B77-9C7E-B92159103D8B}" type="presParOf" srcId="{157E9A09-8F73-4684-8488-9CB3469A7447}" destId="{7EA4F740-E5F8-49FC-8724-7FC2AB84917A}" srcOrd="1" destOrd="0" presId="urn:microsoft.com/office/officeart/2008/layout/LinedList"/>
    <dgm:cxn modelId="{D1C7286B-1F22-4746-A079-8BEC9F25D127}" type="presParOf" srcId="{E8845183-FD7B-4FA4-AAE7-FF8D248064FA}" destId="{0844DE7F-09CB-4F60-AB9A-4FEEB6DFE57E}" srcOrd="2" destOrd="0" presId="urn:microsoft.com/office/officeart/2008/layout/LinedList"/>
    <dgm:cxn modelId="{4A576735-94A9-4F9B-AF72-DB121F34CB05}" type="presParOf" srcId="{E8845183-FD7B-4FA4-AAE7-FF8D248064FA}" destId="{91B718A6-444F-4FF6-82AF-897B2AE6EE0B}" srcOrd="3" destOrd="0" presId="urn:microsoft.com/office/officeart/2008/layout/LinedList"/>
    <dgm:cxn modelId="{93BB9332-F0A3-4EB8-AF56-D82A72C8B462}" type="presParOf" srcId="{91B718A6-444F-4FF6-82AF-897B2AE6EE0B}" destId="{0BD63D25-B1D0-4A87-8DA0-47270AD6C876}" srcOrd="0" destOrd="0" presId="urn:microsoft.com/office/officeart/2008/layout/LinedList"/>
    <dgm:cxn modelId="{38D81821-2EF1-47AC-AD20-0A4B8C04066D}" type="presParOf" srcId="{91B718A6-444F-4FF6-82AF-897B2AE6EE0B}" destId="{13A11F58-0AA9-4C00-9ECE-3DF266A06FFF}" srcOrd="1" destOrd="0" presId="urn:microsoft.com/office/officeart/2008/layout/LinedList"/>
    <dgm:cxn modelId="{349AE4E3-D5F5-43CE-8947-6A81EFE9C289}" type="presParOf" srcId="{E8845183-FD7B-4FA4-AAE7-FF8D248064FA}" destId="{D4D9A246-D500-4C3F-9A86-1100D1D87AA8}" srcOrd="4" destOrd="0" presId="urn:microsoft.com/office/officeart/2008/layout/LinedList"/>
    <dgm:cxn modelId="{B19EC07A-4F0D-4FEF-90F6-11056812FEBA}" type="presParOf" srcId="{E8845183-FD7B-4FA4-AAE7-FF8D248064FA}" destId="{18A19ED4-B187-41EB-89F4-5E5A59E22153}" srcOrd="5" destOrd="0" presId="urn:microsoft.com/office/officeart/2008/layout/LinedList"/>
    <dgm:cxn modelId="{F1584577-0D5F-44B2-A3D0-44F64E8CC228}" type="presParOf" srcId="{18A19ED4-B187-41EB-89F4-5E5A59E22153}" destId="{1D8130C5-7FE4-4155-BB49-CA7239DA7698}" srcOrd="0" destOrd="0" presId="urn:microsoft.com/office/officeart/2008/layout/LinedList"/>
    <dgm:cxn modelId="{EEF0FFFF-D10F-4322-B362-ADB99F6FAF96}" type="presParOf" srcId="{18A19ED4-B187-41EB-89F4-5E5A59E22153}" destId="{60468E30-8B58-4118-A309-AC2647501515}" srcOrd="1" destOrd="0" presId="urn:microsoft.com/office/officeart/2008/layout/LinedList"/>
    <dgm:cxn modelId="{1E62191F-C28F-445A-8966-49C24DF12E46}" type="presParOf" srcId="{E8845183-FD7B-4FA4-AAE7-FF8D248064FA}" destId="{66A9F151-1BE6-427F-8445-139F56677413}" srcOrd="6" destOrd="0" presId="urn:microsoft.com/office/officeart/2008/layout/LinedList"/>
    <dgm:cxn modelId="{F672ADF1-836E-4D42-AF18-D2D20D791DD2}" type="presParOf" srcId="{E8845183-FD7B-4FA4-AAE7-FF8D248064FA}" destId="{91723F97-760E-4DB2-B9D2-B1059B7CF5D7}" srcOrd="7" destOrd="0" presId="urn:microsoft.com/office/officeart/2008/layout/LinedList"/>
    <dgm:cxn modelId="{AFDA4ABC-320E-4432-992C-C802260831D6}" type="presParOf" srcId="{91723F97-760E-4DB2-B9D2-B1059B7CF5D7}" destId="{842107C1-2A89-4132-9EEA-28F34E8DE8FA}" srcOrd="0" destOrd="0" presId="urn:microsoft.com/office/officeart/2008/layout/LinedList"/>
    <dgm:cxn modelId="{DFA39936-E6AA-4619-B74F-8CE416698D48}" type="presParOf" srcId="{91723F97-760E-4DB2-B9D2-B1059B7CF5D7}" destId="{2A2588A0-FC46-4260-BDB1-AD5080BD23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C7E7E0-A0A0-491F-A58C-C16341F8335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3F806A0-7AF1-49BA-81C6-090AA1302A17}">
      <dgm:prSet/>
      <dgm:spPr/>
      <dgm:t>
        <a:bodyPr/>
        <a:lstStyle/>
        <a:p>
          <a:r>
            <a:rPr lang="en-US"/>
            <a:t>Do these conclusions hold today?</a:t>
          </a:r>
        </a:p>
      </dgm:t>
    </dgm:pt>
    <dgm:pt modelId="{20DD3945-E9BA-4F1C-B4B3-50256CF4E85E}" type="parTrans" cxnId="{508F31BD-7D22-4E95-9526-692E56CDA90B}">
      <dgm:prSet/>
      <dgm:spPr/>
      <dgm:t>
        <a:bodyPr/>
        <a:lstStyle/>
        <a:p>
          <a:endParaRPr lang="en-US"/>
        </a:p>
      </dgm:t>
    </dgm:pt>
    <dgm:pt modelId="{C1140C8F-3440-42F3-9CD9-90CD8ECA33A8}" type="sibTrans" cxnId="{508F31BD-7D22-4E95-9526-692E56CDA90B}">
      <dgm:prSet/>
      <dgm:spPr/>
      <dgm:t>
        <a:bodyPr/>
        <a:lstStyle/>
        <a:p>
          <a:endParaRPr lang="en-US"/>
        </a:p>
      </dgm:t>
    </dgm:pt>
    <dgm:pt modelId="{A8A50E24-0490-45C2-BF63-F55A41EECC1F}">
      <dgm:prSet/>
      <dgm:spPr/>
      <dgm:t>
        <a:bodyPr/>
        <a:lstStyle/>
        <a:p>
          <a:r>
            <a:rPr lang="en-US"/>
            <a:t>This could be especially important with the reversal of the Roe decision</a:t>
          </a:r>
        </a:p>
      </dgm:t>
    </dgm:pt>
    <dgm:pt modelId="{4D02F6CC-C075-4D00-B2DC-1CA38B8D466C}" type="parTrans" cxnId="{6FF8C9E7-541A-45E7-BF3C-F20BDD467E03}">
      <dgm:prSet/>
      <dgm:spPr/>
      <dgm:t>
        <a:bodyPr/>
        <a:lstStyle/>
        <a:p>
          <a:endParaRPr lang="en-US"/>
        </a:p>
      </dgm:t>
    </dgm:pt>
    <dgm:pt modelId="{230F16D7-F6C0-41BD-8DDF-B337E8855A6A}" type="sibTrans" cxnId="{6FF8C9E7-541A-45E7-BF3C-F20BDD467E03}">
      <dgm:prSet/>
      <dgm:spPr/>
      <dgm:t>
        <a:bodyPr/>
        <a:lstStyle/>
        <a:p>
          <a:endParaRPr lang="en-US"/>
        </a:p>
      </dgm:t>
    </dgm:pt>
    <dgm:pt modelId="{1BB7991C-4D0C-4043-96E3-57486B08D4D6}" type="pres">
      <dgm:prSet presAssocID="{7DC7E7E0-A0A0-491F-A58C-C16341F8335C}" presName="root" presStyleCnt="0">
        <dgm:presLayoutVars>
          <dgm:dir/>
          <dgm:resizeHandles val="exact"/>
        </dgm:presLayoutVars>
      </dgm:prSet>
      <dgm:spPr/>
    </dgm:pt>
    <dgm:pt modelId="{B8EC127C-A067-42AA-9266-40F78FB25246}" type="pres">
      <dgm:prSet presAssocID="{A3F806A0-7AF1-49BA-81C6-090AA1302A17}" presName="compNode" presStyleCnt="0"/>
      <dgm:spPr/>
    </dgm:pt>
    <dgm:pt modelId="{0A72C4C4-48C9-469C-870A-AA94FA784731}" type="pres">
      <dgm:prSet presAssocID="{A3F806A0-7AF1-49BA-81C6-090AA1302A1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AED315F3-45CC-45A8-B61C-B2162B6AD04D}" type="pres">
      <dgm:prSet presAssocID="{A3F806A0-7AF1-49BA-81C6-090AA1302A17}" presName="spaceRect" presStyleCnt="0"/>
      <dgm:spPr/>
    </dgm:pt>
    <dgm:pt modelId="{71BAB686-74BC-4B80-B20B-3B1F23550B17}" type="pres">
      <dgm:prSet presAssocID="{A3F806A0-7AF1-49BA-81C6-090AA1302A17}" presName="textRect" presStyleLbl="revTx" presStyleIdx="0" presStyleCnt="2">
        <dgm:presLayoutVars>
          <dgm:chMax val="1"/>
          <dgm:chPref val="1"/>
        </dgm:presLayoutVars>
      </dgm:prSet>
      <dgm:spPr/>
    </dgm:pt>
    <dgm:pt modelId="{C4517C92-2DBD-40E7-A511-DE172A6A7FE5}" type="pres">
      <dgm:prSet presAssocID="{C1140C8F-3440-42F3-9CD9-90CD8ECA33A8}" presName="sibTrans" presStyleCnt="0"/>
      <dgm:spPr/>
    </dgm:pt>
    <dgm:pt modelId="{6E9AF736-3604-460B-9799-724FA3B55C7A}" type="pres">
      <dgm:prSet presAssocID="{A8A50E24-0490-45C2-BF63-F55A41EECC1F}" presName="compNode" presStyleCnt="0"/>
      <dgm:spPr/>
    </dgm:pt>
    <dgm:pt modelId="{7A9A85EE-EA17-4E7E-8805-EB289A8A9047}" type="pres">
      <dgm:prSet presAssocID="{A8A50E24-0490-45C2-BF63-F55A41EECC1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351DE14-523A-48DD-B01D-44823A77028E}" type="pres">
      <dgm:prSet presAssocID="{A8A50E24-0490-45C2-BF63-F55A41EECC1F}" presName="spaceRect" presStyleCnt="0"/>
      <dgm:spPr/>
    </dgm:pt>
    <dgm:pt modelId="{54A8A0EF-770A-4F2C-B9A2-A7957C25B86C}" type="pres">
      <dgm:prSet presAssocID="{A8A50E24-0490-45C2-BF63-F55A41EECC1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E15E21B-6958-430B-99FD-D8E3444E0B37}" type="presOf" srcId="{A3F806A0-7AF1-49BA-81C6-090AA1302A17}" destId="{71BAB686-74BC-4B80-B20B-3B1F23550B17}" srcOrd="0" destOrd="0" presId="urn:microsoft.com/office/officeart/2018/2/layout/IconLabelList"/>
    <dgm:cxn modelId="{5AB501B4-F0A9-48E0-AE7F-34709889FDF8}" type="presOf" srcId="{A8A50E24-0490-45C2-BF63-F55A41EECC1F}" destId="{54A8A0EF-770A-4F2C-B9A2-A7957C25B86C}" srcOrd="0" destOrd="0" presId="urn:microsoft.com/office/officeart/2018/2/layout/IconLabelList"/>
    <dgm:cxn modelId="{508F31BD-7D22-4E95-9526-692E56CDA90B}" srcId="{7DC7E7E0-A0A0-491F-A58C-C16341F8335C}" destId="{A3F806A0-7AF1-49BA-81C6-090AA1302A17}" srcOrd="0" destOrd="0" parTransId="{20DD3945-E9BA-4F1C-B4B3-50256CF4E85E}" sibTransId="{C1140C8F-3440-42F3-9CD9-90CD8ECA33A8}"/>
    <dgm:cxn modelId="{EC961CD3-784C-4E70-8ADE-325A8C1189FC}" type="presOf" srcId="{7DC7E7E0-A0A0-491F-A58C-C16341F8335C}" destId="{1BB7991C-4D0C-4043-96E3-57486B08D4D6}" srcOrd="0" destOrd="0" presId="urn:microsoft.com/office/officeart/2018/2/layout/IconLabelList"/>
    <dgm:cxn modelId="{6FF8C9E7-541A-45E7-BF3C-F20BDD467E03}" srcId="{7DC7E7E0-A0A0-491F-A58C-C16341F8335C}" destId="{A8A50E24-0490-45C2-BF63-F55A41EECC1F}" srcOrd="1" destOrd="0" parTransId="{4D02F6CC-C075-4D00-B2DC-1CA38B8D466C}" sibTransId="{230F16D7-F6C0-41BD-8DDF-B337E8855A6A}"/>
    <dgm:cxn modelId="{9E670CFE-DFA4-47FC-97B0-0CF6D411634C}" type="presParOf" srcId="{1BB7991C-4D0C-4043-96E3-57486B08D4D6}" destId="{B8EC127C-A067-42AA-9266-40F78FB25246}" srcOrd="0" destOrd="0" presId="urn:microsoft.com/office/officeart/2018/2/layout/IconLabelList"/>
    <dgm:cxn modelId="{EEC7050C-BF9B-45D0-AE05-66EF2D0FE747}" type="presParOf" srcId="{B8EC127C-A067-42AA-9266-40F78FB25246}" destId="{0A72C4C4-48C9-469C-870A-AA94FA784731}" srcOrd="0" destOrd="0" presId="urn:microsoft.com/office/officeart/2018/2/layout/IconLabelList"/>
    <dgm:cxn modelId="{998CEEB5-BAF1-4FCB-86BF-1444B3335AF3}" type="presParOf" srcId="{B8EC127C-A067-42AA-9266-40F78FB25246}" destId="{AED315F3-45CC-45A8-B61C-B2162B6AD04D}" srcOrd="1" destOrd="0" presId="urn:microsoft.com/office/officeart/2018/2/layout/IconLabelList"/>
    <dgm:cxn modelId="{979113DB-B5B1-4A68-B8B8-6B903919D6E5}" type="presParOf" srcId="{B8EC127C-A067-42AA-9266-40F78FB25246}" destId="{71BAB686-74BC-4B80-B20B-3B1F23550B17}" srcOrd="2" destOrd="0" presId="urn:microsoft.com/office/officeart/2018/2/layout/IconLabelList"/>
    <dgm:cxn modelId="{DDF1037D-9BD7-444C-A3ED-541ADCF4F17F}" type="presParOf" srcId="{1BB7991C-4D0C-4043-96E3-57486B08D4D6}" destId="{C4517C92-2DBD-40E7-A511-DE172A6A7FE5}" srcOrd="1" destOrd="0" presId="urn:microsoft.com/office/officeart/2018/2/layout/IconLabelList"/>
    <dgm:cxn modelId="{B81AA795-F69F-4534-8E8C-300829E3D790}" type="presParOf" srcId="{1BB7991C-4D0C-4043-96E3-57486B08D4D6}" destId="{6E9AF736-3604-460B-9799-724FA3B55C7A}" srcOrd="2" destOrd="0" presId="urn:microsoft.com/office/officeart/2018/2/layout/IconLabelList"/>
    <dgm:cxn modelId="{6CD925E7-A00A-4F38-9D8A-59999C22B209}" type="presParOf" srcId="{6E9AF736-3604-460B-9799-724FA3B55C7A}" destId="{7A9A85EE-EA17-4E7E-8805-EB289A8A9047}" srcOrd="0" destOrd="0" presId="urn:microsoft.com/office/officeart/2018/2/layout/IconLabelList"/>
    <dgm:cxn modelId="{62749C19-89A3-4097-A0A1-CF7FE7080E63}" type="presParOf" srcId="{6E9AF736-3604-460B-9799-724FA3B55C7A}" destId="{C351DE14-523A-48DD-B01D-44823A77028E}" srcOrd="1" destOrd="0" presId="urn:microsoft.com/office/officeart/2018/2/layout/IconLabelList"/>
    <dgm:cxn modelId="{C3A01740-F765-493D-8815-3413F230F876}" type="presParOf" srcId="{6E9AF736-3604-460B-9799-724FA3B55C7A}" destId="{54A8A0EF-770A-4F2C-B9A2-A7957C25B86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1BB7D3-136B-4EF8-ADC0-7FBB6FA5456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A7C063-4567-483E-86D3-ADAFFD377576}">
      <dgm:prSet/>
      <dgm:spPr/>
      <dgm:t>
        <a:bodyPr/>
        <a:lstStyle/>
        <a:p>
          <a:r>
            <a:rPr lang="en-US"/>
            <a:t>Variables of Interest</a:t>
          </a:r>
        </a:p>
      </dgm:t>
    </dgm:pt>
    <dgm:pt modelId="{FDFD1D62-172C-478E-B97C-F98ECC0B4957}" type="parTrans" cxnId="{33720456-BC1A-4C48-8A4C-C3532AA93E83}">
      <dgm:prSet/>
      <dgm:spPr/>
      <dgm:t>
        <a:bodyPr/>
        <a:lstStyle/>
        <a:p>
          <a:endParaRPr lang="en-US"/>
        </a:p>
      </dgm:t>
    </dgm:pt>
    <dgm:pt modelId="{3096E031-E567-484A-954E-FF0F73ED05F4}" type="sibTrans" cxnId="{33720456-BC1A-4C48-8A4C-C3532AA93E83}">
      <dgm:prSet/>
      <dgm:spPr/>
      <dgm:t>
        <a:bodyPr/>
        <a:lstStyle/>
        <a:p>
          <a:endParaRPr lang="en-US"/>
        </a:p>
      </dgm:t>
    </dgm:pt>
    <dgm:pt modelId="{B75D8954-3067-4C4A-9139-1D5E19436958}">
      <dgm:prSet/>
      <dgm:spPr/>
      <dgm:t>
        <a:bodyPr/>
        <a:lstStyle/>
        <a:p>
          <a:r>
            <a:rPr lang="en-US"/>
            <a:t>Abortion rates over space and time</a:t>
          </a:r>
        </a:p>
      </dgm:t>
    </dgm:pt>
    <dgm:pt modelId="{E611AE8B-B2F7-497B-93A1-A72CC065EA5F}" type="parTrans" cxnId="{136DFEB9-9BAD-4DC9-9DDB-FEDC2DD72E3E}">
      <dgm:prSet/>
      <dgm:spPr/>
      <dgm:t>
        <a:bodyPr/>
        <a:lstStyle/>
        <a:p>
          <a:endParaRPr lang="en-US"/>
        </a:p>
      </dgm:t>
    </dgm:pt>
    <dgm:pt modelId="{A519044A-2531-47F8-B9A2-282A1DDA5290}" type="sibTrans" cxnId="{136DFEB9-9BAD-4DC9-9DDB-FEDC2DD72E3E}">
      <dgm:prSet/>
      <dgm:spPr/>
      <dgm:t>
        <a:bodyPr/>
        <a:lstStyle/>
        <a:p>
          <a:endParaRPr lang="en-US"/>
        </a:p>
      </dgm:t>
    </dgm:pt>
    <dgm:pt modelId="{E037901F-2F07-4881-AB52-FCD2F2FA8C4C}">
      <dgm:prSet/>
      <dgm:spPr/>
      <dgm:t>
        <a:bodyPr/>
        <a:lstStyle/>
        <a:p>
          <a:r>
            <a:rPr lang="en-US"/>
            <a:t>Global Abortion Incidence Dataset</a:t>
          </a:r>
        </a:p>
      </dgm:t>
    </dgm:pt>
    <dgm:pt modelId="{75D3FCB5-5B40-48CE-9D7B-BD3BEA452228}" type="parTrans" cxnId="{39464326-C6DC-430B-9919-B0C5298ECA06}">
      <dgm:prSet/>
      <dgm:spPr/>
      <dgm:t>
        <a:bodyPr/>
        <a:lstStyle/>
        <a:p>
          <a:endParaRPr lang="en-US"/>
        </a:p>
      </dgm:t>
    </dgm:pt>
    <dgm:pt modelId="{5B0A8634-BDDC-4758-BD56-39EDD5497E26}" type="sibTrans" cxnId="{39464326-C6DC-430B-9919-B0C5298ECA06}">
      <dgm:prSet/>
      <dgm:spPr/>
      <dgm:t>
        <a:bodyPr/>
        <a:lstStyle/>
        <a:p>
          <a:endParaRPr lang="en-US"/>
        </a:p>
      </dgm:t>
    </dgm:pt>
    <dgm:pt modelId="{E40214A2-963F-4D34-BCED-ADA95276A6E5}">
      <dgm:prSet/>
      <dgm:spPr/>
      <dgm:t>
        <a:bodyPr/>
        <a:lstStyle/>
        <a:p>
          <a:r>
            <a:rPr lang="en-US"/>
            <a:t>Crime rates in the 18-25 year later period</a:t>
          </a:r>
        </a:p>
      </dgm:t>
    </dgm:pt>
    <dgm:pt modelId="{7FB584AC-AFD5-467F-AF7D-037FB925E549}" type="parTrans" cxnId="{598D35B2-C50F-4425-BEEA-02BBBBC8A3BD}">
      <dgm:prSet/>
      <dgm:spPr/>
      <dgm:t>
        <a:bodyPr/>
        <a:lstStyle/>
        <a:p>
          <a:endParaRPr lang="en-US"/>
        </a:p>
      </dgm:t>
    </dgm:pt>
    <dgm:pt modelId="{E3DCBBC5-D096-4232-9878-9E34F19F88DB}" type="sibTrans" cxnId="{598D35B2-C50F-4425-BEEA-02BBBBC8A3BD}">
      <dgm:prSet/>
      <dgm:spPr/>
      <dgm:t>
        <a:bodyPr/>
        <a:lstStyle/>
        <a:p>
          <a:endParaRPr lang="en-US"/>
        </a:p>
      </dgm:t>
    </dgm:pt>
    <dgm:pt modelId="{D5D88D90-8762-4370-B1EB-E5DBFB4622E5}">
      <dgm:prSet/>
      <dgm:spPr/>
      <dgm:t>
        <a:bodyPr/>
        <a:lstStyle/>
        <a:p>
          <a:r>
            <a:rPr lang="en-US"/>
            <a:t>Unified Crime Reporting Statistics</a:t>
          </a:r>
        </a:p>
      </dgm:t>
    </dgm:pt>
    <dgm:pt modelId="{198FC1AB-9667-4808-8DBD-E0A2A07207B1}" type="parTrans" cxnId="{C09591F5-389D-48B1-96F6-FE1AFA68412F}">
      <dgm:prSet/>
      <dgm:spPr/>
      <dgm:t>
        <a:bodyPr/>
        <a:lstStyle/>
        <a:p>
          <a:endParaRPr lang="en-US"/>
        </a:p>
      </dgm:t>
    </dgm:pt>
    <dgm:pt modelId="{323ABADB-9C71-4976-9457-9469018A58E1}" type="sibTrans" cxnId="{C09591F5-389D-48B1-96F6-FE1AFA68412F}">
      <dgm:prSet/>
      <dgm:spPr/>
      <dgm:t>
        <a:bodyPr/>
        <a:lstStyle/>
        <a:p>
          <a:endParaRPr lang="en-US"/>
        </a:p>
      </dgm:t>
    </dgm:pt>
    <dgm:pt modelId="{3D451C21-A89A-4307-BC4C-E571CC4F7370}">
      <dgm:prSet/>
      <dgm:spPr/>
      <dgm:t>
        <a:bodyPr/>
        <a:lstStyle/>
        <a:p>
          <a:r>
            <a:rPr lang="en-US"/>
            <a:t>Abortion Policy Scores</a:t>
          </a:r>
        </a:p>
      </dgm:t>
    </dgm:pt>
    <dgm:pt modelId="{2C788685-8F0C-4705-B5A0-41BF2540D6E2}" type="parTrans" cxnId="{24EF4EEE-60BE-4EA8-B587-47EBA8DDC690}">
      <dgm:prSet/>
      <dgm:spPr/>
      <dgm:t>
        <a:bodyPr/>
        <a:lstStyle/>
        <a:p>
          <a:endParaRPr lang="en-US"/>
        </a:p>
      </dgm:t>
    </dgm:pt>
    <dgm:pt modelId="{DFC936BA-A0E8-40A5-9C67-882A0402A369}" type="sibTrans" cxnId="{24EF4EEE-60BE-4EA8-B587-47EBA8DDC690}">
      <dgm:prSet/>
      <dgm:spPr/>
      <dgm:t>
        <a:bodyPr/>
        <a:lstStyle/>
        <a:p>
          <a:endParaRPr lang="en-US"/>
        </a:p>
      </dgm:t>
    </dgm:pt>
    <dgm:pt modelId="{C51943AB-F4F4-4210-ABFE-2CE2EB10D78F}">
      <dgm:prSet/>
      <dgm:spPr/>
      <dgm:t>
        <a:bodyPr/>
        <a:lstStyle/>
        <a:p>
          <a:r>
            <a:rPr lang="en-US"/>
            <a:t>Guttmacher Policy Scores</a:t>
          </a:r>
        </a:p>
      </dgm:t>
    </dgm:pt>
    <dgm:pt modelId="{20E5DA94-C0A8-412C-B264-A4CA305A95C0}" type="parTrans" cxnId="{B657CE68-C212-46A1-9638-C4903719B71B}">
      <dgm:prSet/>
      <dgm:spPr/>
      <dgm:t>
        <a:bodyPr/>
        <a:lstStyle/>
        <a:p>
          <a:endParaRPr lang="en-US"/>
        </a:p>
      </dgm:t>
    </dgm:pt>
    <dgm:pt modelId="{83271BD4-E91C-491B-B3C8-8F7DA869BFD4}" type="sibTrans" cxnId="{B657CE68-C212-46A1-9638-C4903719B71B}">
      <dgm:prSet/>
      <dgm:spPr/>
      <dgm:t>
        <a:bodyPr/>
        <a:lstStyle/>
        <a:p>
          <a:endParaRPr lang="en-US"/>
        </a:p>
      </dgm:t>
    </dgm:pt>
    <dgm:pt modelId="{5CEC9F6C-E2D9-4C33-8772-12B702AFBCF3}">
      <dgm:prSet/>
      <dgm:spPr/>
      <dgm:t>
        <a:bodyPr/>
        <a:lstStyle/>
        <a:p>
          <a:r>
            <a:rPr lang="en-US"/>
            <a:t>Control Variables</a:t>
          </a:r>
        </a:p>
      </dgm:t>
    </dgm:pt>
    <dgm:pt modelId="{C58E91C3-4871-4FC0-BA2B-FF4B1C0A7141}" type="parTrans" cxnId="{013455A6-5CE8-4965-B71B-53FC17B07339}">
      <dgm:prSet/>
      <dgm:spPr/>
      <dgm:t>
        <a:bodyPr/>
        <a:lstStyle/>
        <a:p>
          <a:endParaRPr lang="en-US"/>
        </a:p>
      </dgm:t>
    </dgm:pt>
    <dgm:pt modelId="{C54E0DCE-825B-4E2E-A675-149E443F3558}" type="sibTrans" cxnId="{013455A6-5CE8-4965-B71B-53FC17B07339}">
      <dgm:prSet/>
      <dgm:spPr/>
      <dgm:t>
        <a:bodyPr/>
        <a:lstStyle/>
        <a:p>
          <a:endParaRPr lang="en-US"/>
        </a:p>
      </dgm:t>
    </dgm:pt>
    <dgm:pt modelId="{2EE118AD-DF77-48B3-AF36-A091700EB313}">
      <dgm:prSet/>
      <dgm:spPr/>
      <dgm:t>
        <a:bodyPr/>
        <a:lstStyle/>
        <a:p>
          <a:r>
            <a:rPr lang="en-US"/>
            <a:t>Unemployment rates</a:t>
          </a:r>
        </a:p>
      </dgm:t>
    </dgm:pt>
    <dgm:pt modelId="{560C7ED8-09B4-4F7C-846E-690B7025DE48}" type="parTrans" cxnId="{D116A778-3B25-4B51-941B-8714B3C9F5B0}">
      <dgm:prSet/>
      <dgm:spPr/>
      <dgm:t>
        <a:bodyPr/>
        <a:lstStyle/>
        <a:p>
          <a:endParaRPr lang="en-US"/>
        </a:p>
      </dgm:t>
    </dgm:pt>
    <dgm:pt modelId="{B08A1F15-3E2D-4BD1-A9C0-6E6507392927}" type="sibTrans" cxnId="{D116A778-3B25-4B51-941B-8714B3C9F5B0}">
      <dgm:prSet/>
      <dgm:spPr/>
      <dgm:t>
        <a:bodyPr/>
        <a:lstStyle/>
        <a:p>
          <a:endParaRPr lang="en-US"/>
        </a:p>
      </dgm:t>
    </dgm:pt>
    <dgm:pt modelId="{4782F832-063D-45B2-BE0E-BC079D5A35E4}">
      <dgm:prSet/>
      <dgm:spPr/>
      <dgm:t>
        <a:bodyPr/>
        <a:lstStyle/>
        <a:p>
          <a:r>
            <a:rPr lang="en-US"/>
            <a:t>Bureau of Labor Statistics</a:t>
          </a:r>
        </a:p>
      </dgm:t>
    </dgm:pt>
    <dgm:pt modelId="{D4869860-FD60-4997-8F02-9AC1BB39DBF0}" type="parTrans" cxnId="{AD9B73BE-081A-4D97-858A-CBDC688093DD}">
      <dgm:prSet/>
      <dgm:spPr/>
      <dgm:t>
        <a:bodyPr/>
        <a:lstStyle/>
        <a:p>
          <a:endParaRPr lang="en-US"/>
        </a:p>
      </dgm:t>
    </dgm:pt>
    <dgm:pt modelId="{7929E652-5521-450F-9705-D78273AD9C8A}" type="sibTrans" cxnId="{AD9B73BE-081A-4D97-858A-CBDC688093DD}">
      <dgm:prSet/>
      <dgm:spPr/>
      <dgm:t>
        <a:bodyPr/>
        <a:lstStyle/>
        <a:p>
          <a:endParaRPr lang="en-US"/>
        </a:p>
      </dgm:t>
    </dgm:pt>
    <dgm:pt modelId="{1E25CE95-973E-4118-9626-1E70B81275D5}">
      <dgm:prSet/>
      <dgm:spPr/>
      <dgm:t>
        <a:bodyPr/>
        <a:lstStyle/>
        <a:p>
          <a:r>
            <a:rPr lang="en-US"/>
            <a:t>GDP</a:t>
          </a:r>
        </a:p>
      </dgm:t>
    </dgm:pt>
    <dgm:pt modelId="{EC7DE18E-AE09-4B1A-8244-7009F64B0408}" type="parTrans" cxnId="{E4E8866E-0109-4EBF-BD07-C245B74DE2CD}">
      <dgm:prSet/>
      <dgm:spPr/>
      <dgm:t>
        <a:bodyPr/>
        <a:lstStyle/>
        <a:p>
          <a:endParaRPr lang="en-US"/>
        </a:p>
      </dgm:t>
    </dgm:pt>
    <dgm:pt modelId="{ACAD0A0A-6C0F-4478-951C-A8AC0803F39B}" type="sibTrans" cxnId="{E4E8866E-0109-4EBF-BD07-C245B74DE2CD}">
      <dgm:prSet/>
      <dgm:spPr/>
      <dgm:t>
        <a:bodyPr/>
        <a:lstStyle/>
        <a:p>
          <a:endParaRPr lang="en-US"/>
        </a:p>
      </dgm:t>
    </dgm:pt>
    <dgm:pt modelId="{E3CEF161-3EEF-4BDD-B4A0-FA9245BF4BFE}">
      <dgm:prSet/>
      <dgm:spPr/>
      <dgm:t>
        <a:bodyPr/>
        <a:lstStyle/>
        <a:p>
          <a:r>
            <a:rPr lang="en-US"/>
            <a:t>Bureau of Economic Analysis</a:t>
          </a:r>
        </a:p>
      </dgm:t>
    </dgm:pt>
    <dgm:pt modelId="{2DAE5FAF-92C6-490F-BA44-1A6E6308AD61}" type="parTrans" cxnId="{9DCB1BF5-86DB-47D6-9308-4200BC61FEEC}">
      <dgm:prSet/>
      <dgm:spPr/>
      <dgm:t>
        <a:bodyPr/>
        <a:lstStyle/>
        <a:p>
          <a:endParaRPr lang="en-US"/>
        </a:p>
      </dgm:t>
    </dgm:pt>
    <dgm:pt modelId="{5666B2F0-B284-4B50-8B53-34C2470F0D8F}" type="sibTrans" cxnId="{9DCB1BF5-86DB-47D6-9308-4200BC61FEEC}">
      <dgm:prSet/>
      <dgm:spPr/>
      <dgm:t>
        <a:bodyPr/>
        <a:lstStyle/>
        <a:p>
          <a:endParaRPr lang="en-US"/>
        </a:p>
      </dgm:t>
    </dgm:pt>
    <dgm:pt modelId="{4E970CCE-7C8B-4CF5-B903-4BBBABEE3838}">
      <dgm:prSet/>
      <dgm:spPr/>
      <dgm:t>
        <a:bodyPr/>
        <a:lstStyle/>
        <a:p>
          <a:r>
            <a:rPr lang="en-US"/>
            <a:t>Demographic data</a:t>
          </a:r>
        </a:p>
      </dgm:t>
    </dgm:pt>
    <dgm:pt modelId="{5AFBD76D-DAC9-4F0B-8B31-4FCE7F3A2D8F}" type="parTrans" cxnId="{82C9EDA5-6CAB-4AB6-8538-ABA87B173ACC}">
      <dgm:prSet/>
      <dgm:spPr/>
      <dgm:t>
        <a:bodyPr/>
        <a:lstStyle/>
        <a:p>
          <a:endParaRPr lang="en-US"/>
        </a:p>
      </dgm:t>
    </dgm:pt>
    <dgm:pt modelId="{34D9A2BB-A1F1-4DE9-AE31-BB607942BE02}" type="sibTrans" cxnId="{82C9EDA5-6CAB-4AB6-8538-ABA87B173ACC}">
      <dgm:prSet/>
      <dgm:spPr/>
      <dgm:t>
        <a:bodyPr/>
        <a:lstStyle/>
        <a:p>
          <a:endParaRPr lang="en-US"/>
        </a:p>
      </dgm:t>
    </dgm:pt>
    <dgm:pt modelId="{DC233237-F111-4004-8AA0-269C194A882B}">
      <dgm:prSet/>
      <dgm:spPr/>
      <dgm:t>
        <a:bodyPr/>
        <a:lstStyle/>
        <a:p>
          <a:r>
            <a:rPr lang="en-US"/>
            <a:t>US Census</a:t>
          </a:r>
        </a:p>
      </dgm:t>
    </dgm:pt>
    <dgm:pt modelId="{518423CF-457C-4912-BAC0-FDEDED1BFFE5}" type="parTrans" cxnId="{F96DEDE8-13F4-44A9-A7E8-56E713C85267}">
      <dgm:prSet/>
      <dgm:spPr/>
      <dgm:t>
        <a:bodyPr/>
        <a:lstStyle/>
        <a:p>
          <a:endParaRPr lang="en-US"/>
        </a:p>
      </dgm:t>
    </dgm:pt>
    <dgm:pt modelId="{A02830E8-5FB1-40E4-B2F3-502364B2FD29}" type="sibTrans" cxnId="{F96DEDE8-13F4-44A9-A7E8-56E713C85267}">
      <dgm:prSet/>
      <dgm:spPr/>
      <dgm:t>
        <a:bodyPr/>
        <a:lstStyle/>
        <a:p>
          <a:endParaRPr lang="en-US"/>
        </a:p>
      </dgm:t>
    </dgm:pt>
    <dgm:pt modelId="{E22AAEB7-C390-43A2-A832-0C323D8B5192}" type="pres">
      <dgm:prSet presAssocID="{DF1BB7D3-136B-4EF8-ADC0-7FBB6FA54569}" presName="Name0" presStyleCnt="0">
        <dgm:presLayoutVars>
          <dgm:dir/>
          <dgm:animLvl val="lvl"/>
          <dgm:resizeHandles val="exact"/>
        </dgm:presLayoutVars>
      </dgm:prSet>
      <dgm:spPr/>
    </dgm:pt>
    <dgm:pt modelId="{7148DA31-AA28-4750-8151-4AB8CE65A426}" type="pres">
      <dgm:prSet presAssocID="{13A7C063-4567-483E-86D3-ADAFFD377576}" presName="composite" presStyleCnt="0"/>
      <dgm:spPr/>
    </dgm:pt>
    <dgm:pt modelId="{047348D2-54BB-454D-AF1F-C80B5D781410}" type="pres">
      <dgm:prSet presAssocID="{13A7C063-4567-483E-86D3-ADAFFD37757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A02306A-6FFB-4F3B-9447-99882A1F2FC8}" type="pres">
      <dgm:prSet presAssocID="{13A7C063-4567-483E-86D3-ADAFFD377576}" presName="desTx" presStyleLbl="alignAccFollowNode1" presStyleIdx="0" presStyleCnt="2">
        <dgm:presLayoutVars>
          <dgm:bulletEnabled val="1"/>
        </dgm:presLayoutVars>
      </dgm:prSet>
      <dgm:spPr/>
    </dgm:pt>
    <dgm:pt modelId="{44405B44-CDEA-4291-BC00-259C605C9199}" type="pres">
      <dgm:prSet presAssocID="{3096E031-E567-484A-954E-FF0F73ED05F4}" presName="space" presStyleCnt="0"/>
      <dgm:spPr/>
    </dgm:pt>
    <dgm:pt modelId="{A88C6E96-3D1B-4E98-B7F3-8A0B216CACE4}" type="pres">
      <dgm:prSet presAssocID="{5CEC9F6C-E2D9-4C33-8772-12B702AFBCF3}" presName="composite" presStyleCnt="0"/>
      <dgm:spPr/>
    </dgm:pt>
    <dgm:pt modelId="{A21F2E24-4148-4F7A-9130-FD69BF0086A9}" type="pres">
      <dgm:prSet presAssocID="{5CEC9F6C-E2D9-4C33-8772-12B702AFBCF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7AE7911-C553-4568-8DD5-9C0923D6FF42}" type="pres">
      <dgm:prSet presAssocID="{5CEC9F6C-E2D9-4C33-8772-12B702AFBCF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FF0ED09-1027-4AD2-B3A2-8627C37107CA}" type="presOf" srcId="{5CEC9F6C-E2D9-4C33-8772-12B702AFBCF3}" destId="{A21F2E24-4148-4F7A-9130-FD69BF0086A9}" srcOrd="0" destOrd="0" presId="urn:microsoft.com/office/officeart/2005/8/layout/hList1"/>
    <dgm:cxn modelId="{C8CBF90F-756D-4EB1-906C-A12891E7B63E}" type="presOf" srcId="{E40214A2-963F-4D34-BCED-ADA95276A6E5}" destId="{0A02306A-6FFB-4F3B-9447-99882A1F2FC8}" srcOrd="0" destOrd="2" presId="urn:microsoft.com/office/officeart/2005/8/layout/hList1"/>
    <dgm:cxn modelId="{CEF59811-DA8A-4895-8E5E-DD6BC5302FA1}" type="presOf" srcId="{DF1BB7D3-136B-4EF8-ADC0-7FBB6FA54569}" destId="{E22AAEB7-C390-43A2-A832-0C323D8B5192}" srcOrd="0" destOrd="0" presId="urn:microsoft.com/office/officeart/2005/8/layout/hList1"/>
    <dgm:cxn modelId="{A68D8715-F489-4ADD-AC4F-C65ACE4556CA}" type="presOf" srcId="{E3CEF161-3EEF-4BDD-B4A0-FA9245BF4BFE}" destId="{57AE7911-C553-4568-8DD5-9C0923D6FF42}" srcOrd="0" destOrd="3" presId="urn:microsoft.com/office/officeart/2005/8/layout/hList1"/>
    <dgm:cxn modelId="{39464326-C6DC-430B-9919-B0C5298ECA06}" srcId="{B75D8954-3067-4C4A-9139-1D5E19436958}" destId="{E037901F-2F07-4881-AB52-FCD2F2FA8C4C}" srcOrd="0" destOrd="0" parTransId="{75D3FCB5-5B40-48CE-9D7B-BD3BEA452228}" sibTransId="{5B0A8634-BDDC-4758-BD56-39EDD5497E26}"/>
    <dgm:cxn modelId="{67348E60-48B2-4256-B392-DF33486FDCCB}" type="presOf" srcId="{DC233237-F111-4004-8AA0-269C194A882B}" destId="{57AE7911-C553-4568-8DD5-9C0923D6FF42}" srcOrd="0" destOrd="5" presId="urn:microsoft.com/office/officeart/2005/8/layout/hList1"/>
    <dgm:cxn modelId="{B657CE68-C212-46A1-9638-C4903719B71B}" srcId="{3D451C21-A89A-4307-BC4C-E571CC4F7370}" destId="{C51943AB-F4F4-4210-ABFE-2CE2EB10D78F}" srcOrd="0" destOrd="0" parTransId="{20E5DA94-C0A8-412C-B264-A4CA305A95C0}" sibTransId="{83271BD4-E91C-491B-B3C8-8F7DA869BFD4}"/>
    <dgm:cxn modelId="{4B46256A-C1A3-46EE-9A91-F9BDEF8CED87}" type="presOf" srcId="{B75D8954-3067-4C4A-9139-1D5E19436958}" destId="{0A02306A-6FFB-4F3B-9447-99882A1F2FC8}" srcOrd="0" destOrd="0" presId="urn:microsoft.com/office/officeart/2005/8/layout/hList1"/>
    <dgm:cxn modelId="{E4E8866E-0109-4EBF-BD07-C245B74DE2CD}" srcId="{5CEC9F6C-E2D9-4C33-8772-12B702AFBCF3}" destId="{1E25CE95-973E-4118-9626-1E70B81275D5}" srcOrd="1" destOrd="0" parTransId="{EC7DE18E-AE09-4B1A-8244-7009F64B0408}" sibTransId="{ACAD0A0A-6C0F-4478-951C-A8AC0803F39B}"/>
    <dgm:cxn modelId="{33720456-BC1A-4C48-8A4C-C3532AA93E83}" srcId="{DF1BB7D3-136B-4EF8-ADC0-7FBB6FA54569}" destId="{13A7C063-4567-483E-86D3-ADAFFD377576}" srcOrd="0" destOrd="0" parTransId="{FDFD1D62-172C-478E-B97C-F98ECC0B4957}" sibTransId="{3096E031-E567-484A-954E-FF0F73ED05F4}"/>
    <dgm:cxn modelId="{CF801A58-A19B-46AB-9019-55C27FDD710B}" type="presOf" srcId="{4782F832-063D-45B2-BE0E-BC079D5A35E4}" destId="{57AE7911-C553-4568-8DD5-9C0923D6FF42}" srcOrd="0" destOrd="1" presId="urn:microsoft.com/office/officeart/2005/8/layout/hList1"/>
    <dgm:cxn modelId="{D116A778-3B25-4B51-941B-8714B3C9F5B0}" srcId="{5CEC9F6C-E2D9-4C33-8772-12B702AFBCF3}" destId="{2EE118AD-DF77-48B3-AF36-A091700EB313}" srcOrd="0" destOrd="0" parTransId="{560C7ED8-09B4-4F7C-846E-690B7025DE48}" sibTransId="{B08A1F15-3E2D-4BD1-A9C0-6E6507392927}"/>
    <dgm:cxn modelId="{0840848F-B963-45A4-98E5-C454D2F6952C}" type="presOf" srcId="{4E970CCE-7C8B-4CF5-B903-4BBBABEE3838}" destId="{57AE7911-C553-4568-8DD5-9C0923D6FF42}" srcOrd="0" destOrd="4" presId="urn:microsoft.com/office/officeart/2005/8/layout/hList1"/>
    <dgm:cxn modelId="{D77CEB9E-CA39-487D-9610-C3205ABF724F}" type="presOf" srcId="{3D451C21-A89A-4307-BC4C-E571CC4F7370}" destId="{0A02306A-6FFB-4F3B-9447-99882A1F2FC8}" srcOrd="0" destOrd="4" presId="urn:microsoft.com/office/officeart/2005/8/layout/hList1"/>
    <dgm:cxn modelId="{13C9619F-22BB-434E-913F-09C8F01D7167}" type="presOf" srcId="{1E25CE95-973E-4118-9626-1E70B81275D5}" destId="{57AE7911-C553-4568-8DD5-9C0923D6FF42}" srcOrd="0" destOrd="2" presId="urn:microsoft.com/office/officeart/2005/8/layout/hList1"/>
    <dgm:cxn modelId="{82C9EDA5-6CAB-4AB6-8538-ABA87B173ACC}" srcId="{5CEC9F6C-E2D9-4C33-8772-12B702AFBCF3}" destId="{4E970CCE-7C8B-4CF5-B903-4BBBABEE3838}" srcOrd="2" destOrd="0" parTransId="{5AFBD76D-DAC9-4F0B-8B31-4FCE7F3A2D8F}" sibTransId="{34D9A2BB-A1F1-4DE9-AE31-BB607942BE02}"/>
    <dgm:cxn modelId="{013455A6-5CE8-4965-B71B-53FC17B07339}" srcId="{DF1BB7D3-136B-4EF8-ADC0-7FBB6FA54569}" destId="{5CEC9F6C-E2D9-4C33-8772-12B702AFBCF3}" srcOrd="1" destOrd="0" parTransId="{C58E91C3-4871-4FC0-BA2B-FF4B1C0A7141}" sibTransId="{C54E0DCE-825B-4E2E-A675-149E443F3558}"/>
    <dgm:cxn modelId="{B15DF7A8-4CEE-44A2-ADED-5BE715167642}" type="presOf" srcId="{C51943AB-F4F4-4210-ABFE-2CE2EB10D78F}" destId="{0A02306A-6FFB-4F3B-9447-99882A1F2FC8}" srcOrd="0" destOrd="5" presId="urn:microsoft.com/office/officeart/2005/8/layout/hList1"/>
    <dgm:cxn modelId="{598D35B2-C50F-4425-BEEA-02BBBBC8A3BD}" srcId="{13A7C063-4567-483E-86D3-ADAFFD377576}" destId="{E40214A2-963F-4D34-BCED-ADA95276A6E5}" srcOrd="1" destOrd="0" parTransId="{7FB584AC-AFD5-467F-AF7D-037FB925E549}" sibTransId="{E3DCBBC5-D096-4232-9878-9E34F19F88DB}"/>
    <dgm:cxn modelId="{136DFEB9-9BAD-4DC9-9DDB-FEDC2DD72E3E}" srcId="{13A7C063-4567-483E-86D3-ADAFFD377576}" destId="{B75D8954-3067-4C4A-9139-1D5E19436958}" srcOrd="0" destOrd="0" parTransId="{E611AE8B-B2F7-497B-93A1-A72CC065EA5F}" sibTransId="{A519044A-2531-47F8-B9A2-282A1DDA5290}"/>
    <dgm:cxn modelId="{AD9B73BE-081A-4D97-858A-CBDC688093DD}" srcId="{2EE118AD-DF77-48B3-AF36-A091700EB313}" destId="{4782F832-063D-45B2-BE0E-BC079D5A35E4}" srcOrd="0" destOrd="0" parTransId="{D4869860-FD60-4997-8F02-9AC1BB39DBF0}" sibTransId="{7929E652-5521-450F-9705-D78273AD9C8A}"/>
    <dgm:cxn modelId="{B12186D9-8DC3-4467-A71E-1C6AD49C44DD}" type="presOf" srcId="{E037901F-2F07-4881-AB52-FCD2F2FA8C4C}" destId="{0A02306A-6FFB-4F3B-9447-99882A1F2FC8}" srcOrd="0" destOrd="1" presId="urn:microsoft.com/office/officeart/2005/8/layout/hList1"/>
    <dgm:cxn modelId="{72C7E6DA-AD5D-48F6-B850-3C51191BF593}" type="presOf" srcId="{13A7C063-4567-483E-86D3-ADAFFD377576}" destId="{047348D2-54BB-454D-AF1F-C80B5D781410}" srcOrd="0" destOrd="0" presId="urn:microsoft.com/office/officeart/2005/8/layout/hList1"/>
    <dgm:cxn modelId="{B8FC77DC-EC15-4F28-B2E3-3B6E87836527}" type="presOf" srcId="{D5D88D90-8762-4370-B1EB-E5DBFB4622E5}" destId="{0A02306A-6FFB-4F3B-9447-99882A1F2FC8}" srcOrd="0" destOrd="3" presId="urn:microsoft.com/office/officeart/2005/8/layout/hList1"/>
    <dgm:cxn modelId="{F96DEDE8-13F4-44A9-A7E8-56E713C85267}" srcId="{4E970CCE-7C8B-4CF5-B903-4BBBABEE3838}" destId="{DC233237-F111-4004-8AA0-269C194A882B}" srcOrd="0" destOrd="0" parTransId="{518423CF-457C-4912-BAC0-FDEDED1BFFE5}" sibTransId="{A02830E8-5FB1-40E4-B2F3-502364B2FD29}"/>
    <dgm:cxn modelId="{24EF4EEE-60BE-4EA8-B587-47EBA8DDC690}" srcId="{13A7C063-4567-483E-86D3-ADAFFD377576}" destId="{3D451C21-A89A-4307-BC4C-E571CC4F7370}" srcOrd="2" destOrd="0" parTransId="{2C788685-8F0C-4705-B5A0-41BF2540D6E2}" sibTransId="{DFC936BA-A0E8-40A5-9C67-882A0402A369}"/>
    <dgm:cxn modelId="{9DCB1BF5-86DB-47D6-9308-4200BC61FEEC}" srcId="{1E25CE95-973E-4118-9626-1E70B81275D5}" destId="{E3CEF161-3EEF-4BDD-B4A0-FA9245BF4BFE}" srcOrd="0" destOrd="0" parTransId="{2DAE5FAF-92C6-490F-BA44-1A6E6308AD61}" sibTransId="{5666B2F0-B284-4B50-8B53-34C2470F0D8F}"/>
    <dgm:cxn modelId="{C09591F5-389D-48B1-96F6-FE1AFA68412F}" srcId="{E40214A2-963F-4D34-BCED-ADA95276A6E5}" destId="{D5D88D90-8762-4370-B1EB-E5DBFB4622E5}" srcOrd="0" destOrd="0" parTransId="{198FC1AB-9667-4808-8DBD-E0A2A07207B1}" sibTransId="{323ABADB-9C71-4976-9457-9469018A58E1}"/>
    <dgm:cxn modelId="{BC17F8FC-CD0E-4BAA-8D26-61F4D3661349}" type="presOf" srcId="{2EE118AD-DF77-48B3-AF36-A091700EB313}" destId="{57AE7911-C553-4568-8DD5-9C0923D6FF42}" srcOrd="0" destOrd="0" presId="urn:microsoft.com/office/officeart/2005/8/layout/hList1"/>
    <dgm:cxn modelId="{AFCB3F25-8421-42B2-8A46-9AD11B8AB0E3}" type="presParOf" srcId="{E22AAEB7-C390-43A2-A832-0C323D8B5192}" destId="{7148DA31-AA28-4750-8151-4AB8CE65A426}" srcOrd="0" destOrd="0" presId="urn:microsoft.com/office/officeart/2005/8/layout/hList1"/>
    <dgm:cxn modelId="{7BEB470C-FE9D-4D1B-A725-6006767554A2}" type="presParOf" srcId="{7148DA31-AA28-4750-8151-4AB8CE65A426}" destId="{047348D2-54BB-454D-AF1F-C80B5D781410}" srcOrd="0" destOrd="0" presId="urn:microsoft.com/office/officeart/2005/8/layout/hList1"/>
    <dgm:cxn modelId="{54ADCECD-3956-4690-A359-5562A297FA34}" type="presParOf" srcId="{7148DA31-AA28-4750-8151-4AB8CE65A426}" destId="{0A02306A-6FFB-4F3B-9447-99882A1F2FC8}" srcOrd="1" destOrd="0" presId="urn:microsoft.com/office/officeart/2005/8/layout/hList1"/>
    <dgm:cxn modelId="{6B418AE4-D3C6-4028-BB2F-5C0A4DBC0B21}" type="presParOf" srcId="{E22AAEB7-C390-43A2-A832-0C323D8B5192}" destId="{44405B44-CDEA-4291-BC00-259C605C9199}" srcOrd="1" destOrd="0" presId="urn:microsoft.com/office/officeart/2005/8/layout/hList1"/>
    <dgm:cxn modelId="{B51DD229-FC2A-4967-B29B-C39513104CFE}" type="presParOf" srcId="{E22AAEB7-C390-43A2-A832-0C323D8B5192}" destId="{A88C6E96-3D1B-4E98-B7F3-8A0B216CACE4}" srcOrd="2" destOrd="0" presId="urn:microsoft.com/office/officeart/2005/8/layout/hList1"/>
    <dgm:cxn modelId="{2ED1A85D-1BFF-4C63-AF5A-96174F32B6E4}" type="presParOf" srcId="{A88C6E96-3D1B-4E98-B7F3-8A0B216CACE4}" destId="{A21F2E24-4148-4F7A-9130-FD69BF0086A9}" srcOrd="0" destOrd="0" presId="urn:microsoft.com/office/officeart/2005/8/layout/hList1"/>
    <dgm:cxn modelId="{1D2FB7F9-8838-45C9-B0F1-D285E502B965}" type="presParOf" srcId="{A88C6E96-3D1B-4E98-B7F3-8A0B216CACE4}" destId="{57AE7911-C553-4568-8DD5-9C0923D6FF4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1B2D01-60A3-4A57-BA4F-0063CC87459E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FFADC6B-A410-4962-B64D-7D6B12D96985}">
      <dgm:prSet/>
      <dgm:spPr/>
      <dgm:t>
        <a:bodyPr/>
        <a:lstStyle/>
        <a:p>
          <a:r>
            <a:rPr lang="en-US"/>
            <a:t>Two-Way Fixed Effects Linear Regression</a:t>
          </a:r>
        </a:p>
      </dgm:t>
    </dgm:pt>
    <dgm:pt modelId="{CAE858E6-5D94-4043-90E0-B423A3B28787}" type="parTrans" cxnId="{CD28DA1B-812B-4C80-B102-6C58F055203B}">
      <dgm:prSet/>
      <dgm:spPr/>
      <dgm:t>
        <a:bodyPr/>
        <a:lstStyle/>
        <a:p>
          <a:endParaRPr lang="en-US"/>
        </a:p>
      </dgm:t>
    </dgm:pt>
    <dgm:pt modelId="{51674B33-B0FC-4794-91A8-E95562343C38}" type="sibTrans" cxnId="{CD28DA1B-812B-4C80-B102-6C58F055203B}">
      <dgm:prSet/>
      <dgm:spPr/>
      <dgm:t>
        <a:bodyPr/>
        <a:lstStyle/>
        <a:p>
          <a:endParaRPr lang="en-US"/>
        </a:p>
      </dgm:t>
    </dgm:pt>
    <dgm:pt modelId="{01FDAF32-E392-46DB-AE6B-15361ECD17D2}">
      <dgm:prSet/>
      <dgm:spPr/>
      <dgm:t>
        <a:bodyPr/>
        <a:lstStyle/>
        <a:p>
          <a:r>
            <a:rPr lang="en-US"/>
            <a:t>Fixed Effects</a:t>
          </a:r>
        </a:p>
      </dgm:t>
    </dgm:pt>
    <dgm:pt modelId="{E28F08C3-0992-4076-8A94-AA3FD450FD27}" type="parTrans" cxnId="{56A3AC1D-2B82-4EC7-9724-13D0ED8FA74F}">
      <dgm:prSet/>
      <dgm:spPr/>
      <dgm:t>
        <a:bodyPr/>
        <a:lstStyle/>
        <a:p>
          <a:endParaRPr lang="en-US"/>
        </a:p>
      </dgm:t>
    </dgm:pt>
    <dgm:pt modelId="{8CE027A8-309C-4F02-BBCE-F416120EE964}" type="sibTrans" cxnId="{56A3AC1D-2B82-4EC7-9724-13D0ED8FA74F}">
      <dgm:prSet/>
      <dgm:spPr/>
      <dgm:t>
        <a:bodyPr/>
        <a:lstStyle/>
        <a:p>
          <a:endParaRPr lang="en-US"/>
        </a:p>
      </dgm:t>
    </dgm:pt>
    <dgm:pt modelId="{E0DF41C3-EA05-4B63-837F-7C3AE116B3BE}">
      <dgm:prSet/>
      <dgm:spPr/>
      <dgm:t>
        <a:bodyPr/>
        <a:lstStyle/>
        <a:p>
          <a:r>
            <a:rPr lang="en-US"/>
            <a:t>State Effects</a:t>
          </a:r>
        </a:p>
      </dgm:t>
    </dgm:pt>
    <dgm:pt modelId="{A0D8E4A5-2F53-42FA-8256-B9DB9814A611}" type="parTrans" cxnId="{2BE9006A-7A6B-4065-B7BC-B667226C053B}">
      <dgm:prSet/>
      <dgm:spPr/>
      <dgm:t>
        <a:bodyPr/>
        <a:lstStyle/>
        <a:p>
          <a:endParaRPr lang="en-US"/>
        </a:p>
      </dgm:t>
    </dgm:pt>
    <dgm:pt modelId="{574E5D46-1A8A-40FE-9397-7481B2CA3178}" type="sibTrans" cxnId="{2BE9006A-7A6B-4065-B7BC-B667226C053B}">
      <dgm:prSet/>
      <dgm:spPr/>
      <dgm:t>
        <a:bodyPr/>
        <a:lstStyle/>
        <a:p>
          <a:endParaRPr lang="en-US"/>
        </a:p>
      </dgm:t>
    </dgm:pt>
    <dgm:pt modelId="{B3BE5581-09C8-4BF5-887E-DA86C95FA8AD}">
      <dgm:prSet/>
      <dgm:spPr/>
      <dgm:t>
        <a:bodyPr/>
        <a:lstStyle/>
        <a:p>
          <a:r>
            <a:rPr lang="en-US"/>
            <a:t>Holds constant stable differences across time</a:t>
          </a:r>
        </a:p>
      </dgm:t>
    </dgm:pt>
    <dgm:pt modelId="{01D750C9-CD35-451A-BC87-A4E6516ABC27}" type="parTrans" cxnId="{4CA27BC1-4656-429A-8481-0C5F70F8BA7F}">
      <dgm:prSet/>
      <dgm:spPr/>
      <dgm:t>
        <a:bodyPr/>
        <a:lstStyle/>
        <a:p>
          <a:endParaRPr lang="en-US"/>
        </a:p>
      </dgm:t>
    </dgm:pt>
    <dgm:pt modelId="{61D4073E-C6C6-413C-BC17-9E9B0D20FAF7}" type="sibTrans" cxnId="{4CA27BC1-4656-429A-8481-0C5F70F8BA7F}">
      <dgm:prSet/>
      <dgm:spPr/>
      <dgm:t>
        <a:bodyPr/>
        <a:lstStyle/>
        <a:p>
          <a:endParaRPr lang="en-US"/>
        </a:p>
      </dgm:t>
    </dgm:pt>
    <dgm:pt modelId="{10B42C06-0266-4C32-AB5F-F43B5379EC93}">
      <dgm:prSet/>
      <dgm:spPr/>
      <dgm:t>
        <a:bodyPr/>
        <a:lstStyle/>
        <a:p>
          <a:r>
            <a:rPr lang="en-US"/>
            <a:t>Time Effects</a:t>
          </a:r>
        </a:p>
      </dgm:t>
    </dgm:pt>
    <dgm:pt modelId="{3B8D0F86-27AB-4344-AE5A-0CE5C2F2580C}" type="parTrans" cxnId="{F0E15C9E-0332-4EFB-A355-718E8584849C}">
      <dgm:prSet/>
      <dgm:spPr/>
      <dgm:t>
        <a:bodyPr/>
        <a:lstStyle/>
        <a:p>
          <a:endParaRPr lang="en-US"/>
        </a:p>
      </dgm:t>
    </dgm:pt>
    <dgm:pt modelId="{BE212B94-99B2-4415-AA40-BF25D66A138C}" type="sibTrans" cxnId="{F0E15C9E-0332-4EFB-A355-718E8584849C}">
      <dgm:prSet/>
      <dgm:spPr/>
      <dgm:t>
        <a:bodyPr/>
        <a:lstStyle/>
        <a:p>
          <a:endParaRPr lang="en-US"/>
        </a:p>
      </dgm:t>
    </dgm:pt>
    <dgm:pt modelId="{6317992A-249F-4832-ADDC-7A8A41DFD2C1}">
      <dgm:prSet/>
      <dgm:spPr/>
      <dgm:t>
        <a:bodyPr/>
        <a:lstStyle/>
        <a:p>
          <a:r>
            <a:rPr lang="en-US"/>
            <a:t>Holds constant stable differences across time</a:t>
          </a:r>
        </a:p>
      </dgm:t>
    </dgm:pt>
    <dgm:pt modelId="{3727F980-E6FC-446E-8AC7-D5555241FCD6}" type="parTrans" cxnId="{8672D32A-3E4B-446A-90B3-9548BC1053AC}">
      <dgm:prSet/>
      <dgm:spPr/>
      <dgm:t>
        <a:bodyPr/>
        <a:lstStyle/>
        <a:p>
          <a:endParaRPr lang="en-US"/>
        </a:p>
      </dgm:t>
    </dgm:pt>
    <dgm:pt modelId="{3B253A00-1F46-439E-8895-89472186FD91}" type="sibTrans" cxnId="{8672D32A-3E4B-446A-90B3-9548BC1053AC}">
      <dgm:prSet/>
      <dgm:spPr/>
      <dgm:t>
        <a:bodyPr/>
        <a:lstStyle/>
        <a:p>
          <a:endParaRPr lang="en-US"/>
        </a:p>
      </dgm:t>
    </dgm:pt>
    <dgm:pt modelId="{865324B0-89D9-497F-AC53-D296078C1DB6}">
      <dgm:prSet/>
      <dgm:spPr/>
      <dgm:t>
        <a:bodyPr/>
        <a:lstStyle/>
        <a:p>
          <a:r>
            <a:rPr lang="en-US"/>
            <a:t>Regression</a:t>
          </a:r>
        </a:p>
      </dgm:t>
    </dgm:pt>
    <dgm:pt modelId="{1BDD60A3-22A2-44F2-8F4D-57D57F3F1AE0}" type="parTrans" cxnId="{16333E87-C15F-4832-A299-52FC4D6A6944}">
      <dgm:prSet/>
      <dgm:spPr/>
      <dgm:t>
        <a:bodyPr/>
        <a:lstStyle/>
        <a:p>
          <a:endParaRPr lang="en-US"/>
        </a:p>
      </dgm:t>
    </dgm:pt>
    <dgm:pt modelId="{5C5213CE-0C72-4F59-8DD3-7D7BE72AEE15}" type="sibTrans" cxnId="{16333E87-C15F-4832-A299-52FC4D6A6944}">
      <dgm:prSet/>
      <dgm:spPr/>
      <dgm:t>
        <a:bodyPr/>
        <a:lstStyle/>
        <a:p>
          <a:endParaRPr lang="en-US"/>
        </a:p>
      </dgm:t>
    </dgm:pt>
    <dgm:pt modelId="{002566F7-F5DE-4279-9FAE-114A9AB20F01}">
      <dgm:prSet/>
      <dgm:spPr/>
      <dgm:t>
        <a:bodyPr/>
        <a:lstStyle/>
        <a:p>
          <a:r>
            <a:rPr lang="en-US"/>
            <a:t>Use abortion rates to predict violent crime rates 18-25 years later</a:t>
          </a:r>
        </a:p>
      </dgm:t>
    </dgm:pt>
    <dgm:pt modelId="{BDB3CF92-9ADC-4544-A88E-C49EA2DBBFD7}" type="parTrans" cxnId="{3736D4CC-F6C9-4514-BC26-F01CF8DE6971}">
      <dgm:prSet/>
      <dgm:spPr/>
      <dgm:t>
        <a:bodyPr/>
        <a:lstStyle/>
        <a:p>
          <a:endParaRPr lang="en-US"/>
        </a:p>
      </dgm:t>
    </dgm:pt>
    <dgm:pt modelId="{2007A848-F960-402B-8C4D-52662F5A8CB7}" type="sibTrans" cxnId="{3736D4CC-F6C9-4514-BC26-F01CF8DE6971}">
      <dgm:prSet/>
      <dgm:spPr/>
      <dgm:t>
        <a:bodyPr/>
        <a:lstStyle/>
        <a:p>
          <a:endParaRPr lang="en-US"/>
        </a:p>
      </dgm:t>
    </dgm:pt>
    <dgm:pt modelId="{898B1DA1-FBC4-42A5-8F6D-0579A70D4EEE}" type="pres">
      <dgm:prSet presAssocID="{141B2D01-60A3-4A57-BA4F-0063CC87459E}" presName="linear" presStyleCnt="0">
        <dgm:presLayoutVars>
          <dgm:dir/>
          <dgm:animLvl val="lvl"/>
          <dgm:resizeHandles val="exact"/>
        </dgm:presLayoutVars>
      </dgm:prSet>
      <dgm:spPr/>
    </dgm:pt>
    <dgm:pt modelId="{B45117E5-E89F-4014-8F86-CD0246E5834B}" type="pres">
      <dgm:prSet presAssocID="{DFFADC6B-A410-4962-B64D-7D6B12D96985}" presName="parentLin" presStyleCnt="0"/>
      <dgm:spPr/>
    </dgm:pt>
    <dgm:pt modelId="{5A9ADB3E-22C6-46CA-AD06-578A01885B40}" type="pres">
      <dgm:prSet presAssocID="{DFFADC6B-A410-4962-B64D-7D6B12D96985}" presName="parentLeftMargin" presStyleLbl="node1" presStyleIdx="0" presStyleCnt="2"/>
      <dgm:spPr/>
    </dgm:pt>
    <dgm:pt modelId="{CC16BB34-D102-42AA-8FF8-CE6E58AC59AD}" type="pres">
      <dgm:prSet presAssocID="{DFFADC6B-A410-4962-B64D-7D6B12D9698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A1AED89-0BB3-4B47-897B-C9DB044C642E}" type="pres">
      <dgm:prSet presAssocID="{DFFADC6B-A410-4962-B64D-7D6B12D96985}" presName="negativeSpace" presStyleCnt="0"/>
      <dgm:spPr/>
    </dgm:pt>
    <dgm:pt modelId="{5CCC9E27-B75B-480F-B24D-F3FBA5677B64}" type="pres">
      <dgm:prSet presAssocID="{DFFADC6B-A410-4962-B64D-7D6B12D96985}" presName="childText" presStyleLbl="conFgAcc1" presStyleIdx="0" presStyleCnt="2">
        <dgm:presLayoutVars>
          <dgm:bulletEnabled val="1"/>
        </dgm:presLayoutVars>
      </dgm:prSet>
      <dgm:spPr/>
    </dgm:pt>
    <dgm:pt modelId="{71D1DCD0-D6B1-423A-9406-28AFB3405AB3}" type="pres">
      <dgm:prSet presAssocID="{51674B33-B0FC-4794-91A8-E95562343C38}" presName="spaceBetweenRectangles" presStyleCnt="0"/>
      <dgm:spPr/>
    </dgm:pt>
    <dgm:pt modelId="{7E0172FA-DB72-46F4-B714-C18BFEDF7032}" type="pres">
      <dgm:prSet presAssocID="{01FDAF32-E392-46DB-AE6B-15361ECD17D2}" presName="parentLin" presStyleCnt="0"/>
      <dgm:spPr/>
    </dgm:pt>
    <dgm:pt modelId="{06FE977D-3310-4F5D-A679-492B2917C011}" type="pres">
      <dgm:prSet presAssocID="{01FDAF32-E392-46DB-AE6B-15361ECD17D2}" presName="parentLeftMargin" presStyleLbl="node1" presStyleIdx="0" presStyleCnt="2"/>
      <dgm:spPr/>
    </dgm:pt>
    <dgm:pt modelId="{106C3E5F-8943-4F3D-8348-5A71377DFA89}" type="pres">
      <dgm:prSet presAssocID="{01FDAF32-E392-46DB-AE6B-15361ECD17D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2401EEF-799F-49B2-A114-9EAA6163DAF8}" type="pres">
      <dgm:prSet presAssocID="{01FDAF32-E392-46DB-AE6B-15361ECD17D2}" presName="negativeSpace" presStyleCnt="0"/>
      <dgm:spPr/>
    </dgm:pt>
    <dgm:pt modelId="{CCEAF8DE-7CD0-4BD8-891B-EF02B0BB3AE3}" type="pres">
      <dgm:prSet presAssocID="{01FDAF32-E392-46DB-AE6B-15361ECD17D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CEE4400-FFEA-4B7D-B1CA-F047DA1AAB29}" type="presOf" srcId="{6317992A-249F-4832-ADDC-7A8A41DFD2C1}" destId="{CCEAF8DE-7CD0-4BD8-891B-EF02B0BB3AE3}" srcOrd="0" destOrd="3" presId="urn:microsoft.com/office/officeart/2005/8/layout/list1"/>
    <dgm:cxn modelId="{CAF06C0A-CA9C-4B29-90B4-062D5DE424BB}" type="presOf" srcId="{10B42C06-0266-4C32-AB5F-F43B5379EC93}" destId="{CCEAF8DE-7CD0-4BD8-891B-EF02B0BB3AE3}" srcOrd="0" destOrd="2" presId="urn:microsoft.com/office/officeart/2005/8/layout/list1"/>
    <dgm:cxn modelId="{28C51E0F-55BD-4BF8-B41B-3058B47B1429}" type="presOf" srcId="{01FDAF32-E392-46DB-AE6B-15361ECD17D2}" destId="{06FE977D-3310-4F5D-A679-492B2917C011}" srcOrd="0" destOrd="0" presId="urn:microsoft.com/office/officeart/2005/8/layout/list1"/>
    <dgm:cxn modelId="{DCB94214-AC29-4685-8D6A-E35CBFF07AC9}" type="presOf" srcId="{DFFADC6B-A410-4962-B64D-7D6B12D96985}" destId="{5A9ADB3E-22C6-46CA-AD06-578A01885B40}" srcOrd="0" destOrd="0" presId="urn:microsoft.com/office/officeart/2005/8/layout/list1"/>
    <dgm:cxn modelId="{CD28DA1B-812B-4C80-B102-6C58F055203B}" srcId="{141B2D01-60A3-4A57-BA4F-0063CC87459E}" destId="{DFFADC6B-A410-4962-B64D-7D6B12D96985}" srcOrd="0" destOrd="0" parTransId="{CAE858E6-5D94-4043-90E0-B423A3B28787}" sibTransId="{51674B33-B0FC-4794-91A8-E95562343C38}"/>
    <dgm:cxn modelId="{56A3AC1D-2B82-4EC7-9724-13D0ED8FA74F}" srcId="{141B2D01-60A3-4A57-BA4F-0063CC87459E}" destId="{01FDAF32-E392-46DB-AE6B-15361ECD17D2}" srcOrd="1" destOrd="0" parTransId="{E28F08C3-0992-4076-8A94-AA3FD450FD27}" sibTransId="{8CE027A8-309C-4F02-BBCE-F416120EE964}"/>
    <dgm:cxn modelId="{79FBFF21-05F3-44C0-9315-F3B90784F039}" type="presOf" srcId="{DFFADC6B-A410-4962-B64D-7D6B12D96985}" destId="{CC16BB34-D102-42AA-8FF8-CE6E58AC59AD}" srcOrd="1" destOrd="0" presId="urn:microsoft.com/office/officeart/2005/8/layout/list1"/>
    <dgm:cxn modelId="{8672D32A-3E4B-446A-90B3-9548BC1053AC}" srcId="{10B42C06-0266-4C32-AB5F-F43B5379EC93}" destId="{6317992A-249F-4832-ADDC-7A8A41DFD2C1}" srcOrd="0" destOrd="0" parTransId="{3727F980-E6FC-446E-8AC7-D5555241FCD6}" sibTransId="{3B253A00-1F46-439E-8895-89472186FD91}"/>
    <dgm:cxn modelId="{2C500936-10E8-4A6D-A8DA-258AC2EC01F1}" type="presOf" srcId="{002566F7-F5DE-4279-9FAE-114A9AB20F01}" destId="{CCEAF8DE-7CD0-4BD8-891B-EF02B0BB3AE3}" srcOrd="0" destOrd="5" presId="urn:microsoft.com/office/officeart/2005/8/layout/list1"/>
    <dgm:cxn modelId="{2BE9006A-7A6B-4065-B7BC-B667226C053B}" srcId="{01FDAF32-E392-46DB-AE6B-15361ECD17D2}" destId="{E0DF41C3-EA05-4B63-837F-7C3AE116B3BE}" srcOrd="0" destOrd="0" parTransId="{A0D8E4A5-2F53-42FA-8256-B9DB9814A611}" sibTransId="{574E5D46-1A8A-40FE-9397-7481B2CA3178}"/>
    <dgm:cxn modelId="{9AF76474-980D-460C-A3DA-ECF718706BB3}" type="presOf" srcId="{865324B0-89D9-497F-AC53-D296078C1DB6}" destId="{CCEAF8DE-7CD0-4BD8-891B-EF02B0BB3AE3}" srcOrd="0" destOrd="4" presId="urn:microsoft.com/office/officeart/2005/8/layout/list1"/>
    <dgm:cxn modelId="{16333E87-C15F-4832-A299-52FC4D6A6944}" srcId="{01FDAF32-E392-46DB-AE6B-15361ECD17D2}" destId="{865324B0-89D9-497F-AC53-D296078C1DB6}" srcOrd="2" destOrd="0" parTransId="{1BDD60A3-22A2-44F2-8F4D-57D57F3F1AE0}" sibTransId="{5C5213CE-0C72-4F59-8DD3-7D7BE72AEE15}"/>
    <dgm:cxn modelId="{8A666D95-35E3-4B98-BF83-FECB0DE5968B}" type="presOf" srcId="{141B2D01-60A3-4A57-BA4F-0063CC87459E}" destId="{898B1DA1-FBC4-42A5-8F6D-0579A70D4EEE}" srcOrd="0" destOrd="0" presId="urn:microsoft.com/office/officeart/2005/8/layout/list1"/>
    <dgm:cxn modelId="{F0E15C9E-0332-4EFB-A355-718E8584849C}" srcId="{01FDAF32-E392-46DB-AE6B-15361ECD17D2}" destId="{10B42C06-0266-4C32-AB5F-F43B5379EC93}" srcOrd="1" destOrd="0" parTransId="{3B8D0F86-27AB-4344-AE5A-0CE5C2F2580C}" sibTransId="{BE212B94-99B2-4415-AA40-BF25D66A138C}"/>
    <dgm:cxn modelId="{733B96A0-8822-4F90-9E87-59A8DC5E60F6}" type="presOf" srcId="{01FDAF32-E392-46DB-AE6B-15361ECD17D2}" destId="{106C3E5F-8943-4F3D-8348-5A71377DFA89}" srcOrd="1" destOrd="0" presId="urn:microsoft.com/office/officeart/2005/8/layout/list1"/>
    <dgm:cxn modelId="{8E63F0B3-566B-4766-BCB5-58F02C64BF24}" type="presOf" srcId="{B3BE5581-09C8-4BF5-887E-DA86C95FA8AD}" destId="{CCEAF8DE-7CD0-4BD8-891B-EF02B0BB3AE3}" srcOrd="0" destOrd="1" presId="urn:microsoft.com/office/officeart/2005/8/layout/list1"/>
    <dgm:cxn modelId="{4CA27BC1-4656-429A-8481-0C5F70F8BA7F}" srcId="{E0DF41C3-EA05-4B63-837F-7C3AE116B3BE}" destId="{B3BE5581-09C8-4BF5-887E-DA86C95FA8AD}" srcOrd="0" destOrd="0" parTransId="{01D750C9-CD35-451A-BC87-A4E6516ABC27}" sibTransId="{61D4073E-C6C6-413C-BC17-9E9B0D20FAF7}"/>
    <dgm:cxn modelId="{3736D4CC-F6C9-4514-BC26-F01CF8DE6971}" srcId="{865324B0-89D9-497F-AC53-D296078C1DB6}" destId="{002566F7-F5DE-4279-9FAE-114A9AB20F01}" srcOrd="0" destOrd="0" parTransId="{BDB3CF92-9ADC-4544-A88E-C49EA2DBBFD7}" sibTransId="{2007A848-F960-402B-8C4D-52662F5A8CB7}"/>
    <dgm:cxn modelId="{AF4B8EF4-EA3D-4D6C-BF8A-8F12C8249BE4}" type="presOf" srcId="{E0DF41C3-EA05-4B63-837F-7C3AE116B3BE}" destId="{CCEAF8DE-7CD0-4BD8-891B-EF02B0BB3AE3}" srcOrd="0" destOrd="0" presId="urn:microsoft.com/office/officeart/2005/8/layout/list1"/>
    <dgm:cxn modelId="{01F1C5FE-A18A-4AEB-B4F9-F1FC9B2983A4}" type="presParOf" srcId="{898B1DA1-FBC4-42A5-8F6D-0579A70D4EEE}" destId="{B45117E5-E89F-4014-8F86-CD0246E5834B}" srcOrd="0" destOrd="0" presId="urn:microsoft.com/office/officeart/2005/8/layout/list1"/>
    <dgm:cxn modelId="{0A66A37D-7FCF-41FD-A080-2DBF6ACDC459}" type="presParOf" srcId="{B45117E5-E89F-4014-8F86-CD0246E5834B}" destId="{5A9ADB3E-22C6-46CA-AD06-578A01885B40}" srcOrd="0" destOrd="0" presId="urn:microsoft.com/office/officeart/2005/8/layout/list1"/>
    <dgm:cxn modelId="{A8067241-2506-44CB-94EB-978925478D65}" type="presParOf" srcId="{B45117E5-E89F-4014-8F86-CD0246E5834B}" destId="{CC16BB34-D102-42AA-8FF8-CE6E58AC59AD}" srcOrd="1" destOrd="0" presId="urn:microsoft.com/office/officeart/2005/8/layout/list1"/>
    <dgm:cxn modelId="{4F23A6AF-A5AA-4139-B405-31A4A4FC5BDE}" type="presParOf" srcId="{898B1DA1-FBC4-42A5-8F6D-0579A70D4EEE}" destId="{AA1AED89-0BB3-4B47-897B-C9DB044C642E}" srcOrd="1" destOrd="0" presId="urn:microsoft.com/office/officeart/2005/8/layout/list1"/>
    <dgm:cxn modelId="{C63A313A-8A74-4B5C-B198-04DF56502300}" type="presParOf" srcId="{898B1DA1-FBC4-42A5-8F6D-0579A70D4EEE}" destId="{5CCC9E27-B75B-480F-B24D-F3FBA5677B64}" srcOrd="2" destOrd="0" presId="urn:microsoft.com/office/officeart/2005/8/layout/list1"/>
    <dgm:cxn modelId="{734D273F-40E3-4B92-BCB8-5BC6B2FD958B}" type="presParOf" srcId="{898B1DA1-FBC4-42A5-8F6D-0579A70D4EEE}" destId="{71D1DCD0-D6B1-423A-9406-28AFB3405AB3}" srcOrd="3" destOrd="0" presId="urn:microsoft.com/office/officeart/2005/8/layout/list1"/>
    <dgm:cxn modelId="{36CBDDF5-C991-46B1-AC87-9B28BC2EADF5}" type="presParOf" srcId="{898B1DA1-FBC4-42A5-8F6D-0579A70D4EEE}" destId="{7E0172FA-DB72-46F4-B714-C18BFEDF7032}" srcOrd="4" destOrd="0" presId="urn:microsoft.com/office/officeart/2005/8/layout/list1"/>
    <dgm:cxn modelId="{29BCD530-1837-4487-A08F-D35DDF10C854}" type="presParOf" srcId="{7E0172FA-DB72-46F4-B714-C18BFEDF7032}" destId="{06FE977D-3310-4F5D-A679-492B2917C011}" srcOrd="0" destOrd="0" presId="urn:microsoft.com/office/officeart/2005/8/layout/list1"/>
    <dgm:cxn modelId="{67A58722-9096-4126-921A-79F01873C51C}" type="presParOf" srcId="{7E0172FA-DB72-46F4-B714-C18BFEDF7032}" destId="{106C3E5F-8943-4F3D-8348-5A71377DFA89}" srcOrd="1" destOrd="0" presId="urn:microsoft.com/office/officeart/2005/8/layout/list1"/>
    <dgm:cxn modelId="{35E669F9-516A-4353-B84B-EF6A335FC017}" type="presParOf" srcId="{898B1DA1-FBC4-42A5-8F6D-0579A70D4EEE}" destId="{72401EEF-799F-49B2-A114-9EAA6163DAF8}" srcOrd="5" destOrd="0" presId="urn:microsoft.com/office/officeart/2005/8/layout/list1"/>
    <dgm:cxn modelId="{D47F37D3-A66A-442A-BC30-EBE8C6B5570D}" type="presParOf" srcId="{898B1DA1-FBC4-42A5-8F6D-0579A70D4EEE}" destId="{CCEAF8DE-7CD0-4BD8-891B-EF02B0BB3AE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C8587E-E15D-495D-A38E-ACA54581878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BE3A87-15B5-4B47-98EC-257BA9D70FF1}">
      <dgm:prSet/>
      <dgm:spPr/>
      <dgm:t>
        <a:bodyPr/>
        <a:lstStyle/>
        <a:p>
          <a:r>
            <a:rPr lang="en-US"/>
            <a:t>Creating the lagging crime variable</a:t>
          </a:r>
        </a:p>
      </dgm:t>
    </dgm:pt>
    <dgm:pt modelId="{0861FAE8-02C3-41D1-A70E-6103AA7DD7F2}" type="parTrans" cxnId="{71BACD22-98F2-404D-B560-2D71D4A3B531}">
      <dgm:prSet/>
      <dgm:spPr/>
      <dgm:t>
        <a:bodyPr/>
        <a:lstStyle/>
        <a:p>
          <a:endParaRPr lang="en-US"/>
        </a:p>
      </dgm:t>
    </dgm:pt>
    <dgm:pt modelId="{773D8C33-B987-4631-BAFD-9797A34A0C85}" type="sibTrans" cxnId="{71BACD22-98F2-404D-B560-2D71D4A3B531}">
      <dgm:prSet/>
      <dgm:spPr/>
      <dgm:t>
        <a:bodyPr/>
        <a:lstStyle/>
        <a:p>
          <a:endParaRPr lang="en-US"/>
        </a:p>
      </dgm:t>
    </dgm:pt>
    <dgm:pt modelId="{7BEE1F93-65D7-4505-91D2-FF74E85B03DE}">
      <dgm:prSet/>
      <dgm:spPr/>
      <dgm:t>
        <a:bodyPr/>
        <a:lstStyle/>
        <a:p>
          <a:r>
            <a:rPr lang="en-US"/>
            <a:t>About 10% of years are missing data</a:t>
          </a:r>
        </a:p>
      </dgm:t>
    </dgm:pt>
    <dgm:pt modelId="{08A2EBFF-C0F6-416B-B5FD-4AB22BE75A24}" type="parTrans" cxnId="{D006ABD4-5D8F-47BC-96CE-78B8DB43A784}">
      <dgm:prSet/>
      <dgm:spPr/>
      <dgm:t>
        <a:bodyPr/>
        <a:lstStyle/>
        <a:p>
          <a:endParaRPr lang="en-US"/>
        </a:p>
      </dgm:t>
    </dgm:pt>
    <dgm:pt modelId="{34730B38-CDEC-4770-940B-046BEA382631}" type="sibTrans" cxnId="{D006ABD4-5D8F-47BC-96CE-78B8DB43A784}">
      <dgm:prSet/>
      <dgm:spPr/>
      <dgm:t>
        <a:bodyPr/>
        <a:lstStyle/>
        <a:p>
          <a:endParaRPr lang="en-US"/>
        </a:p>
      </dgm:t>
    </dgm:pt>
    <dgm:pt modelId="{F11D26D0-7CB9-4869-943A-8056F23639B1}">
      <dgm:prSet/>
      <dgm:spPr/>
      <dgm:t>
        <a:bodyPr/>
        <a:lstStyle/>
        <a:p>
          <a:r>
            <a:rPr lang="en-US"/>
            <a:t>Would not be able to use all years</a:t>
          </a:r>
        </a:p>
      </dgm:t>
    </dgm:pt>
    <dgm:pt modelId="{22734A91-4B6F-4BCF-ABD1-9E4141AEB785}" type="parTrans" cxnId="{183C8BB2-8131-4246-8F05-F31124903264}">
      <dgm:prSet/>
      <dgm:spPr/>
      <dgm:t>
        <a:bodyPr/>
        <a:lstStyle/>
        <a:p>
          <a:endParaRPr lang="en-US"/>
        </a:p>
      </dgm:t>
    </dgm:pt>
    <dgm:pt modelId="{7E3BDED8-0599-4848-87BA-5EB71D3EABFC}" type="sibTrans" cxnId="{183C8BB2-8131-4246-8F05-F31124903264}">
      <dgm:prSet/>
      <dgm:spPr/>
      <dgm:t>
        <a:bodyPr/>
        <a:lstStyle/>
        <a:p>
          <a:endParaRPr lang="en-US"/>
        </a:p>
      </dgm:t>
    </dgm:pt>
    <dgm:pt modelId="{7326F1CB-A8F1-4F0F-8A8C-5015D1CCE6DD}">
      <dgm:prSet/>
      <dgm:spPr/>
      <dgm:t>
        <a:bodyPr/>
        <a:lstStyle/>
        <a:p>
          <a:r>
            <a:rPr lang="en-US"/>
            <a:t>Solution – create a 5-year average crime variable</a:t>
          </a:r>
        </a:p>
      </dgm:t>
    </dgm:pt>
    <dgm:pt modelId="{581FCF80-E2C2-465B-8DEE-C19B347F825B}" type="parTrans" cxnId="{AA09D706-2300-4B87-A2F7-B0C957A794E9}">
      <dgm:prSet/>
      <dgm:spPr/>
      <dgm:t>
        <a:bodyPr/>
        <a:lstStyle/>
        <a:p>
          <a:endParaRPr lang="en-US"/>
        </a:p>
      </dgm:t>
    </dgm:pt>
    <dgm:pt modelId="{44D62A12-7DC2-4DAD-A28F-24537D55001F}" type="sibTrans" cxnId="{AA09D706-2300-4B87-A2F7-B0C957A794E9}">
      <dgm:prSet/>
      <dgm:spPr/>
      <dgm:t>
        <a:bodyPr/>
        <a:lstStyle/>
        <a:p>
          <a:endParaRPr lang="en-US"/>
        </a:p>
      </dgm:t>
    </dgm:pt>
    <dgm:pt modelId="{8526DF79-A05E-411F-B1FE-C059B5468CEB}">
      <dgm:prSet/>
      <dgm:spPr/>
      <dgm:t>
        <a:bodyPr/>
        <a:lstStyle/>
        <a:p>
          <a:r>
            <a:rPr lang="en-US"/>
            <a:t>Used to capture range of years and prevent missing values</a:t>
          </a:r>
        </a:p>
      </dgm:t>
    </dgm:pt>
    <dgm:pt modelId="{827232C8-DE74-4534-936A-DC33273CAA3F}" type="parTrans" cxnId="{04E29D38-34ED-4F2E-A7AE-DFD0D271EB00}">
      <dgm:prSet/>
      <dgm:spPr/>
      <dgm:t>
        <a:bodyPr/>
        <a:lstStyle/>
        <a:p>
          <a:endParaRPr lang="en-US"/>
        </a:p>
      </dgm:t>
    </dgm:pt>
    <dgm:pt modelId="{DD35016A-0CE5-4D03-B9B0-E20456CAE2B6}" type="sibTrans" cxnId="{04E29D38-34ED-4F2E-A7AE-DFD0D271EB00}">
      <dgm:prSet/>
      <dgm:spPr/>
      <dgm:t>
        <a:bodyPr/>
        <a:lstStyle/>
        <a:p>
          <a:endParaRPr lang="en-US"/>
        </a:p>
      </dgm:t>
    </dgm:pt>
    <dgm:pt modelId="{B58AAA3E-9594-4607-8322-7BC350CB4D1F}">
      <dgm:prSet/>
      <dgm:spPr/>
      <dgm:t>
        <a:bodyPr/>
        <a:lstStyle/>
        <a:p>
          <a:r>
            <a:rPr lang="en-US"/>
            <a:t>Demographic data restrictions</a:t>
          </a:r>
        </a:p>
      </dgm:t>
    </dgm:pt>
    <dgm:pt modelId="{6721A482-6C8B-4F6F-9CA8-5A01918A8242}" type="parTrans" cxnId="{EA3DB0B0-5849-42D0-BE08-E1F5671F29EE}">
      <dgm:prSet/>
      <dgm:spPr/>
      <dgm:t>
        <a:bodyPr/>
        <a:lstStyle/>
        <a:p>
          <a:endParaRPr lang="en-US"/>
        </a:p>
      </dgm:t>
    </dgm:pt>
    <dgm:pt modelId="{FDAA2C12-968A-404B-8246-FD7C54AC6FF1}" type="sibTrans" cxnId="{EA3DB0B0-5849-42D0-BE08-E1F5671F29EE}">
      <dgm:prSet/>
      <dgm:spPr/>
      <dgm:t>
        <a:bodyPr/>
        <a:lstStyle/>
        <a:p>
          <a:endParaRPr lang="en-US"/>
        </a:p>
      </dgm:t>
    </dgm:pt>
    <dgm:pt modelId="{3C981CC0-13F2-442F-949A-DD04D0D6B69A}">
      <dgm:prSet/>
      <dgm:spPr/>
      <dgm:t>
        <a:bodyPr/>
        <a:lstStyle/>
        <a:p>
          <a:r>
            <a:rPr lang="en-US"/>
            <a:t>Only present from 2010 on</a:t>
          </a:r>
        </a:p>
      </dgm:t>
    </dgm:pt>
    <dgm:pt modelId="{937008F7-43DF-4BB5-9E59-88717F66A76B}" type="parTrans" cxnId="{4736B9BD-1812-4BE6-AC0B-110CFBE489B4}">
      <dgm:prSet/>
      <dgm:spPr/>
      <dgm:t>
        <a:bodyPr/>
        <a:lstStyle/>
        <a:p>
          <a:endParaRPr lang="en-US"/>
        </a:p>
      </dgm:t>
    </dgm:pt>
    <dgm:pt modelId="{35635D10-5CC4-4E79-900D-A452D121FD1B}" type="sibTrans" cxnId="{4736B9BD-1812-4BE6-AC0B-110CFBE489B4}">
      <dgm:prSet/>
      <dgm:spPr/>
      <dgm:t>
        <a:bodyPr/>
        <a:lstStyle/>
        <a:p>
          <a:endParaRPr lang="en-US"/>
        </a:p>
      </dgm:t>
    </dgm:pt>
    <dgm:pt modelId="{76535C56-2EEC-41E0-9928-73B932D6C570}">
      <dgm:prSet/>
      <dgm:spPr/>
      <dgm:t>
        <a:bodyPr/>
        <a:lstStyle/>
        <a:p>
          <a:r>
            <a:rPr lang="en-US"/>
            <a:t>Solution – a second model to focus on these effects</a:t>
          </a:r>
        </a:p>
      </dgm:t>
    </dgm:pt>
    <dgm:pt modelId="{6AA7E88B-228E-438D-AB35-95D65FBBF323}" type="parTrans" cxnId="{FE98DF04-25CF-49C8-A132-178329F4C09E}">
      <dgm:prSet/>
      <dgm:spPr/>
      <dgm:t>
        <a:bodyPr/>
        <a:lstStyle/>
        <a:p>
          <a:endParaRPr lang="en-US"/>
        </a:p>
      </dgm:t>
    </dgm:pt>
    <dgm:pt modelId="{F00624DF-93CC-440D-A4ED-3F2241C5833F}" type="sibTrans" cxnId="{FE98DF04-25CF-49C8-A132-178329F4C09E}">
      <dgm:prSet/>
      <dgm:spPr/>
      <dgm:t>
        <a:bodyPr/>
        <a:lstStyle/>
        <a:p>
          <a:endParaRPr lang="en-US"/>
        </a:p>
      </dgm:t>
    </dgm:pt>
    <dgm:pt modelId="{3AFA2B42-7793-406A-ADAA-09D053A512C2}" type="pres">
      <dgm:prSet presAssocID="{1AC8587E-E15D-495D-A38E-ACA545818786}" presName="linear" presStyleCnt="0">
        <dgm:presLayoutVars>
          <dgm:dir/>
          <dgm:animLvl val="lvl"/>
          <dgm:resizeHandles val="exact"/>
        </dgm:presLayoutVars>
      </dgm:prSet>
      <dgm:spPr/>
    </dgm:pt>
    <dgm:pt modelId="{16313C70-EAED-4BAF-A212-C38A7119EA2A}" type="pres">
      <dgm:prSet presAssocID="{E3BE3A87-15B5-4B47-98EC-257BA9D70FF1}" presName="parentLin" presStyleCnt="0"/>
      <dgm:spPr/>
    </dgm:pt>
    <dgm:pt modelId="{29F19F7F-3491-4209-8740-5DD54D0ACE82}" type="pres">
      <dgm:prSet presAssocID="{E3BE3A87-15B5-4B47-98EC-257BA9D70FF1}" presName="parentLeftMargin" presStyleLbl="node1" presStyleIdx="0" presStyleCnt="2"/>
      <dgm:spPr/>
    </dgm:pt>
    <dgm:pt modelId="{1A487C0B-9F79-4C11-BD39-20BDFB207A5F}" type="pres">
      <dgm:prSet presAssocID="{E3BE3A87-15B5-4B47-98EC-257BA9D70F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D3B226-2171-4DE9-811C-528F6162EC0B}" type="pres">
      <dgm:prSet presAssocID="{E3BE3A87-15B5-4B47-98EC-257BA9D70FF1}" presName="negativeSpace" presStyleCnt="0"/>
      <dgm:spPr/>
    </dgm:pt>
    <dgm:pt modelId="{A7467269-11A8-4466-916B-0A05E4773BE1}" type="pres">
      <dgm:prSet presAssocID="{E3BE3A87-15B5-4B47-98EC-257BA9D70FF1}" presName="childText" presStyleLbl="conFgAcc1" presStyleIdx="0" presStyleCnt="2">
        <dgm:presLayoutVars>
          <dgm:bulletEnabled val="1"/>
        </dgm:presLayoutVars>
      </dgm:prSet>
      <dgm:spPr/>
    </dgm:pt>
    <dgm:pt modelId="{8096BD50-E379-4E46-BD6D-9566DADAE531}" type="pres">
      <dgm:prSet presAssocID="{773D8C33-B987-4631-BAFD-9797A34A0C85}" presName="spaceBetweenRectangles" presStyleCnt="0"/>
      <dgm:spPr/>
    </dgm:pt>
    <dgm:pt modelId="{C1B662D0-A1C4-46D7-A97D-F87CFAB22EE6}" type="pres">
      <dgm:prSet presAssocID="{B58AAA3E-9594-4607-8322-7BC350CB4D1F}" presName="parentLin" presStyleCnt="0"/>
      <dgm:spPr/>
    </dgm:pt>
    <dgm:pt modelId="{C8E8DCB8-87E0-4E86-92B8-920D4C1188C2}" type="pres">
      <dgm:prSet presAssocID="{B58AAA3E-9594-4607-8322-7BC350CB4D1F}" presName="parentLeftMargin" presStyleLbl="node1" presStyleIdx="0" presStyleCnt="2"/>
      <dgm:spPr/>
    </dgm:pt>
    <dgm:pt modelId="{07A4D527-9D6B-469C-8DA6-D6E41357D938}" type="pres">
      <dgm:prSet presAssocID="{B58AAA3E-9594-4607-8322-7BC350CB4D1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E6D8F5-FFA9-48F6-90EF-DE49795351C4}" type="pres">
      <dgm:prSet presAssocID="{B58AAA3E-9594-4607-8322-7BC350CB4D1F}" presName="negativeSpace" presStyleCnt="0"/>
      <dgm:spPr/>
    </dgm:pt>
    <dgm:pt modelId="{34AD2C83-1CE3-4367-A6AA-B0BF947735FE}" type="pres">
      <dgm:prSet presAssocID="{B58AAA3E-9594-4607-8322-7BC350CB4D1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BC2AC02-2CF4-42B9-90E0-F4D32ED3816D}" type="presOf" srcId="{7BEE1F93-65D7-4505-91D2-FF74E85B03DE}" destId="{A7467269-11A8-4466-916B-0A05E4773BE1}" srcOrd="0" destOrd="0" presId="urn:microsoft.com/office/officeart/2005/8/layout/list1"/>
    <dgm:cxn modelId="{FE98DF04-25CF-49C8-A132-178329F4C09E}" srcId="{B58AAA3E-9594-4607-8322-7BC350CB4D1F}" destId="{76535C56-2EEC-41E0-9928-73B932D6C570}" srcOrd="1" destOrd="0" parTransId="{6AA7E88B-228E-438D-AB35-95D65FBBF323}" sibTransId="{F00624DF-93CC-440D-A4ED-3F2241C5833F}"/>
    <dgm:cxn modelId="{AA09D706-2300-4B87-A2F7-B0C957A794E9}" srcId="{E3BE3A87-15B5-4B47-98EC-257BA9D70FF1}" destId="{7326F1CB-A8F1-4F0F-8A8C-5015D1CCE6DD}" srcOrd="2" destOrd="0" parTransId="{581FCF80-E2C2-465B-8DEE-C19B347F825B}" sibTransId="{44D62A12-7DC2-4DAD-A28F-24537D55001F}"/>
    <dgm:cxn modelId="{13E9B80A-0E24-4D42-9F53-BD3A7EC10C4F}" type="presOf" srcId="{76535C56-2EEC-41E0-9928-73B932D6C570}" destId="{34AD2C83-1CE3-4367-A6AA-B0BF947735FE}" srcOrd="0" destOrd="1" presId="urn:microsoft.com/office/officeart/2005/8/layout/list1"/>
    <dgm:cxn modelId="{E8B01A11-5812-4AA5-9280-33883A0B72B4}" type="presOf" srcId="{E3BE3A87-15B5-4B47-98EC-257BA9D70FF1}" destId="{1A487C0B-9F79-4C11-BD39-20BDFB207A5F}" srcOrd="1" destOrd="0" presId="urn:microsoft.com/office/officeart/2005/8/layout/list1"/>
    <dgm:cxn modelId="{71BACD22-98F2-404D-B560-2D71D4A3B531}" srcId="{1AC8587E-E15D-495D-A38E-ACA545818786}" destId="{E3BE3A87-15B5-4B47-98EC-257BA9D70FF1}" srcOrd="0" destOrd="0" parTransId="{0861FAE8-02C3-41D1-A70E-6103AA7DD7F2}" sibTransId="{773D8C33-B987-4631-BAFD-9797A34A0C85}"/>
    <dgm:cxn modelId="{7FA23932-405D-4B53-BE3A-B84040E2CC9F}" type="presOf" srcId="{E3BE3A87-15B5-4B47-98EC-257BA9D70FF1}" destId="{29F19F7F-3491-4209-8740-5DD54D0ACE82}" srcOrd="0" destOrd="0" presId="urn:microsoft.com/office/officeart/2005/8/layout/list1"/>
    <dgm:cxn modelId="{04E29D38-34ED-4F2E-A7AE-DFD0D271EB00}" srcId="{7326F1CB-A8F1-4F0F-8A8C-5015D1CCE6DD}" destId="{8526DF79-A05E-411F-B1FE-C059B5468CEB}" srcOrd="0" destOrd="0" parTransId="{827232C8-DE74-4534-936A-DC33273CAA3F}" sibTransId="{DD35016A-0CE5-4D03-B9B0-E20456CAE2B6}"/>
    <dgm:cxn modelId="{E3F94340-AD10-4E71-98B5-FDA3BD9E4CA6}" type="presOf" srcId="{3C981CC0-13F2-442F-949A-DD04D0D6B69A}" destId="{34AD2C83-1CE3-4367-A6AA-B0BF947735FE}" srcOrd="0" destOrd="0" presId="urn:microsoft.com/office/officeart/2005/8/layout/list1"/>
    <dgm:cxn modelId="{13346A72-ACDC-485C-9059-BA936C1855A9}" type="presOf" srcId="{1AC8587E-E15D-495D-A38E-ACA545818786}" destId="{3AFA2B42-7793-406A-ADAA-09D053A512C2}" srcOrd="0" destOrd="0" presId="urn:microsoft.com/office/officeart/2005/8/layout/list1"/>
    <dgm:cxn modelId="{589D157C-BB48-497F-9C15-548F7C845E48}" type="presOf" srcId="{7326F1CB-A8F1-4F0F-8A8C-5015D1CCE6DD}" destId="{A7467269-11A8-4466-916B-0A05E4773BE1}" srcOrd="0" destOrd="2" presId="urn:microsoft.com/office/officeart/2005/8/layout/list1"/>
    <dgm:cxn modelId="{EA3DB0B0-5849-42D0-BE08-E1F5671F29EE}" srcId="{1AC8587E-E15D-495D-A38E-ACA545818786}" destId="{B58AAA3E-9594-4607-8322-7BC350CB4D1F}" srcOrd="1" destOrd="0" parTransId="{6721A482-6C8B-4F6F-9CA8-5A01918A8242}" sibTransId="{FDAA2C12-968A-404B-8246-FD7C54AC6FF1}"/>
    <dgm:cxn modelId="{183C8BB2-8131-4246-8F05-F31124903264}" srcId="{E3BE3A87-15B5-4B47-98EC-257BA9D70FF1}" destId="{F11D26D0-7CB9-4869-943A-8056F23639B1}" srcOrd="1" destOrd="0" parTransId="{22734A91-4B6F-4BCF-ABD1-9E4141AEB785}" sibTransId="{7E3BDED8-0599-4848-87BA-5EB71D3EABFC}"/>
    <dgm:cxn modelId="{4736B9BD-1812-4BE6-AC0B-110CFBE489B4}" srcId="{B58AAA3E-9594-4607-8322-7BC350CB4D1F}" destId="{3C981CC0-13F2-442F-949A-DD04D0D6B69A}" srcOrd="0" destOrd="0" parTransId="{937008F7-43DF-4BB5-9E59-88717F66A76B}" sibTransId="{35635D10-5CC4-4E79-900D-A452D121FD1B}"/>
    <dgm:cxn modelId="{D006ABD4-5D8F-47BC-96CE-78B8DB43A784}" srcId="{E3BE3A87-15B5-4B47-98EC-257BA9D70FF1}" destId="{7BEE1F93-65D7-4505-91D2-FF74E85B03DE}" srcOrd="0" destOrd="0" parTransId="{08A2EBFF-C0F6-416B-B5FD-4AB22BE75A24}" sibTransId="{34730B38-CDEC-4770-940B-046BEA382631}"/>
    <dgm:cxn modelId="{0373E8D7-6124-44F3-BAF9-64AE6D98EBD7}" type="presOf" srcId="{F11D26D0-7CB9-4869-943A-8056F23639B1}" destId="{A7467269-11A8-4466-916B-0A05E4773BE1}" srcOrd="0" destOrd="1" presId="urn:microsoft.com/office/officeart/2005/8/layout/list1"/>
    <dgm:cxn modelId="{6C7516EA-4C1C-43C5-9B6D-37D9AF65E58A}" type="presOf" srcId="{8526DF79-A05E-411F-B1FE-C059B5468CEB}" destId="{A7467269-11A8-4466-916B-0A05E4773BE1}" srcOrd="0" destOrd="3" presId="urn:microsoft.com/office/officeart/2005/8/layout/list1"/>
    <dgm:cxn modelId="{356505FA-C68A-418D-8F22-768B8B61F233}" type="presOf" srcId="{B58AAA3E-9594-4607-8322-7BC350CB4D1F}" destId="{C8E8DCB8-87E0-4E86-92B8-920D4C1188C2}" srcOrd="0" destOrd="0" presId="urn:microsoft.com/office/officeart/2005/8/layout/list1"/>
    <dgm:cxn modelId="{40E787FE-210E-4DE5-A019-4EF0AE742789}" type="presOf" srcId="{B58AAA3E-9594-4607-8322-7BC350CB4D1F}" destId="{07A4D527-9D6B-469C-8DA6-D6E41357D938}" srcOrd="1" destOrd="0" presId="urn:microsoft.com/office/officeart/2005/8/layout/list1"/>
    <dgm:cxn modelId="{C0BE2AAB-8766-4CEE-A480-E277726BFFDB}" type="presParOf" srcId="{3AFA2B42-7793-406A-ADAA-09D053A512C2}" destId="{16313C70-EAED-4BAF-A212-C38A7119EA2A}" srcOrd="0" destOrd="0" presId="urn:microsoft.com/office/officeart/2005/8/layout/list1"/>
    <dgm:cxn modelId="{129F7D42-637A-477B-9A3B-0C9363FE6488}" type="presParOf" srcId="{16313C70-EAED-4BAF-A212-C38A7119EA2A}" destId="{29F19F7F-3491-4209-8740-5DD54D0ACE82}" srcOrd="0" destOrd="0" presId="urn:microsoft.com/office/officeart/2005/8/layout/list1"/>
    <dgm:cxn modelId="{98F68B6A-A485-40A6-B51C-220C88AD1987}" type="presParOf" srcId="{16313C70-EAED-4BAF-A212-C38A7119EA2A}" destId="{1A487C0B-9F79-4C11-BD39-20BDFB207A5F}" srcOrd="1" destOrd="0" presId="urn:microsoft.com/office/officeart/2005/8/layout/list1"/>
    <dgm:cxn modelId="{E2B29EC4-8B1E-4BBF-97CC-5F4780436994}" type="presParOf" srcId="{3AFA2B42-7793-406A-ADAA-09D053A512C2}" destId="{9FD3B226-2171-4DE9-811C-528F6162EC0B}" srcOrd="1" destOrd="0" presId="urn:microsoft.com/office/officeart/2005/8/layout/list1"/>
    <dgm:cxn modelId="{C137A2F3-DD8C-4322-9774-4B17B392CC09}" type="presParOf" srcId="{3AFA2B42-7793-406A-ADAA-09D053A512C2}" destId="{A7467269-11A8-4466-916B-0A05E4773BE1}" srcOrd="2" destOrd="0" presId="urn:microsoft.com/office/officeart/2005/8/layout/list1"/>
    <dgm:cxn modelId="{20B2EF73-F674-4C8D-A107-12E8AE91187D}" type="presParOf" srcId="{3AFA2B42-7793-406A-ADAA-09D053A512C2}" destId="{8096BD50-E379-4E46-BD6D-9566DADAE531}" srcOrd="3" destOrd="0" presId="urn:microsoft.com/office/officeart/2005/8/layout/list1"/>
    <dgm:cxn modelId="{2BA02576-994E-47BE-BD6B-7A43E5A543E8}" type="presParOf" srcId="{3AFA2B42-7793-406A-ADAA-09D053A512C2}" destId="{C1B662D0-A1C4-46D7-A97D-F87CFAB22EE6}" srcOrd="4" destOrd="0" presId="urn:microsoft.com/office/officeart/2005/8/layout/list1"/>
    <dgm:cxn modelId="{D1D59C56-A1D4-4638-8993-AA9950AB681F}" type="presParOf" srcId="{C1B662D0-A1C4-46D7-A97D-F87CFAB22EE6}" destId="{C8E8DCB8-87E0-4E86-92B8-920D4C1188C2}" srcOrd="0" destOrd="0" presId="urn:microsoft.com/office/officeart/2005/8/layout/list1"/>
    <dgm:cxn modelId="{DF200353-9FD2-4249-B554-EE29CABAACC6}" type="presParOf" srcId="{C1B662D0-A1C4-46D7-A97D-F87CFAB22EE6}" destId="{07A4D527-9D6B-469C-8DA6-D6E41357D938}" srcOrd="1" destOrd="0" presId="urn:microsoft.com/office/officeart/2005/8/layout/list1"/>
    <dgm:cxn modelId="{0ECC68D4-3C8E-4C7F-AC53-B0ED2196EFA9}" type="presParOf" srcId="{3AFA2B42-7793-406A-ADAA-09D053A512C2}" destId="{02E6D8F5-FFA9-48F6-90EF-DE49795351C4}" srcOrd="5" destOrd="0" presId="urn:microsoft.com/office/officeart/2005/8/layout/list1"/>
    <dgm:cxn modelId="{0C8E6EB8-8FB6-4F6E-9C72-C28FD38D10CE}" type="presParOf" srcId="{3AFA2B42-7793-406A-ADAA-09D053A512C2}" destId="{34AD2C83-1CE3-4367-A6AA-B0BF947735F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44BD28-9A1C-404D-85C0-215688AA4D1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F17220-E607-4850-9517-45AB4A1D8A5A}">
      <dgm:prSet/>
      <dgm:spPr/>
      <dgm:t>
        <a:bodyPr/>
        <a:lstStyle/>
        <a:p>
          <a:r>
            <a:rPr lang="en-US" i="1"/>
            <a:t>Casey </a:t>
          </a:r>
          <a:r>
            <a:rPr lang="en-US"/>
            <a:t>vs </a:t>
          </a:r>
          <a:r>
            <a:rPr lang="en-US" i="1"/>
            <a:t>Roe</a:t>
          </a:r>
          <a:endParaRPr lang="en-US"/>
        </a:p>
      </dgm:t>
    </dgm:pt>
    <dgm:pt modelId="{7A0AB676-641A-4F13-A94B-6611FAF6CAB9}" type="parTrans" cxnId="{FE5F9056-4FB7-468C-8A8A-5ABFF2E5174F}">
      <dgm:prSet/>
      <dgm:spPr/>
      <dgm:t>
        <a:bodyPr/>
        <a:lstStyle/>
        <a:p>
          <a:endParaRPr lang="en-US"/>
        </a:p>
      </dgm:t>
    </dgm:pt>
    <dgm:pt modelId="{B63D8A60-77B9-473E-A427-09D8DCF085BF}" type="sibTrans" cxnId="{FE5F9056-4FB7-468C-8A8A-5ABFF2E5174F}">
      <dgm:prSet/>
      <dgm:spPr/>
      <dgm:t>
        <a:bodyPr/>
        <a:lstStyle/>
        <a:p>
          <a:endParaRPr lang="en-US"/>
        </a:p>
      </dgm:t>
    </dgm:pt>
    <dgm:pt modelId="{8CC3E8B2-22DF-47B2-8790-85989CA3855F}">
      <dgm:prSet/>
      <dgm:spPr/>
      <dgm:t>
        <a:bodyPr/>
        <a:lstStyle/>
        <a:p>
          <a:r>
            <a:rPr lang="en-US" i="1"/>
            <a:t>Casey </a:t>
          </a:r>
          <a:r>
            <a:rPr lang="en-US"/>
            <a:t>created less impact on access than </a:t>
          </a:r>
          <a:r>
            <a:rPr lang="en-US" i="1"/>
            <a:t>Roe </a:t>
          </a:r>
          <a:r>
            <a:rPr lang="en-US"/>
            <a:t>did</a:t>
          </a:r>
        </a:p>
      </dgm:t>
    </dgm:pt>
    <dgm:pt modelId="{48AD96E5-A6A2-4815-9A7A-1E034169E072}" type="parTrans" cxnId="{A462500B-BECB-4668-981B-56A6DB47A187}">
      <dgm:prSet/>
      <dgm:spPr/>
      <dgm:t>
        <a:bodyPr/>
        <a:lstStyle/>
        <a:p>
          <a:endParaRPr lang="en-US"/>
        </a:p>
      </dgm:t>
    </dgm:pt>
    <dgm:pt modelId="{BB894484-F470-401E-AEDA-C3FF8574C9CC}" type="sibTrans" cxnId="{A462500B-BECB-4668-981B-56A6DB47A187}">
      <dgm:prSet/>
      <dgm:spPr/>
      <dgm:t>
        <a:bodyPr/>
        <a:lstStyle/>
        <a:p>
          <a:endParaRPr lang="en-US"/>
        </a:p>
      </dgm:t>
    </dgm:pt>
    <dgm:pt modelId="{EC5E9023-9A57-4066-B78E-447687487A1B}">
      <dgm:prSet/>
      <dgm:spPr/>
      <dgm:t>
        <a:bodyPr/>
        <a:lstStyle/>
        <a:p>
          <a:r>
            <a:rPr lang="en-US"/>
            <a:t>As such, the effects on rates and violent crime are expected to be smaller</a:t>
          </a:r>
        </a:p>
      </dgm:t>
    </dgm:pt>
    <dgm:pt modelId="{6C7B643B-892A-4951-AD3A-76B95DEF2A20}" type="parTrans" cxnId="{B7DAC2EA-55B4-4935-8B7D-47A1583043A2}">
      <dgm:prSet/>
      <dgm:spPr/>
      <dgm:t>
        <a:bodyPr/>
        <a:lstStyle/>
        <a:p>
          <a:endParaRPr lang="en-US"/>
        </a:p>
      </dgm:t>
    </dgm:pt>
    <dgm:pt modelId="{2CDB803C-B1B4-435D-91CF-CEF319492EF9}" type="sibTrans" cxnId="{B7DAC2EA-55B4-4935-8B7D-47A1583043A2}">
      <dgm:prSet/>
      <dgm:spPr/>
      <dgm:t>
        <a:bodyPr/>
        <a:lstStyle/>
        <a:p>
          <a:endParaRPr lang="en-US"/>
        </a:p>
      </dgm:t>
    </dgm:pt>
    <dgm:pt modelId="{0C543C76-70CB-4CAF-9172-2740D9E240D2}">
      <dgm:prSet/>
      <dgm:spPr/>
      <dgm:t>
        <a:bodyPr/>
        <a:lstStyle/>
        <a:p>
          <a:r>
            <a:rPr lang="en-US"/>
            <a:t>Does not explain why the coefficient is positive</a:t>
          </a:r>
        </a:p>
      </dgm:t>
    </dgm:pt>
    <dgm:pt modelId="{36328906-F64C-41D7-BE11-5DAF9F44101A}" type="parTrans" cxnId="{8FBCB92A-3AD7-45CF-8FB9-F08445A2B238}">
      <dgm:prSet/>
      <dgm:spPr/>
      <dgm:t>
        <a:bodyPr/>
        <a:lstStyle/>
        <a:p>
          <a:endParaRPr lang="en-US"/>
        </a:p>
      </dgm:t>
    </dgm:pt>
    <dgm:pt modelId="{50CDF974-BF34-41A4-807A-E966624DDBA6}" type="sibTrans" cxnId="{8FBCB92A-3AD7-45CF-8FB9-F08445A2B238}">
      <dgm:prSet/>
      <dgm:spPr/>
      <dgm:t>
        <a:bodyPr/>
        <a:lstStyle/>
        <a:p>
          <a:endParaRPr lang="en-US"/>
        </a:p>
      </dgm:t>
    </dgm:pt>
    <dgm:pt modelId="{03AD615E-D408-4B54-826E-E92CEF86F0FC}">
      <dgm:prSet/>
      <dgm:spPr/>
      <dgm:t>
        <a:bodyPr/>
        <a:lstStyle/>
        <a:p>
          <a:r>
            <a:rPr lang="en-US" dirty="0"/>
            <a:t>Rise of Contraceptives</a:t>
          </a:r>
        </a:p>
      </dgm:t>
    </dgm:pt>
    <dgm:pt modelId="{2F154520-77A2-479C-9AFF-5A47B0FB6378}" type="parTrans" cxnId="{C98281BC-67BA-437A-A9A8-189BA5E4480E}">
      <dgm:prSet/>
      <dgm:spPr/>
      <dgm:t>
        <a:bodyPr/>
        <a:lstStyle/>
        <a:p>
          <a:endParaRPr lang="en-US"/>
        </a:p>
      </dgm:t>
    </dgm:pt>
    <dgm:pt modelId="{44198FD7-19B6-4957-B27D-97357134BA46}" type="sibTrans" cxnId="{C98281BC-67BA-437A-A9A8-189BA5E4480E}">
      <dgm:prSet/>
      <dgm:spPr/>
      <dgm:t>
        <a:bodyPr/>
        <a:lstStyle/>
        <a:p>
          <a:endParaRPr lang="en-US"/>
        </a:p>
      </dgm:t>
    </dgm:pt>
    <dgm:pt modelId="{3DA1969F-FC88-45D1-BBB1-4C09D1C904FD}">
      <dgm:prSet/>
      <dgm:spPr/>
      <dgm:t>
        <a:bodyPr/>
        <a:lstStyle/>
        <a:p>
          <a:r>
            <a:rPr lang="en-US" dirty="0"/>
            <a:t>Abortion rates fell across the US regardless of policy changes</a:t>
          </a:r>
        </a:p>
      </dgm:t>
    </dgm:pt>
    <dgm:pt modelId="{8519E481-6CF1-46A9-B144-E9B361EAD55F}" type="parTrans" cxnId="{CDB28BB8-6373-4273-A18D-5D3F45B3BEFD}">
      <dgm:prSet/>
      <dgm:spPr/>
      <dgm:t>
        <a:bodyPr/>
        <a:lstStyle/>
        <a:p>
          <a:endParaRPr lang="en-US"/>
        </a:p>
      </dgm:t>
    </dgm:pt>
    <dgm:pt modelId="{9C741EFC-96AA-4694-B8D9-A88A4695EB3C}" type="sibTrans" cxnId="{CDB28BB8-6373-4273-A18D-5D3F45B3BEFD}">
      <dgm:prSet/>
      <dgm:spPr/>
      <dgm:t>
        <a:bodyPr/>
        <a:lstStyle/>
        <a:p>
          <a:endParaRPr lang="en-US"/>
        </a:p>
      </dgm:t>
    </dgm:pt>
    <dgm:pt modelId="{A2E1DF23-9D06-47CF-B469-AA9B73C1D216}">
      <dgm:prSet/>
      <dgm:spPr/>
      <dgm:t>
        <a:bodyPr/>
        <a:lstStyle/>
        <a:p>
          <a:r>
            <a:rPr lang="en-US" dirty="0"/>
            <a:t>Increased contraceptive access concentrated abortion to lower income individuals</a:t>
          </a:r>
        </a:p>
      </dgm:t>
    </dgm:pt>
    <dgm:pt modelId="{EE142220-B4D9-48E5-9560-E2984821B47A}" type="parTrans" cxnId="{EB3921DD-2214-4B37-91EA-1EF133DD1F72}">
      <dgm:prSet/>
      <dgm:spPr/>
      <dgm:t>
        <a:bodyPr/>
        <a:lstStyle/>
        <a:p>
          <a:endParaRPr lang="en-US"/>
        </a:p>
      </dgm:t>
    </dgm:pt>
    <dgm:pt modelId="{E2E90BF3-9EED-45C9-9FE2-41295B371612}" type="sibTrans" cxnId="{EB3921DD-2214-4B37-91EA-1EF133DD1F72}">
      <dgm:prSet/>
      <dgm:spPr/>
      <dgm:t>
        <a:bodyPr/>
        <a:lstStyle/>
        <a:p>
          <a:endParaRPr lang="en-US"/>
        </a:p>
      </dgm:t>
    </dgm:pt>
    <dgm:pt modelId="{62B1C6C6-A77A-49F9-9DB7-C2B47097418E}">
      <dgm:prSet/>
      <dgm:spPr/>
      <dgm:t>
        <a:bodyPr/>
        <a:lstStyle/>
        <a:p>
          <a:r>
            <a:rPr lang="en-US" dirty="0"/>
            <a:t>Abortion may now be a stronger proxy for socioeconomic status</a:t>
          </a:r>
        </a:p>
      </dgm:t>
    </dgm:pt>
    <dgm:pt modelId="{03480BB9-A412-402E-97BB-7E3418D1113B}" type="parTrans" cxnId="{9FF64631-22BB-4BF1-B4B6-836C928EDC84}">
      <dgm:prSet/>
      <dgm:spPr/>
      <dgm:t>
        <a:bodyPr/>
        <a:lstStyle/>
        <a:p>
          <a:endParaRPr lang="en-US"/>
        </a:p>
      </dgm:t>
    </dgm:pt>
    <dgm:pt modelId="{D8D0B797-0B6F-417C-B22F-434ED211B472}" type="sibTrans" cxnId="{9FF64631-22BB-4BF1-B4B6-836C928EDC84}">
      <dgm:prSet/>
      <dgm:spPr/>
      <dgm:t>
        <a:bodyPr/>
        <a:lstStyle/>
        <a:p>
          <a:endParaRPr lang="en-US"/>
        </a:p>
      </dgm:t>
    </dgm:pt>
    <dgm:pt modelId="{BE26D609-393E-4BC1-B64B-6E97AA6EC672}">
      <dgm:prSet/>
      <dgm:spPr/>
      <dgm:t>
        <a:bodyPr/>
        <a:lstStyle/>
        <a:p>
          <a:r>
            <a:rPr lang="en-US" dirty="0"/>
            <a:t>If true, abortion rate correlates more strongly with violent crime rates </a:t>
          </a:r>
        </a:p>
      </dgm:t>
    </dgm:pt>
    <dgm:pt modelId="{29D45AA7-745B-4C6C-97B3-D322DF48FFF2}" type="parTrans" cxnId="{ECF5628B-EACB-440B-AB71-ADA36B018515}">
      <dgm:prSet/>
      <dgm:spPr/>
      <dgm:t>
        <a:bodyPr/>
        <a:lstStyle/>
        <a:p>
          <a:endParaRPr lang="en-US"/>
        </a:p>
      </dgm:t>
    </dgm:pt>
    <dgm:pt modelId="{DCABFF73-D397-4A35-AF2D-D2EEDC767ED5}" type="sibTrans" cxnId="{ECF5628B-EACB-440B-AB71-ADA36B018515}">
      <dgm:prSet/>
      <dgm:spPr/>
      <dgm:t>
        <a:bodyPr/>
        <a:lstStyle/>
        <a:p>
          <a:endParaRPr lang="en-US"/>
        </a:p>
      </dgm:t>
    </dgm:pt>
    <dgm:pt modelId="{A0A0B67C-7E27-4846-89C0-06D754C9E719}" type="pres">
      <dgm:prSet presAssocID="{1944BD28-9A1C-404D-85C0-215688AA4D15}" presName="linear" presStyleCnt="0">
        <dgm:presLayoutVars>
          <dgm:dir/>
          <dgm:animLvl val="lvl"/>
          <dgm:resizeHandles val="exact"/>
        </dgm:presLayoutVars>
      </dgm:prSet>
      <dgm:spPr/>
    </dgm:pt>
    <dgm:pt modelId="{2E6CE498-306D-4A45-84DD-508126B5D609}" type="pres">
      <dgm:prSet presAssocID="{08F17220-E607-4850-9517-45AB4A1D8A5A}" presName="parentLin" presStyleCnt="0"/>
      <dgm:spPr/>
    </dgm:pt>
    <dgm:pt modelId="{3B24EA85-570E-4B5A-B66B-C41A37A4661D}" type="pres">
      <dgm:prSet presAssocID="{08F17220-E607-4850-9517-45AB4A1D8A5A}" presName="parentLeftMargin" presStyleLbl="node1" presStyleIdx="0" presStyleCnt="2"/>
      <dgm:spPr/>
    </dgm:pt>
    <dgm:pt modelId="{4892EF98-82A8-469A-AADF-8840486FD1C1}" type="pres">
      <dgm:prSet presAssocID="{08F17220-E607-4850-9517-45AB4A1D8A5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57AD1D5-9DF5-4489-9F80-B61139553F92}" type="pres">
      <dgm:prSet presAssocID="{08F17220-E607-4850-9517-45AB4A1D8A5A}" presName="negativeSpace" presStyleCnt="0"/>
      <dgm:spPr/>
    </dgm:pt>
    <dgm:pt modelId="{263C2CFB-838F-4E7C-A74A-E9F5CBD10DD9}" type="pres">
      <dgm:prSet presAssocID="{08F17220-E607-4850-9517-45AB4A1D8A5A}" presName="childText" presStyleLbl="conFgAcc1" presStyleIdx="0" presStyleCnt="2">
        <dgm:presLayoutVars>
          <dgm:bulletEnabled val="1"/>
        </dgm:presLayoutVars>
      </dgm:prSet>
      <dgm:spPr/>
    </dgm:pt>
    <dgm:pt modelId="{00E70CD0-3A69-4646-9635-E9DC20A2A0DF}" type="pres">
      <dgm:prSet presAssocID="{B63D8A60-77B9-473E-A427-09D8DCF085BF}" presName="spaceBetweenRectangles" presStyleCnt="0"/>
      <dgm:spPr/>
    </dgm:pt>
    <dgm:pt modelId="{BFA425F2-BBF9-4E92-B2F2-45AFCB377A87}" type="pres">
      <dgm:prSet presAssocID="{03AD615E-D408-4B54-826E-E92CEF86F0FC}" presName="parentLin" presStyleCnt="0"/>
      <dgm:spPr/>
    </dgm:pt>
    <dgm:pt modelId="{40AE4DBF-4561-4465-862F-30EC65C96FF3}" type="pres">
      <dgm:prSet presAssocID="{03AD615E-D408-4B54-826E-E92CEF86F0FC}" presName="parentLeftMargin" presStyleLbl="node1" presStyleIdx="0" presStyleCnt="2"/>
      <dgm:spPr/>
    </dgm:pt>
    <dgm:pt modelId="{A24EBDA6-A35A-4FC1-BAE6-D75AAF6DE2F5}" type="pres">
      <dgm:prSet presAssocID="{03AD615E-D408-4B54-826E-E92CEF86F0F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5C8C51F-C915-43E4-BBB0-4038D8A4EAE2}" type="pres">
      <dgm:prSet presAssocID="{03AD615E-D408-4B54-826E-E92CEF86F0FC}" presName="negativeSpace" presStyleCnt="0"/>
      <dgm:spPr/>
    </dgm:pt>
    <dgm:pt modelId="{C688267E-5E7C-4A9C-9BA6-31332699AA1C}" type="pres">
      <dgm:prSet presAssocID="{03AD615E-D408-4B54-826E-E92CEF86F0F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462500B-BECB-4668-981B-56A6DB47A187}" srcId="{08F17220-E607-4850-9517-45AB4A1D8A5A}" destId="{8CC3E8B2-22DF-47B2-8790-85989CA3855F}" srcOrd="0" destOrd="0" parTransId="{48AD96E5-A6A2-4815-9A7A-1E034169E072}" sibTransId="{BB894484-F470-401E-AEDA-C3FF8574C9CC}"/>
    <dgm:cxn modelId="{58D34D1E-A1B1-4804-87E0-96D4F62C814D}" type="presOf" srcId="{3DA1969F-FC88-45D1-BBB1-4C09D1C904FD}" destId="{C688267E-5E7C-4A9C-9BA6-31332699AA1C}" srcOrd="0" destOrd="0" presId="urn:microsoft.com/office/officeart/2005/8/layout/list1"/>
    <dgm:cxn modelId="{D6D67120-5FC0-44B4-A054-F2343E7DC590}" type="presOf" srcId="{8CC3E8B2-22DF-47B2-8790-85989CA3855F}" destId="{263C2CFB-838F-4E7C-A74A-E9F5CBD10DD9}" srcOrd="0" destOrd="0" presId="urn:microsoft.com/office/officeart/2005/8/layout/list1"/>
    <dgm:cxn modelId="{6DD0D925-B2FA-4C0A-9E78-C5FB73F77294}" type="presOf" srcId="{A2E1DF23-9D06-47CF-B469-AA9B73C1D216}" destId="{C688267E-5E7C-4A9C-9BA6-31332699AA1C}" srcOrd="0" destOrd="1" presId="urn:microsoft.com/office/officeart/2005/8/layout/list1"/>
    <dgm:cxn modelId="{8FBCB92A-3AD7-45CF-8FB9-F08445A2B238}" srcId="{08F17220-E607-4850-9517-45AB4A1D8A5A}" destId="{0C543C76-70CB-4CAF-9172-2740D9E240D2}" srcOrd="2" destOrd="0" parTransId="{36328906-F64C-41D7-BE11-5DAF9F44101A}" sibTransId="{50CDF974-BF34-41A4-807A-E966624DDBA6}"/>
    <dgm:cxn modelId="{9FF64631-22BB-4BF1-B4B6-836C928EDC84}" srcId="{03AD615E-D408-4B54-826E-E92CEF86F0FC}" destId="{62B1C6C6-A77A-49F9-9DB7-C2B47097418E}" srcOrd="2" destOrd="0" parTransId="{03480BB9-A412-402E-97BB-7E3418D1113B}" sibTransId="{D8D0B797-0B6F-417C-B22F-434ED211B472}"/>
    <dgm:cxn modelId="{E9DAA43C-0DBB-43A2-8E1B-9600759D829F}" type="presOf" srcId="{08F17220-E607-4850-9517-45AB4A1D8A5A}" destId="{3B24EA85-570E-4B5A-B66B-C41A37A4661D}" srcOrd="0" destOrd="0" presId="urn:microsoft.com/office/officeart/2005/8/layout/list1"/>
    <dgm:cxn modelId="{80315D47-8904-47AB-8BE7-0A5BCC74525D}" type="presOf" srcId="{0C543C76-70CB-4CAF-9172-2740D9E240D2}" destId="{263C2CFB-838F-4E7C-A74A-E9F5CBD10DD9}" srcOrd="0" destOrd="2" presId="urn:microsoft.com/office/officeart/2005/8/layout/list1"/>
    <dgm:cxn modelId="{FE5F9056-4FB7-468C-8A8A-5ABFF2E5174F}" srcId="{1944BD28-9A1C-404D-85C0-215688AA4D15}" destId="{08F17220-E607-4850-9517-45AB4A1D8A5A}" srcOrd="0" destOrd="0" parTransId="{7A0AB676-641A-4F13-A94B-6611FAF6CAB9}" sibTransId="{B63D8A60-77B9-473E-A427-09D8DCF085BF}"/>
    <dgm:cxn modelId="{ECF5628B-EACB-440B-AB71-ADA36B018515}" srcId="{03AD615E-D408-4B54-826E-E92CEF86F0FC}" destId="{BE26D609-393E-4BC1-B64B-6E97AA6EC672}" srcOrd="3" destOrd="0" parTransId="{29D45AA7-745B-4C6C-97B3-D322DF48FFF2}" sibTransId="{DCABFF73-D397-4A35-AF2D-D2EEDC767ED5}"/>
    <dgm:cxn modelId="{354C78B2-3532-4728-BCB1-C6462C9D5544}" type="presOf" srcId="{08F17220-E607-4850-9517-45AB4A1D8A5A}" destId="{4892EF98-82A8-469A-AADF-8840486FD1C1}" srcOrd="1" destOrd="0" presId="urn:microsoft.com/office/officeart/2005/8/layout/list1"/>
    <dgm:cxn modelId="{CDB28BB8-6373-4273-A18D-5D3F45B3BEFD}" srcId="{03AD615E-D408-4B54-826E-E92CEF86F0FC}" destId="{3DA1969F-FC88-45D1-BBB1-4C09D1C904FD}" srcOrd="0" destOrd="0" parTransId="{8519E481-6CF1-46A9-B144-E9B361EAD55F}" sibTransId="{9C741EFC-96AA-4694-B8D9-A88A4695EB3C}"/>
    <dgm:cxn modelId="{C98281BC-67BA-437A-A9A8-189BA5E4480E}" srcId="{1944BD28-9A1C-404D-85C0-215688AA4D15}" destId="{03AD615E-D408-4B54-826E-E92CEF86F0FC}" srcOrd="1" destOrd="0" parTransId="{2F154520-77A2-479C-9AFF-5A47B0FB6378}" sibTransId="{44198FD7-19B6-4957-B27D-97357134BA46}"/>
    <dgm:cxn modelId="{257D23BD-4CE8-4566-A6A4-E189A6EC4FE4}" type="presOf" srcId="{EC5E9023-9A57-4066-B78E-447687487A1B}" destId="{263C2CFB-838F-4E7C-A74A-E9F5CBD10DD9}" srcOrd="0" destOrd="1" presId="urn:microsoft.com/office/officeart/2005/8/layout/list1"/>
    <dgm:cxn modelId="{8AF1CAD1-CF71-46C2-BF6A-933767557D5C}" type="presOf" srcId="{BE26D609-393E-4BC1-B64B-6E97AA6EC672}" destId="{C688267E-5E7C-4A9C-9BA6-31332699AA1C}" srcOrd="0" destOrd="3" presId="urn:microsoft.com/office/officeart/2005/8/layout/list1"/>
    <dgm:cxn modelId="{270B69D4-6F82-4CE8-9648-35077AC64B3A}" type="presOf" srcId="{03AD615E-D408-4B54-826E-E92CEF86F0FC}" destId="{40AE4DBF-4561-4465-862F-30EC65C96FF3}" srcOrd="0" destOrd="0" presId="urn:microsoft.com/office/officeart/2005/8/layout/list1"/>
    <dgm:cxn modelId="{E0462DD9-800D-416E-9002-F419AB23F924}" type="presOf" srcId="{62B1C6C6-A77A-49F9-9DB7-C2B47097418E}" destId="{C688267E-5E7C-4A9C-9BA6-31332699AA1C}" srcOrd="0" destOrd="2" presId="urn:microsoft.com/office/officeart/2005/8/layout/list1"/>
    <dgm:cxn modelId="{BEFE27DB-9043-4C1A-98D9-AB33A2106B6D}" type="presOf" srcId="{1944BD28-9A1C-404D-85C0-215688AA4D15}" destId="{A0A0B67C-7E27-4846-89C0-06D754C9E719}" srcOrd="0" destOrd="0" presId="urn:microsoft.com/office/officeart/2005/8/layout/list1"/>
    <dgm:cxn modelId="{EB3921DD-2214-4B37-91EA-1EF133DD1F72}" srcId="{03AD615E-D408-4B54-826E-E92CEF86F0FC}" destId="{A2E1DF23-9D06-47CF-B469-AA9B73C1D216}" srcOrd="1" destOrd="0" parTransId="{EE142220-B4D9-48E5-9560-E2984821B47A}" sibTransId="{E2E90BF3-9EED-45C9-9FE2-41295B371612}"/>
    <dgm:cxn modelId="{B7DAC2EA-55B4-4935-8B7D-47A1583043A2}" srcId="{08F17220-E607-4850-9517-45AB4A1D8A5A}" destId="{EC5E9023-9A57-4066-B78E-447687487A1B}" srcOrd="1" destOrd="0" parTransId="{6C7B643B-892A-4951-AD3A-76B95DEF2A20}" sibTransId="{2CDB803C-B1B4-435D-91CF-CEF319492EF9}"/>
    <dgm:cxn modelId="{E9627FF5-8677-4D88-BA7E-935CA075ABE4}" type="presOf" srcId="{03AD615E-D408-4B54-826E-E92CEF86F0FC}" destId="{A24EBDA6-A35A-4FC1-BAE6-D75AAF6DE2F5}" srcOrd="1" destOrd="0" presId="urn:microsoft.com/office/officeart/2005/8/layout/list1"/>
    <dgm:cxn modelId="{2AF9F3A4-EB3E-4BBB-BBFB-14ED4CB197FD}" type="presParOf" srcId="{A0A0B67C-7E27-4846-89C0-06D754C9E719}" destId="{2E6CE498-306D-4A45-84DD-508126B5D609}" srcOrd="0" destOrd="0" presId="urn:microsoft.com/office/officeart/2005/8/layout/list1"/>
    <dgm:cxn modelId="{83CA8E31-4881-4355-97F4-5E7255CD1591}" type="presParOf" srcId="{2E6CE498-306D-4A45-84DD-508126B5D609}" destId="{3B24EA85-570E-4B5A-B66B-C41A37A4661D}" srcOrd="0" destOrd="0" presId="urn:microsoft.com/office/officeart/2005/8/layout/list1"/>
    <dgm:cxn modelId="{2657D461-463F-4515-AA01-8B374F89C499}" type="presParOf" srcId="{2E6CE498-306D-4A45-84DD-508126B5D609}" destId="{4892EF98-82A8-469A-AADF-8840486FD1C1}" srcOrd="1" destOrd="0" presId="urn:microsoft.com/office/officeart/2005/8/layout/list1"/>
    <dgm:cxn modelId="{68B94241-270B-4950-A8F9-805B705F7553}" type="presParOf" srcId="{A0A0B67C-7E27-4846-89C0-06D754C9E719}" destId="{857AD1D5-9DF5-4489-9F80-B61139553F92}" srcOrd="1" destOrd="0" presId="urn:microsoft.com/office/officeart/2005/8/layout/list1"/>
    <dgm:cxn modelId="{7B1D8D46-149D-4546-A1BD-A6E726849E94}" type="presParOf" srcId="{A0A0B67C-7E27-4846-89C0-06D754C9E719}" destId="{263C2CFB-838F-4E7C-A74A-E9F5CBD10DD9}" srcOrd="2" destOrd="0" presId="urn:microsoft.com/office/officeart/2005/8/layout/list1"/>
    <dgm:cxn modelId="{EC30F033-ED07-42D0-93AE-7B58B6855AE7}" type="presParOf" srcId="{A0A0B67C-7E27-4846-89C0-06D754C9E719}" destId="{00E70CD0-3A69-4646-9635-E9DC20A2A0DF}" srcOrd="3" destOrd="0" presId="urn:microsoft.com/office/officeart/2005/8/layout/list1"/>
    <dgm:cxn modelId="{D7FC3D57-98C4-450B-8B1F-8343B525E501}" type="presParOf" srcId="{A0A0B67C-7E27-4846-89C0-06D754C9E719}" destId="{BFA425F2-BBF9-4E92-B2F2-45AFCB377A87}" srcOrd="4" destOrd="0" presId="urn:microsoft.com/office/officeart/2005/8/layout/list1"/>
    <dgm:cxn modelId="{A29C6353-CED0-4170-9166-6CACF374CB1A}" type="presParOf" srcId="{BFA425F2-BBF9-4E92-B2F2-45AFCB377A87}" destId="{40AE4DBF-4561-4465-862F-30EC65C96FF3}" srcOrd="0" destOrd="0" presId="urn:microsoft.com/office/officeart/2005/8/layout/list1"/>
    <dgm:cxn modelId="{D8F885B3-D74E-4A3F-8DE9-B94C5429DFD4}" type="presParOf" srcId="{BFA425F2-BBF9-4E92-B2F2-45AFCB377A87}" destId="{A24EBDA6-A35A-4FC1-BAE6-D75AAF6DE2F5}" srcOrd="1" destOrd="0" presId="urn:microsoft.com/office/officeart/2005/8/layout/list1"/>
    <dgm:cxn modelId="{2D22733A-BE2E-4FD9-822F-DF1C0ADCD4A4}" type="presParOf" srcId="{A0A0B67C-7E27-4846-89C0-06D754C9E719}" destId="{B5C8C51F-C915-43E4-BBB0-4038D8A4EAE2}" srcOrd="5" destOrd="0" presId="urn:microsoft.com/office/officeart/2005/8/layout/list1"/>
    <dgm:cxn modelId="{402D21CD-8459-4CC6-9695-8909C6C79158}" type="presParOf" srcId="{A0A0B67C-7E27-4846-89C0-06D754C9E719}" destId="{C688267E-5E7C-4A9C-9BA6-31332699AA1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A99B5-9D5E-452E-9483-BA15BC07DA71}">
      <dsp:nvSpPr>
        <dsp:cNvPr id="0" name=""/>
        <dsp:cNvSpPr/>
      </dsp:nvSpPr>
      <dsp:spPr>
        <a:xfrm>
          <a:off x="8092" y="1166978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B02DE-CE7F-47FA-BB5F-D4CF6FB58ACD}">
      <dsp:nvSpPr>
        <dsp:cNvPr id="0" name=""/>
        <dsp:cNvSpPr/>
      </dsp:nvSpPr>
      <dsp:spPr>
        <a:xfrm>
          <a:off x="8092" y="2065835"/>
          <a:ext cx="2320312" cy="652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Clear inflection point (country wide legalization)</a:t>
          </a:r>
        </a:p>
      </dsp:txBody>
      <dsp:txXfrm>
        <a:off x="8092" y="2065835"/>
        <a:ext cx="2320312" cy="652587"/>
      </dsp:txXfrm>
    </dsp:sp>
    <dsp:sp modelId="{A172C3F5-0100-4406-A472-6D92C45FFE4D}">
      <dsp:nvSpPr>
        <dsp:cNvPr id="0" name=""/>
        <dsp:cNvSpPr/>
      </dsp:nvSpPr>
      <dsp:spPr>
        <a:xfrm>
          <a:off x="8092" y="2758770"/>
          <a:ext cx="2320312" cy="425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69208D-3FA8-4CDB-AD16-A1498D8BF082}">
      <dsp:nvSpPr>
        <dsp:cNvPr id="0" name=""/>
        <dsp:cNvSpPr/>
      </dsp:nvSpPr>
      <dsp:spPr>
        <a:xfrm>
          <a:off x="2734460" y="1166978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4517A-480C-43E2-BDA9-25A7D0674E07}">
      <dsp:nvSpPr>
        <dsp:cNvPr id="0" name=""/>
        <dsp:cNvSpPr/>
      </dsp:nvSpPr>
      <dsp:spPr>
        <a:xfrm>
          <a:off x="2734460" y="2065835"/>
          <a:ext cx="2320312" cy="652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Some states legalized sooner</a:t>
          </a:r>
        </a:p>
      </dsp:txBody>
      <dsp:txXfrm>
        <a:off x="2734460" y="2065835"/>
        <a:ext cx="2320312" cy="652587"/>
      </dsp:txXfrm>
    </dsp:sp>
    <dsp:sp modelId="{0095564F-C8E8-433A-A595-59E44F23D908}">
      <dsp:nvSpPr>
        <dsp:cNvPr id="0" name=""/>
        <dsp:cNvSpPr/>
      </dsp:nvSpPr>
      <dsp:spPr>
        <a:xfrm>
          <a:off x="2734460" y="2758770"/>
          <a:ext cx="2320312" cy="425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CF7A9A-DD9A-4BBF-9DC6-1BB455735104}">
      <dsp:nvSpPr>
        <dsp:cNvPr id="0" name=""/>
        <dsp:cNvSpPr/>
      </dsp:nvSpPr>
      <dsp:spPr>
        <a:xfrm>
          <a:off x="5460827" y="1166978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0A9E6-217D-48FE-B469-16133E11BE88}">
      <dsp:nvSpPr>
        <dsp:cNvPr id="0" name=""/>
        <dsp:cNvSpPr/>
      </dsp:nvSpPr>
      <dsp:spPr>
        <a:xfrm>
          <a:off x="5460827" y="2065835"/>
          <a:ext cx="2320312" cy="652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Compare the crime rates and drop offs in these earlier states vs later states</a:t>
          </a:r>
        </a:p>
      </dsp:txBody>
      <dsp:txXfrm>
        <a:off x="5460827" y="2065835"/>
        <a:ext cx="2320312" cy="652587"/>
      </dsp:txXfrm>
    </dsp:sp>
    <dsp:sp modelId="{B5D0B143-5240-420F-873C-CBD57A136FED}">
      <dsp:nvSpPr>
        <dsp:cNvPr id="0" name=""/>
        <dsp:cNvSpPr/>
      </dsp:nvSpPr>
      <dsp:spPr>
        <a:xfrm>
          <a:off x="5460827" y="2758770"/>
          <a:ext cx="2320312" cy="425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5460827" y="2758770"/>
        <a:ext cx="2320312" cy="425588"/>
      </dsp:txXfrm>
    </dsp:sp>
    <dsp:sp modelId="{A6BA6085-8260-42F0-8E03-9832D6549A71}">
      <dsp:nvSpPr>
        <dsp:cNvPr id="0" name=""/>
        <dsp:cNvSpPr/>
      </dsp:nvSpPr>
      <dsp:spPr>
        <a:xfrm>
          <a:off x="8187194" y="1166978"/>
          <a:ext cx="812109" cy="812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1FDD3-2E8C-429F-AF4C-B2F6C6930098}">
      <dsp:nvSpPr>
        <dsp:cNvPr id="0" name=""/>
        <dsp:cNvSpPr/>
      </dsp:nvSpPr>
      <dsp:spPr>
        <a:xfrm>
          <a:off x="8187194" y="2065835"/>
          <a:ext cx="2320312" cy="652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Controlled for various factors</a:t>
          </a:r>
        </a:p>
      </dsp:txBody>
      <dsp:txXfrm>
        <a:off x="8187194" y="2065835"/>
        <a:ext cx="2320312" cy="652587"/>
      </dsp:txXfrm>
    </dsp:sp>
    <dsp:sp modelId="{E2EAB527-CE82-439E-8644-A523B8F4E620}">
      <dsp:nvSpPr>
        <dsp:cNvPr id="0" name=""/>
        <dsp:cNvSpPr/>
      </dsp:nvSpPr>
      <dsp:spPr>
        <a:xfrm>
          <a:off x="8187194" y="2758770"/>
          <a:ext cx="2320312" cy="425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Policing levels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Economic conditions</a:t>
          </a:r>
        </a:p>
      </dsp:txBody>
      <dsp:txXfrm>
        <a:off x="8187194" y="2758770"/>
        <a:ext cx="2320312" cy="4255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5B69C-1A26-4ED9-B681-CAFED244CED7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8381B-5294-43F1-9074-4146F76893AF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Found that states with earlier legalizations did see earlier drops in crime</a:t>
          </a:r>
        </a:p>
      </dsp:txBody>
      <dsp:txXfrm>
        <a:off x="0" y="0"/>
        <a:ext cx="10515600" cy="1087834"/>
      </dsp:txXfrm>
    </dsp:sp>
    <dsp:sp modelId="{0844DE7F-09CB-4F60-AB9A-4FEEB6DFE57E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63D25-B1D0-4A87-8DA0-47270AD6C87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Creates a link between unwanted pregnancy abortion rates and crime</a:t>
          </a:r>
        </a:p>
      </dsp:txBody>
      <dsp:txXfrm>
        <a:off x="0" y="1087834"/>
        <a:ext cx="10515600" cy="1087834"/>
      </dsp:txXfrm>
    </dsp:sp>
    <dsp:sp modelId="{D4D9A246-D500-4C3F-9A86-1100D1D87AA8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130C5-7FE4-4155-BB49-CA7239DA7698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Unwanted pregnancy abortion rates assumed to be linked to legal  abortion access</a:t>
          </a:r>
        </a:p>
      </dsp:txBody>
      <dsp:txXfrm>
        <a:off x="0" y="2175669"/>
        <a:ext cx="10515600" cy="1087834"/>
      </dsp:txXfrm>
    </dsp:sp>
    <dsp:sp modelId="{66A9F151-1BE6-427F-8445-139F56677413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107C1-2A89-4132-9EEA-28F34E8DE8FA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Comes to conclusion that access to legalized abortion may result in lower crime rates</a:t>
          </a:r>
        </a:p>
      </dsp:txBody>
      <dsp:txXfrm>
        <a:off x="0" y="3263503"/>
        <a:ext cx="10515600" cy="10878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2C4C4-48C9-469C-870A-AA94FA784731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AB686-74BC-4B80-B20B-3B1F23550B17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Do these conclusions hold today?</a:t>
          </a:r>
        </a:p>
      </dsp:txBody>
      <dsp:txXfrm>
        <a:off x="765914" y="2943510"/>
        <a:ext cx="4320000" cy="720000"/>
      </dsp:txXfrm>
    </dsp:sp>
    <dsp:sp modelId="{7A9A85EE-EA17-4E7E-8805-EB289A8A9047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8A0EF-770A-4F2C-B9A2-A7957C25B86C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could be especially important with the reversal of the Roe decision</a:t>
          </a:r>
        </a:p>
      </dsp:txBody>
      <dsp:txXfrm>
        <a:off x="5841914" y="29435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348D2-54BB-454D-AF1F-C80B5D781410}">
      <dsp:nvSpPr>
        <dsp:cNvPr id="0" name=""/>
        <dsp:cNvSpPr/>
      </dsp:nvSpPr>
      <dsp:spPr>
        <a:xfrm>
          <a:off x="51" y="108256"/>
          <a:ext cx="4913783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Variables of Interest</a:t>
          </a:r>
        </a:p>
      </dsp:txBody>
      <dsp:txXfrm>
        <a:off x="51" y="108256"/>
        <a:ext cx="4913783" cy="662400"/>
      </dsp:txXfrm>
    </dsp:sp>
    <dsp:sp modelId="{0A02306A-6FFB-4F3B-9447-99882A1F2FC8}">
      <dsp:nvSpPr>
        <dsp:cNvPr id="0" name=""/>
        <dsp:cNvSpPr/>
      </dsp:nvSpPr>
      <dsp:spPr>
        <a:xfrm>
          <a:off x="51" y="770656"/>
          <a:ext cx="4913783" cy="34724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Abortion rates over space and time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Global Abortion Incidence Dataset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Crime rates in the 18-25 year later period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Unified Crime Reporting Statistics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Abortion Policy Scores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Guttmacher Policy Scores</a:t>
          </a:r>
        </a:p>
      </dsp:txBody>
      <dsp:txXfrm>
        <a:off x="51" y="770656"/>
        <a:ext cx="4913783" cy="3472424"/>
      </dsp:txXfrm>
    </dsp:sp>
    <dsp:sp modelId="{A21F2E24-4148-4F7A-9130-FD69BF0086A9}">
      <dsp:nvSpPr>
        <dsp:cNvPr id="0" name=""/>
        <dsp:cNvSpPr/>
      </dsp:nvSpPr>
      <dsp:spPr>
        <a:xfrm>
          <a:off x="5601764" y="108256"/>
          <a:ext cx="4913783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Control Variables</a:t>
          </a:r>
        </a:p>
      </dsp:txBody>
      <dsp:txXfrm>
        <a:off x="5601764" y="108256"/>
        <a:ext cx="4913783" cy="662400"/>
      </dsp:txXfrm>
    </dsp:sp>
    <dsp:sp modelId="{57AE7911-C553-4568-8DD5-9C0923D6FF42}">
      <dsp:nvSpPr>
        <dsp:cNvPr id="0" name=""/>
        <dsp:cNvSpPr/>
      </dsp:nvSpPr>
      <dsp:spPr>
        <a:xfrm>
          <a:off x="5601764" y="770656"/>
          <a:ext cx="4913783" cy="34724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Unemployment rates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Bureau of Labor Statistics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GDP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Bureau of Economic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Demographic data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US Census</a:t>
          </a:r>
        </a:p>
      </dsp:txBody>
      <dsp:txXfrm>
        <a:off x="5601764" y="770656"/>
        <a:ext cx="4913783" cy="34724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C9E27-B75B-480F-B24D-F3FBA5677B64}">
      <dsp:nvSpPr>
        <dsp:cNvPr id="0" name=""/>
        <dsp:cNvSpPr/>
      </dsp:nvSpPr>
      <dsp:spPr>
        <a:xfrm>
          <a:off x="0" y="1160670"/>
          <a:ext cx="690051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16BB34-D102-42AA-8FF8-CE6E58AC59AD}">
      <dsp:nvSpPr>
        <dsp:cNvPr id="0" name=""/>
        <dsp:cNvSpPr/>
      </dsp:nvSpPr>
      <dsp:spPr>
        <a:xfrm>
          <a:off x="345025" y="880230"/>
          <a:ext cx="483035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Two-Way Fixed Effects Linear Regression</a:t>
          </a:r>
        </a:p>
      </dsp:txBody>
      <dsp:txXfrm>
        <a:off x="372405" y="907610"/>
        <a:ext cx="4775598" cy="506120"/>
      </dsp:txXfrm>
    </dsp:sp>
    <dsp:sp modelId="{CCEAF8DE-7CD0-4BD8-891B-EF02B0BB3AE3}">
      <dsp:nvSpPr>
        <dsp:cNvPr id="0" name=""/>
        <dsp:cNvSpPr/>
      </dsp:nvSpPr>
      <dsp:spPr>
        <a:xfrm>
          <a:off x="0" y="2022510"/>
          <a:ext cx="6900512" cy="2633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State Effects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Holds constant stable differences across time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Time Effects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Holds constant stable differences across time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Regression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Use abortion rates to predict violent crime rates 18-25 years later</a:t>
          </a:r>
        </a:p>
      </dsp:txBody>
      <dsp:txXfrm>
        <a:off x="0" y="2022510"/>
        <a:ext cx="6900512" cy="2633400"/>
      </dsp:txXfrm>
    </dsp:sp>
    <dsp:sp modelId="{106C3E5F-8943-4F3D-8348-5A71377DFA89}">
      <dsp:nvSpPr>
        <dsp:cNvPr id="0" name=""/>
        <dsp:cNvSpPr/>
      </dsp:nvSpPr>
      <dsp:spPr>
        <a:xfrm>
          <a:off x="345025" y="1742070"/>
          <a:ext cx="483035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Fixed Effects</a:t>
          </a:r>
        </a:p>
      </dsp:txBody>
      <dsp:txXfrm>
        <a:off x="372405" y="1769450"/>
        <a:ext cx="4775598" cy="5061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67269-11A8-4466-916B-0A05E4773BE1}">
      <dsp:nvSpPr>
        <dsp:cNvPr id="0" name=""/>
        <dsp:cNvSpPr/>
      </dsp:nvSpPr>
      <dsp:spPr>
        <a:xfrm>
          <a:off x="0" y="392881"/>
          <a:ext cx="10515600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About 10% of years are missing data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Would not be able to use all years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Solution – create a 5-year average crime variable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Used to capture range of years and prevent missing values</a:t>
          </a:r>
        </a:p>
      </dsp:txBody>
      <dsp:txXfrm>
        <a:off x="0" y="392881"/>
        <a:ext cx="10515600" cy="2101050"/>
      </dsp:txXfrm>
    </dsp:sp>
    <dsp:sp modelId="{1A487C0B-9F79-4C11-BD39-20BDFB207A5F}">
      <dsp:nvSpPr>
        <dsp:cNvPr id="0" name=""/>
        <dsp:cNvSpPr/>
      </dsp:nvSpPr>
      <dsp:spPr>
        <a:xfrm>
          <a:off x="525780" y="53401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Creating the lagging crime variable</a:t>
          </a:r>
        </a:p>
      </dsp:txBody>
      <dsp:txXfrm>
        <a:off x="558924" y="86545"/>
        <a:ext cx="7294632" cy="612672"/>
      </dsp:txXfrm>
    </dsp:sp>
    <dsp:sp modelId="{34AD2C83-1CE3-4367-A6AA-B0BF947735FE}">
      <dsp:nvSpPr>
        <dsp:cNvPr id="0" name=""/>
        <dsp:cNvSpPr/>
      </dsp:nvSpPr>
      <dsp:spPr>
        <a:xfrm>
          <a:off x="0" y="2957611"/>
          <a:ext cx="10515600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Only present from 2010 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Solution – a second model to focus on these effects</a:t>
          </a:r>
        </a:p>
      </dsp:txBody>
      <dsp:txXfrm>
        <a:off x="0" y="2957611"/>
        <a:ext cx="10515600" cy="1340325"/>
      </dsp:txXfrm>
    </dsp:sp>
    <dsp:sp modelId="{07A4D527-9D6B-469C-8DA6-D6E41357D938}">
      <dsp:nvSpPr>
        <dsp:cNvPr id="0" name=""/>
        <dsp:cNvSpPr/>
      </dsp:nvSpPr>
      <dsp:spPr>
        <a:xfrm>
          <a:off x="525780" y="2618131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Demographic data restrictions</a:t>
          </a:r>
        </a:p>
      </dsp:txBody>
      <dsp:txXfrm>
        <a:off x="558924" y="2651275"/>
        <a:ext cx="7294632" cy="6126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C2CFB-838F-4E7C-A74A-E9F5CBD10DD9}">
      <dsp:nvSpPr>
        <dsp:cNvPr id="0" name=""/>
        <dsp:cNvSpPr/>
      </dsp:nvSpPr>
      <dsp:spPr>
        <a:xfrm>
          <a:off x="0" y="538343"/>
          <a:ext cx="1051560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95732" rIns="81612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i="1" kern="1200"/>
            <a:t>Casey </a:t>
          </a:r>
          <a:r>
            <a:rPr lang="en-US" sz="1900" kern="1200"/>
            <a:t>created less impact on access than </a:t>
          </a:r>
          <a:r>
            <a:rPr lang="en-US" sz="1900" i="1" kern="1200"/>
            <a:t>Roe </a:t>
          </a:r>
          <a:r>
            <a:rPr lang="en-US" sz="1900" kern="1200"/>
            <a:t>did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As such, the effects on rates and violent crime are expected to be smaller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Does not explain why the coefficient is positive</a:t>
          </a:r>
        </a:p>
      </dsp:txBody>
      <dsp:txXfrm>
        <a:off x="0" y="538343"/>
        <a:ext cx="10515600" cy="1436400"/>
      </dsp:txXfrm>
    </dsp:sp>
    <dsp:sp modelId="{4892EF98-82A8-469A-AADF-8840486FD1C1}">
      <dsp:nvSpPr>
        <dsp:cNvPr id="0" name=""/>
        <dsp:cNvSpPr/>
      </dsp:nvSpPr>
      <dsp:spPr>
        <a:xfrm>
          <a:off x="525780" y="257903"/>
          <a:ext cx="73609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/>
            <a:t>Casey </a:t>
          </a:r>
          <a:r>
            <a:rPr lang="en-US" sz="1900" kern="1200"/>
            <a:t>vs </a:t>
          </a:r>
          <a:r>
            <a:rPr lang="en-US" sz="1900" i="1" kern="1200"/>
            <a:t>Roe</a:t>
          </a:r>
          <a:endParaRPr lang="en-US" sz="1900" kern="1200"/>
        </a:p>
      </dsp:txBody>
      <dsp:txXfrm>
        <a:off x="553160" y="285283"/>
        <a:ext cx="7306160" cy="506120"/>
      </dsp:txXfrm>
    </dsp:sp>
    <dsp:sp modelId="{C688267E-5E7C-4A9C-9BA6-31332699AA1C}">
      <dsp:nvSpPr>
        <dsp:cNvPr id="0" name=""/>
        <dsp:cNvSpPr/>
      </dsp:nvSpPr>
      <dsp:spPr>
        <a:xfrm>
          <a:off x="0" y="2357784"/>
          <a:ext cx="10515600" cy="173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95732" rIns="81612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Abortion rates fell across the US regardless of policy changes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Increased contraceptive access concentrated abortion to lower income individuals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Abortion may now be a stronger proxy for socioeconomic status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If true, abortion rate correlates more strongly with violent crime rates </a:t>
          </a:r>
        </a:p>
      </dsp:txBody>
      <dsp:txXfrm>
        <a:off x="0" y="2357784"/>
        <a:ext cx="10515600" cy="1735650"/>
      </dsp:txXfrm>
    </dsp:sp>
    <dsp:sp modelId="{A24EBDA6-A35A-4FC1-BAE6-D75AAF6DE2F5}">
      <dsp:nvSpPr>
        <dsp:cNvPr id="0" name=""/>
        <dsp:cNvSpPr/>
      </dsp:nvSpPr>
      <dsp:spPr>
        <a:xfrm>
          <a:off x="525780" y="2077344"/>
          <a:ext cx="73609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Rise of Contraceptives</a:t>
          </a:r>
        </a:p>
      </dsp:txBody>
      <dsp:txXfrm>
        <a:off x="553160" y="2104724"/>
        <a:ext cx="730616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6A39-43E8-4DA5-8861-9E96DEEC8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A1A56-903D-2BF5-D8D8-6CED46BF8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D7843-2D69-87B8-E329-7C95B550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F5324-A283-7D83-647D-DC6B67E5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B193D-327A-79E5-1E0F-0E5AAE66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8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E234-6591-D92B-037B-6719EE04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7A3BE-420A-FD8D-B746-25267605F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0F589-AEF8-D498-C3AC-4B901A76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AC420-AC5F-251E-79C4-7F9BA4C4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B96B-49BB-089D-B6B7-1D3E6A14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16B5-E3D2-BF0F-C118-4AF1EEF9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0F3FF-5B2C-E208-4B8F-0AB693743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F9FF-5997-8780-C335-E4F19DAA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A1A9C-48FA-0744-6EE2-92D24D38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0B762-0AAC-0748-0486-E1CD3FBF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3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5D4C-A5B2-DFCC-949D-B618CEDE9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21BB-CE93-B03D-FB5E-0CEAA0B00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8CBE3-624C-6344-0402-7BD4747E3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8226B-B16B-1953-8123-5E5ABA1A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BB5AE-B53D-29F3-C95B-929C9408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F44CD-B9BE-1C01-69A7-FA6DFF08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0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52A0-0639-95D1-51E8-3C435177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4AC34-9508-7240-EFF3-B555C60F7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66748-80FE-3CB6-57C8-80AC14325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C949FB-C796-5027-CDDD-CB22889B3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2ABED-8764-66F4-23AF-C270D82B8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33002-EF77-9215-DA08-76D8A939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1BA81-BA96-F10B-4B6C-FC91E257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6A6C9-BDE3-52EE-136B-16F7C15F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5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A361-96E8-94B5-157E-21A61750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5F13D-C672-851F-A959-4FA5997C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FEC41-4426-DECD-3BC7-552DADF8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E5A53-0C5D-CC3D-12CB-990E9AA5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5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8408D-3B63-ED12-8A33-C92E4471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2D886-4B51-427B-87E4-CAE1EC79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DBDE7-4C32-C413-770E-D86FA0C3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4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11FC-C709-763A-B044-1EE2E4034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126F8-EE59-8778-A353-2DEF3E37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0EF4-8879-64B7-0F2F-D42260862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A7523-7240-4DC0-A106-1F722A77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34DCC-B15B-B69A-034A-7E151C46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6DEA0-6237-FE8F-D4FD-9D50ACBD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5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76198-9707-7763-DABD-A4FAF9B38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4B82D-B26B-7340-8A04-197AF215F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5EDF0-D9A1-14A8-DB4F-02FD6C759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6AA82-0496-C0E9-C46C-88A1CB6E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79FD1-3BD9-CF3B-C212-3AAEB71C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114FE-9FAC-5813-6657-FBEEEB41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6C4D-B328-505F-396D-ABB8382A5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728F9-BBD5-39D5-C00D-DC079B036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B6754-3523-4102-B454-B6ED10BF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0672A-C1B2-21D8-3B7D-3A85F1FA4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D8BC8-CC31-0150-F19A-5E89EE57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67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B452A-B3FC-2F27-7737-454495676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A6EB0-7992-6DE4-F6B8-493A097BB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3F2BA-0E61-08C4-33D8-8CF99394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30B1-2BC0-6224-89F6-29EA51BC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42743-639A-2058-C984-8F705502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2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591A7-8CD9-7872-7873-0C984C3C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B157D-1575-43B7-DD60-70FBB75E7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2467-636C-0158-2577-59BE79347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8D406-A3C5-4DEF-AD58-824B2CDDB2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4A9C9-7895-946F-E153-742DB2BCA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75AAF-82B6-CE47-6B50-303E6E474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4C5E9-B07E-4254-9635-2F6C8DA07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4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osf.io/kthnf" TargetMode="External"/><Relationship Id="rId3" Type="http://schemas.openxmlformats.org/officeDocument/2006/relationships/hyperlink" Target="https://www.bls.gov/lau/rdscnp16.htm" TargetMode="External"/><Relationship Id="rId7" Type="http://schemas.openxmlformats.org/officeDocument/2006/relationships/hyperlink" Target="https://www.guttmacher.org/sites/default/files/article_files/hostile_and_supportive_state_abortion_laws_1-24-2020.pdf" TargetMode="External"/><Relationship Id="rId2" Type="http://schemas.openxmlformats.org/officeDocument/2006/relationships/hyperlink" Target="https://apps.bea.gov/itabl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de.ucr.cjis.gov/LATEST/webapp/#/pages/home" TargetMode="External"/><Relationship Id="rId11" Type="http://schemas.openxmlformats.org/officeDocument/2006/relationships/hyperlink" Target="https://data.census.gov/" TargetMode="External"/><Relationship Id="rId5" Type="http://schemas.openxmlformats.org/officeDocument/2006/relationships/hyperlink" Target="https://pricetheory.uchicago.edu/levitt/Papers/DonohueLevittTheImpactOfLegalized2001.pdf" TargetMode="External"/><Relationship Id="rId10" Type="http://schemas.openxmlformats.org/officeDocument/2006/relationships/hyperlink" Target="https://www.plannedparenthoodaction.org/issues/abortion/roe-v-wade/roe-v-wade-behind-case-established-legal-right-abortion" TargetMode="External"/><Relationship Id="rId4" Type="http://schemas.openxmlformats.org/officeDocument/2006/relationships/hyperlink" Target="https://corgis-edu.github.io/corgis/csv/state_crime/" TargetMode="External"/><Relationship Id="rId9" Type="http://schemas.openxmlformats.org/officeDocument/2006/relationships/hyperlink" Target="https://www.oyez.org/cases/1991/91-74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6B7DF-DC4C-5533-00AB-3D4487E5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en-US" sz="6600"/>
              <a:t>Abortion Access and Crime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8CC8C-B09B-E16C-6197-B751062D2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1055" y="4463105"/>
            <a:ext cx="9144000" cy="118213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Jack Perkins</a:t>
            </a:r>
          </a:p>
        </p:txBody>
      </p:sp>
    </p:spTree>
    <p:extLst>
      <p:ext uri="{BB962C8B-B14F-4D97-AF65-F5344CB8AC3E}">
        <p14:creationId xmlns:p14="http://schemas.microsoft.com/office/powerpoint/2010/main" val="163718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E286-1030-EF22-67F8-EF4F16626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The Original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7DF8-4E71-E176-005A-57ADAA0E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800"/>
              <a:t>In </a:t>
            </a:r>
            <a:r>
              <a:rPr lang="en-US" sz="1800" i="1"/>
              <a:t>Freakonomics</a:t>
            </a:r>
            <a:r>
              <a:rPr lang="en-US" sz="1800"/>
              <a:t> (and accompanying papers), the authors proposed an alternate theory on the crime crash of the 1990s</a:t>
            </a:r>
          </a:p>
          <a:p>
            <a:r>
              <a:rPr lang="en-US" sz="1800"/>
              <a:t>Experts attributed it to the economy, innovative policing styles, and other policy changes</a:t>
            </a:r>
          </a:p>
          <a:p>
            <a:r>
              <a:rPr lang="en-US" sz="1800"/>
              <a:t>Instead, the authors offered that it may have been the Roe v Wade decision 20 years earlier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reakonomics">
            <a:extLst>
              <a:ext uri="{FF2B5EF4-FFF2-40B4-BE49-F238E27FC236}">
                <a16:creationId xmlns:a16="http://schemas.microsoft.com/office/drawing/2014/main" id="{3A2D9D47-46D7-5864-2EEB-DBAD8D13F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 bwMode="auto">
          <a:xfrm>
            <a:off x="7360595" y="901032"/>
            <a:ext cx="3363048" cy="511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534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ECAF-777E-B5D9-27FA-0B098E9F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16A9A4B-4EB1-B766-0EEB-DAC81F8BA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9788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536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3410-D760-DD09-0D79-B9D10FBC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5E81D6-6ADB-9565-887A-E3E758CC8F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437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2A97-1404-FEE6-63F8-5F5C61FA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My Question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C592D9-7CE7-E741-A3B0-3DC1F3091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208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342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A2EEC-3CBD-530C-3333-5B7E52B9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 i="1"/>
              <a:t>Planned Parenthood v. Casey (1992)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4961-D43C-2A7C-DDEF-D9FA61E74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Lightened scrutiny on abortion laws</a:t>
            </a:r>
          </a:p>
          <a:p>
            <a:r>
              <a:rPr lang="en-US" sz="2400" dirty="0"/>
              <a:t>Can not create “undue burden”</a:t>
            </a:r>
          </a:p>
          <a:p>
            <a:r>
              <a:rPr lang="en-US" sz="2400" dirty="0"/>
              <a:t>More restrictive laws</a:t>
            </a:r>
          </a:p>
          <a:p>
            <a:pPr lvl="1"/>
            <a:r>
              <a:rPr lang="en-US" dirty="0"/>
              <a:t>Waiting periods</a:t>
            </a:r>
          </a:p>
          <a:p>
            <a:pPr lvl="1"/>
            <a:r>
              <a:rPr lang="en-US" dirty="0"/>
              <a:t>Parental consent</a:t>
            </a:r>
          </a:p>
          <a:p>
            <a:r>
              <a:rPr lang="en-US" sz="2400" dirty="0"/>
              <a:t>Undid equal access of the </a:t>
            </a:r>
            <a:r>
              <a:rPr lang="en-US" sz="2400" i="1" dirty="0"/>
              <a:t>Roe </a:t>
            </a:r>
            <a:r>
              <a:rPr lang="en-US" sz="2400" dirty="0"/>
              <a:t>era</a:t>
            </a:r>
          </a:p>
        </p:txBody>
      </p:sp>
    </p:spTree>
    <p:extLst>
      <p:ext uri="{BB962C8B-B14F-4D97-AF65-F5344CB8AC3E}">
        <p14:creationId xmlns:p14="http://schemas.microsoft.com/office/powerpoint/2010/main" val="268879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2875-90F5-DAF1-D322-1E112B1A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12916D-7213-E71C-1664-199D6B0A64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852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26CF-8CC1-AC41-A6E9-78136CFC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Basic Model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05F70D-625A-40D2-A3E6-DA17844AA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68388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204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E04B-B918-473F-0D83-30C54819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Immediate Issues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0DB9525-80EB-E5C9-FAF1-EF8FEFA5E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378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6974-814A-A654-1688-D69791D69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Standard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0F8F1-6225-3BF2-1D04-01EB5016F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Pure prediction using full range of years</a:t>
            </a:r>
          </a:p>
          <a:p>
            <a:r>
              <a:rPr lang="en-US" sz="2000"/>
              <a:t>Omits demographic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536C81-EE6E-2E00-817C-B2BE60E08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583229"/>
              </p:ext>
            </p:extLst>
          </p:nvPr>
        </p:nvGraphicFramePr>
        <p:xfrm>
          <a:off x="5911532" y="3070856"/>
          <a:ext cx="5150278" cy="2541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344">
                  <a:extLst>
                    <a:ext uri="{9D8B030D-6E8A-4147-A177-3AD203B41FA5}">
                      <a16:colId xmlns:a16="http://schemas.microsoft.com/office/drawing/2014/main" val="2194414990"/>
                    </a:ext>
                  </a:extLst>
                </a:gridCol>
                <a:gridCol w="1641988">
                  <a:extLst>
                    <a:ext uri="{9D8B030D-6E8A-4147-A177-3AD203B41FA5}">
                      <a16:colId xmlns:a16="http://schemas.microsoft.com/office/drawing/2014/main" val="3547349790"/>
                    </a:ext>
                  </a:extLst>
                </a:gridCol>
                <a:gridCol w="1327946">
                  <a:extLst>
                    <a:ext uri="{9D8B030D-6E8A-4147-A177-3AD203B41FA5}">
                      <a16:colId xmlns:a16="http://schemas.microsoft.com/office/drawing/2014/main" val="1945443321"/>
                    </a:ext>
                  </a:extLst>
                </a:gridCol>
              </a:tblGrid>
              <a:tr h="473754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Coefficient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2012"/>
                  </a:ext>
                </a:extLst>
              </a:tr>
              <a:tr h="796768">
                <a:tc>
                  <a:txBody>
                    <a:bodyPr/>
                    <a:lstStyle/>
                    <a:p>
                      <a:r>
                        <a:rPr lang="en-US" sz="2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Abortion exposure</a:t>
                      </a:r>
                      <a:endParaRPr lang="en-US" sz="2100">
                        <a:solidFill>
                          <a:schemeClr val="tx1"/>
                        </a:solidFill>
                      </a:endParaRP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5.404*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0.052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367335"/>
                  </a:ext>
                </a:extLst>
              </a:tr>
              <a:tr h="79676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Unemployment Rate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3.808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0.427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561597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GDP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-0.000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0.246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81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001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3966-DE5A-9149-6798-86838B30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Robust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3FD5-DF82-E586-6515-A1BBD02E4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Utilizes demographic data as controls</a:t>
            </a:r>
          </a:p>
          <a:p>
            <a:r>
              <a:rPr lang="en-US" sz="2000"/>
              <a:t>Uses only crime lag data from 2010-2019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097AD4-7ED2-C1BF-58E4-0AD7A1A0F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51004"/>
              </p:ext>
            </p:extLst>
          </p:nvPr>
        </p:nvGraphicFramePr>
        <p:xfrm>
          <a:off x="6099441" y="2484255"/>
          <a:ext cx="4774459" cy="37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458">
                  <a:extLst>
                    <a:ext uri="{9D8B030D-6E8A-4147-A177-3AD203B41FA5}">
                      <a16:colId xmlns:a16="http://schemas.microsoft.com/office/drawing/2014/main" val="797014137"/>
                    </a:ext>
                  </a:extLst>
                </a:gridCol>
                <a:gridCol w="1475058">
                  <a:extLst>
                    <a:ext uri="{9D8B030D-6E8A-4147-A177-3AD203B41FA5}">
                      <a16:colId xmlns:a16="http://schemas.microsoft.com/office/drawing/2014/main" val="2549558455"/>
                    </a:ext>
                  </a:extLst>
                </a:gridCol>
                <a:gridCol w="1192943">
                  <a:extLst>
                    <a:ext uri="{9D8B030D-6E8A-4147-A177-3AD203B41FA5}">
                      <a16:colId xmlns:a16="http://schemas.microsoft.com/office/drawing/2014/main" val="215908750"/>
                    </a:ext>
                  </a:extLst>
                </a:gridCol>
              </a:tblGrid>
              <a:tr h="425591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Coefficient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154848"/>
                  </a:ext>
                </a:extLst>
              </a:tr>
              <a:tr h="715766">
                <a:tc>
                  <a:txBody>
                    <a:bodyPr/>
                    <a:lstStyle/>
                    <a:p>
                      <a:r>
                        <a:rPr lang="en-US" sz="1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Abortion exposure</a:t>
                      </a:r>
                      <a:endParaRPr lang="en-US" sz="1900">
                        <a:solidFill>
                          <a:schemeClr val="tx1"/>
                        </a:solidFill>
                      </a:endParaRP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2.079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0.182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90205"/>
                  </a:ext>
                </a:extLst>
              </a:tr>
              <a:tr h="715766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Unemployment rate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9.261**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0.041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791292"/>
                  </a:ext>
                </a:extLst>
              </a:tr>
              <a:tr h="425591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GDP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-0.000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0.618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288190"/>
                  </a:ext>
                </a:extLst>
              </a:tr>
              <a:tr h="715766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Population age 18-24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22.201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0.241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40207"/>
                  </a:ext>
                </a:extLst>
              </a:tr>
              <a:tr h="715766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Bachelor’s degree or higher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-10.760*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/>
                          </a:solidFill>
                        </a:rPr>
                        <a:t>0.073</a:t>
                      </a:r>
                    </a:p>
                  </a:txBody>
                  <a:tcPr marL="96725" marR="96725" marT="48363" marB="483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721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57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E310-99B8-AF9F-9873-786C1F5B9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Weighted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A7C6C-80A5-1116-D870-83D97BB50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Omits demographic data</a:t>
            </a:r>
          </a:p>
          <a:p>
            <a:r>
              <a:rPr lang="en-US" sz="2000"/>
              <a:t>Places weight on crime lag data</a:t>
            </a:r>
          </a:p>
          <a:p>
            <a:r>
              <a:rPr lang="en-US" sz="2000"/>
              <a:t>If there are more observations in the averaged period, the observation is given more weight</a:t>
            </a:r>
          </a:p>
          <a:p>
            <a:pPr lvl="1"/>
            <a:r>
              <a:rPr lang="en-US" sz="2000"/>
              <a:t>3 observations in a 5-year period will have more say than 1</a:t>
            </a:r>
          </a:p>
          <a:p>
            <a:endParaRPr lang="en-US" sz="2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0CB4CA-C46D-59AC-5737-AF9E62979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515456"/>
              </p:ext>
            </p:extLst>
          </p:nvPr>
        </p:nvGraphicFramePr>
        <p:xfrm>
          <a:off x="5911532" y="3070856"/>
          <a:ext cx="5150278" cy="2541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344">
                  <a:extLst>
                    <a:ext uri="{9D8B030D-6E8A-4147-A177-3AD203B41FA5}">
                      <a16:colId xmlns:a16="http://schemas.microsoft.com/office/drawing/2014/main" val="2194414990"/>
                    </a:ext>
                  </a:extLst>
                </a:gridCol>
                <a:gridCol w="1641988">
                  <a:extLst>
                    <a:ext uri="{9D8B030D-6E8A-4147-A177-3AD203B41FA5}">
                      <a16:colId xmlns:a16="http://schemas.microsoft.com/office/drawing/2014/main" val="3547349790"/>
                    </a:ext>
                  </a:extLst>
                </a:gridCol>
                <a:gridCol w="1327946">
                  <a:extLst>
                    <a:ext uri="{9D8B030D-6E8A-4147-A177-3AD203B41FA5}">
                      <a16:colId xmlns:a16="http://schemas.microsoft.com/office/drawing/2014/main" val="1945443321"/>
                    </a:ext>
                  </a:extLst>
                </a:gridCol>
              </a:tblGrid>
              <a:tr h="473754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Coefficient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2012"/>
                  </a:ext>
                </a:extLst>
              </a:tr>
              <a:tr h="796768">
                <a:tc>
                  <a:txBody>
                    <a:bodyPr/>
                    <a:lstStyle/>
                    <a:p>
                      <a:r>
                        <a:rPr lang="en-US" sz="2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Abortion exposure</a:t>
                      </a:r>
                      <a:endParaRPr lang="en-US" sz="2100">
                        <a:solidFill>
                          <a:schemeClr val="tx1"/>
                        </a:solidFill>
                      </a:endParaRP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5.019*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0.066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367335"/>
                  </a:ext>
                </a:extLst>
              </a:tr>
              <a:tr h="79676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Unemployment Rate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7.000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0.146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561597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GDP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-0.000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0.343</a:t>
                      </a:r>
                    </a:p>
                  </a:txBody>
                  <a:tcPr marL="107671" marR="107671" marT="53836" marB="538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81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098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494A-4F9D-2535-ED45-0453CB08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8FD457-6CD6-DDE0-24D8-F86269BD1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262090"/>
              </p:ext>
            </p:extLst>
          </p:nvPr>
        </p:nvGraphicFramePr>
        <p:xfrm>
          <a:off x="838200" y="2081186"/>
          <a:ext cx="102762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272">
                  <a:extLst>
                    <a:ext uri="{9D8B030D-6E8A-4147-A177-3AD203B41FA5}">
                      <a16:colId xmlns:a16="http://schemas.microsoft.com/office/drawing/2014/main" val="2194414990"/>
                    </a:ext>
                  </a:extLst>
                </a:gridCol>
                <a:gridCol w="3907927">
                  <a:extLst>
                    <a:ext uri="{9D8B030D-6E8A-4147-A177-3AD203B41FA5}">
                      <a16:colId xmlns:a16="http://schemas.microsoft.com/office/drawing/2014/main" val="3547349790"/>
                    </a:ext>
                  </a:extLst>
                </a:gridCol>
                <a:gridCol w="4295069">
                  <a:extLst>
                    <a:ext uri="{9D8B030D-6E8A-4147-A177-3AD203B41FA5}">
                      <a16:colId xmlns:a16="http://schemas.microsoft.com/office/drawing/2014/main" val="1945443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2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Standard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-Uses full 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-Overrepresents small lag samples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36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Robust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-Uses census data for controls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-Cuts observations in half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56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Weighted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-Reduces overrepresentation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818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FD7D948-CD2F-ED34-192D-7FB212B018F1}"/>
              </a:ext>
            </a:extLst>
          </p:cNvPr>
          <p:cNvSpPr txBox="1"/>
          <p:nvPr/>
        </p:nvSpPr>
        <p:spPr>
          <a:xfrm>
            <a:off x="1544818" y="5306096"/>
            <a:ext cx="910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The weighted model provides a more balanced view while not sacrificing any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381994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E5792-73A2-DCAB-871A-76B9E0A3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176" y="676875"/>
            <a:ext cx="7120733" cy="445045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4CAC0-491F-5C06-24EA-B700015B7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513" y="5521816"/>
            <a:ext cx="9846972" cy="864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Interpretation: A coefficient of 5 means an increase in one abortion per 1000 women increases crime by 5 per 100,000</a:t>
            </a:r>
          </a:p>
        </p:txBody>
      </p:sp>
    </p:spTree>
    <p:extLst>
      <p:ext uri="{BB962C8B-B14F-4D97-AF65-F5344CB8AC3E}">
        <p14:creationId xmlns:p14="http://schemas.microsoft.com/office/powerpoint/2010/main" val="323236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D0088-D360-3EE1-2CB4-DF9FA3CB8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60" y="643467"/>
            <a:ext cx="757968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4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398F-04D1-4E29-AF1E-9D3E6E86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Score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49623-43B1-5AE7-1877-61390B29E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 Models</a:t>
            </a:r>
          </a:p>
          <a:p>
            <a:pPr lvl="1"/>
            <a:r>
              <a:rPr lang="en-US" dirty="0"/>
              <a:t>Introduces policy score variable</a:t>
            </a:r>
          </a:p>
          <a:p>
            <a:pPr lvl="1"/>
            <a:r>
              <a:rPr lang="en-US" dirty="0"/>
              <a:t>Runs separate regressions for states with weak and strong restrictions</a:t>
            </a:r>
          </a:p>
          <a:p>
            <a:r>
              <a:rPr lang="en-US" dirty="0"/>
              <a:t>Interaction Model</a:t>
            </a:r>
          </a:p>
          <a:p>
            <a:pPr lvl="1"/>
            <a:r>
              <a:rPr lang="en-US" dirty="0"/>
              <a:t>Measures if policy score changes the size/significance of the effect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18360B-9862-C2B4-5A95-00C482872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476393"/>
              </p:ext>
            </p:extLst>
          </p:nvPr>
        </p:nvGraphicFramePr>
        <p:xfrm>
          <a:off x="542702" y="4747184"/>
          <a:ext cx="511005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771">
                  <a:extLst>
                    <a:ext uri="{9D8B030D-6E8A-4147-A177-3AD203B41FA5}">
                      <a16:colId xmlns:a16="http://schemas.microsoft.com/office/drawing/2014/main" val="2194414990"/>
                    </a:ext>
                  </a:extLst>
                </a:gridCol>
                <a:gridCol w="1647436">
                  <a:extLst>
                    <a:ext uri="{9D8B030D-6E8A-4147-A177-3AD203B41FA5}">
                      <a16:colId xmlns:a16="http://schemas.microsoft.com/office/drawing/2014/main" val="3547349790"/>
                    </a:ext>
                  </a:extLst>
                </a:gridCol>
                <a:gridCol w="1381844">
                  <a:extLst>
                    <a:ext uri="{9D8B030D-6E8A-4147-A177-3AD203B41FA5}">
                      <a16:colId xmlns:a16="http://schemas.microsoft.com/office/drawing/2014/main" val="1945443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Coefficient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2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Abortion exposure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-5.185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36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Unemployment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9.285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56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GDP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-0.000*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818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C9B2F6-8A32-CDEC-DC19-D70536245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601166"/>
              </p:ext>
            </p:extLst>
          </p:nvPr>
        </p:nvGraphicFramePr>
        <p:xfrm>
          <a:off x="6243749" y="4740275"/>
          <a:ext cx="511005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771">
                  <a:extLst>
                    <a:ext uri="{9D8B030D-6E8A-4147-A177-3AD203B41FA5}">
                      <a16:colId xmlns:a16="http://schemas.microsoft.com/office/drawing/2014/main" val="2194414990"/>
                    </a:ext>
                  </a:extLst>
                </a:gridCol>
                <a:gridCol w="1647436">
                  <a:extLst>
                    <a:ext uri="{9D8B030D-6E8A-4147-A177-3AD203B41FA5}">
                      <a16:colId xmlns:a16="http://schemas.microsoft.com/office/drawing/2014/main" val="3547349790"/>
                    </a:ext>
                  </a:extLst>
                </a:gridCol>
                <a:gridCol w="1381844">
                  <a:extLst>
                    <a:ext uri="{9D8B030D-6E8A-4147-A177-3AD203B41FA5}">
                      <a16:colId xmlns:a16="http://schemas.microsoft.com/office/drawing/2014/main" val="1945443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Coefficient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2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Abortion exposure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8.562***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36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Unemployment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-0.805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56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GDP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818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156758-70B8-D845-47C2-E95B0AF1071F}"/>
              </a:ext>
            </a:extLst>
          </p:cNvPr>
          <p:cNvSpPr txBox="1"/>
          <p:nvPr/>
        </p:nvSpPr>
        <p:spPr>
          <a:xfrm>
            <a:off x="2080296" y="4274834"/>
            <a:ext cx="212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Fewer Restrictions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D2D95-B0D0-6307-720B-AB5E9A81337C}"/>
              </a:ext>
            </a:extLst>
          </p:cNvPr>
          <p:cNvSpPr txBox="1"/>
          <p:nvPr/>
        </p:nvSpPr>
        <p:spPr>
          <a:xfrm>
            <a:off x="7987050" y="4274834"/>
            <a:ext cx="245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Stronger</a:t>
            </a:r>
            <a:r>
              <a:rPr lang="en-US" b="1" dirty="0"/>
              <a:t> </a:t>
            </a:r>
            <a:r>
              <a:rPr lang="en-US" dirty="0"/>
              <a:t>Restrictions</a:t>
            </a:r>
          </a:p>
        </p:txBody>
      </p:sp>
    </p:spTree>
    <p:extLst>
      <p:ext uri="{BB962C8B-B14F-4D97-AF65-F5344CB8AC3E}">
        <p14:creationId xmlns:p14="http://schemas.microsoft.com/office/powerpoint/2010/main" val="4168332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40555-88C2-8BC0-4CBA-C16FB16A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Score Models (continued)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D0039-0EF0-766B-A1CE-864D124E0045}"/>
              </a:ext>
            </a:extLst>
          </p:cNvPr>
          <p:cNvSpPr txBox="1"/>
          <p:nvPr/>
        </p:nvSpPr>
        <p:spPr>
          <a:xfrm>
            <a:off x="5033671" y="2008153"/>
            <a:ext cx="212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Interaction Model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6059B7-919D-D435-52A1-1BBEABCFA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560914"/>
              </p:ext>
            </p:extLst>
          </p:nvPr>
        </p:nvGraphicFramePr>
        <p:xfrm>
          <a:off x="2031999" y="2501900"/>
          <a:ext cx="8127999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442401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08888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9843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Coefficient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5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Abortion exposure (weak restrictions)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7.442***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807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Exposure x High Restrictions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-9.644***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1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Unemployment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25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GDP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-0.000**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2749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B4EDA8-6FF9-FB84-B1F4-A420CC59340F}"/>
              </a:ext>
            </a:extLst>
          </p:cNvPr>
          <p:cNvSpPr txBox="1"/>
          <p:nvPr/>
        </p:nvSpPr>
        <p:spPr>
          <a:xfrm>
            <a:off x="577939" y="5460642"/>
            <a:ext cx="11036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Interpretation: There is a significant difference in the relationship between abortion and crime dependent on the surrounding policy environment. </a:t>
            </a:r>
          </a:p>
        </p:txBody>
      </p:sp>
    </p:spTree>
    <p:extLst>
      <p:ext uri="{BB962C8B-B14F-4D97-AF65-F5344CB8AC3E}">
        <p14:creationId xmlns:p14="http://schemas.microsoft.com/office/powerpoint/2010/main" val="3911528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74A6A-FFEE-7FB5-E6AA-A29CE4A48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12" y="643467"/>
            <a:ext cx="1008337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13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17369-4158-0F30-693D-DDBEA9B8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Results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C461D-EDB2-B30F-410B-12F7D81F9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There is some evidence to suggest that abortion rates could be correlated with lagged crime rates</a:t>
            </a:r>
          </a:p>
          <a:p>
            <a:pPr lvl="1"/>
            <a:r>
              <a:rPr lang="en-US" dirty="0"/>
              <a:t>Any relationship is small and would only be impactful with big swings</a:t>
            </a:r>
          </a:p>
          <a:p>
            <a:pPr lvl="1"/>
            <a:r>
              <a:rPr lang="en-US" dirty="0"/>
              <a:t>The found relationship is the opposite of Levitt’s, with a positive relationship between the two variables</a:t>
            </a:r>
          </a:p>
          <a:p>
            <a:r>
              <a:rPr lang="en-US" sz="2400"/>
              <a:t>There is a significant difference in the relationship depending on the policy environment</a:t>
            </a:r>
          </a:p>
          <a:p>
            <a:pPr lvl="1"/>
            <a:r>
              <a:rPr lang="en-US" dirty="0"/>
              <a:t>This backs the finding of Levitt that the legality of abortion has affects on crime</a:t>
            </a:r>
          </a:p>
        </p:txBody>
      </p:sp>
    </p:spTree>
    <p:extLst>
      <p:ext uri="{BB962C8B-B14F-4D97-AF65-F5344CB8AC3E}">
        <p14:creationId xmlns:p14="http://schemas.microsoft.com/office/powerpoint/2010/main" val="1290486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009E3-E86E-CEA8-9212-77A68F49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Theoretical Explanations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98DF689-1228-C61A-2AE3-B1AA254B38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262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FC0DB-0B62-F8BE-5943-6EFB229B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91DB-53B8-E944-72E4-6142F0289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Incomplete data hurts the ability to make conclusions</a:t>
            </a:r>
          </a:p>
          <a:p>
            <a:pPr lvl="1"/>
            <a:r>
              <a:rPr lang="en-US" dirty="0"/>
              <a:t>A more complete crime set would allow for true rolling averages</a:t>
            </a:r>
          </a:p>
          <a:p>
            <a:r>
              <a:rPr lang="en-US" sz="2400"/>
              <a:t>Crime data is not readily available on just the 18-25 age group</a:t>
            </a:r>
          </a:p>
          <a:p>
            <a:pPr lvl="1"/>
            <a:r>
              <a:rPr lang="en-US" dirty="0"/>
              <a:t>Effects would be primarily concentrated on this group</a:t>
            </a:r>
          </a:p>
          <a:p>
            <a:r>
              <a:rPr lang="en-US" sz="2400"/>
              <a:t>Census data was not easily accessible for before 2010</a:t>
            </a:r>
          </a:p>
          <a:p>
            <a:pPr lvl="1"/>
            <a:r>
              <a:rPr lang="en-US" dirty="0"/>
              <a:t>Using demographic data for controls requires cutting half of the observations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459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BDDBA-239E-525E-B791-470F8CE3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97D0-75C9-E370-0E4B-9D98C5275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This study provided both a reinforcement and rebuke of Levitt</a:t>
            </a:r>
          </a:p>
          <a:p>
            <a:pPr lvl="1"/>
            <a:r>
              <a:rPr lang="en-US" sz="2000"/>
              <a:t>It was unable to replicate a significant and negative relationship between abortion exposure and lagged crime rates</a:t>
            </a:r>
          </a:p>
          <a:p>
            <a:pPr lvl="1"/>
            <a:r>
              <a:rPr lang="en-US" sz="2000"/>
              <a:t>It was able to provide some link between abortion policy and the strength of this relationship</a:t>
            </a:r>
          </a:p>
          <a:p>
            <a:pPr lvl="2"/>
            <a:r>
              <a:rPr lang="en-US" dirty="0"/>
              <a:t>Supports that abortion policy and therefore access could have impacts on crime</a:t>
            </a:r>
          </a:p>
          <a:p>
            <a:r>
              <a:rPr lang="en-US" sz="2000"/>
              <a:t>A study with a more complete data set could potentially produce more certain and significant results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433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3FA46-03CE-63AA-A88B-A1A86002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Further Study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9A741-039F-14C0-EE1F-190BFF636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Effect of </a:t>
            </a:r>
            <a:r>
              <a:rPr lang="en-US" sz="2400" i="1" dirty="0"/>
              <a:t>Dobbs</a:t>
            </a:r>
          </a:p>
          <a:p>
            <a:pPr lvl="1"/>
            <a:r>
              <a:rPr lang="en-US" dirty="0"/>
              <a:t>Expected to be much greater than Casey</a:t>
            </a:r>
          </a:p>
          <a:p>
            <a:pPr lvl="1"/>
            <a:r>
              <a:rPr lang="en-US" dirty="0"/>
              <a:t>Could create grounds for significance and real-world impact</a:t>
            </a:r>
            <a:endParaRPr lang="en-US" i="1" dirty="0"/>
          </a:p>
          <a:p>
            <a:r>
              <a:rPr lang="en-US" sz="2400" dirty="0"/>
              <a:t>Contraceptive access as a predictor</a:t>
            </a:r>
          </a:p>
          <a:p>
            <a:pPr lvl="1"/>
            <a:r>
              <a:rPr lang="en-US" dirty="0"/>
              <a:t>Contraceptive use may be the “new abortion” in preventing unwanted pregnancy</a:t>
            </a:r>
          </a:p>
          <a:p>
            <a:pPr lvl="1"/>
            <a:r>
              <a:rPr lang="en-US" dirty="0"/>
              <a:t>Access to contraception could be the better predictor </a:t>
            </a:r>
          </a:p>
        </p:txBody>
      </p:sp>
    </p:spTree>
    <p:extLst>
      <p:ext uri="{BB962C8B-B14F-4D97-AF65-F5344CB8AC3E}">
        <p14:creationId xmlns:p14="http://schemas.microsoft.com/office/powerpoint/2010/main" val="2824060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CEB91-6FD9-EBE0-BC86-1F77F3A5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Bibliography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455C0-E8C9-FFCA-5C4D-366973FC2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1000"/>
              <a:t>Bureau of Economic Analysis. (n.d.). </a:t>
            </a:r>
            <a:r>
              <a:rPr lang="en-US" sz="1000" i="1"/>
              <a:t>Interactive data tables</a:t>
            </a:r>
            <a:r>
              <a:rPr lang="en-US" sz="1000"/>
              <a:t>. Retrieved April 11, 2026, from </a:t>
            </a:r>
            <a:r>
              <a:rPr lang="en-US" sz="1000">
                <a:hlinkClick r:id="rId2"/>
              </a:rPr>
              <a:t>https://apps.bea.gov/itable/</a:t>
            </a:r>
            <a:endParaRPr lang="en-US" sz="1000"/>
          </a:p>
          <a:p>
            <a:r>
              <a:rPr lang="en-US" sz="1000"/>
              <a:t>Bureau of Labor Statistics. (n.d.). </a:t>
            </a:r>
            <a:r>
              <a:rPr lang="en-US" sz="1000" i="1"/>
              <a:t>State unemployment rates (LAU series)</a:t>
            </a:r>
            <a:r>
              <a:rPr lang="en-US" sz="1000"/>
              <a:t>. Retrieved April 11, 2026, from </a:t>
            </a:r>
            <a:r>
              <a:rPr lang="en-US" sz="1000">
                <a:hlinkClick r:id="rId3"/>
              </a:rPr>
              <a:t>https://www.bls.gov/lau/rdscnp16.htm</a:t>
            </a:r>
            <a:endParaRPr lang="en-US" sz="1000"/>
          </a:p>
          <a:p>
            <a:r>
              <a:rPr lang="en-US" sz="1000"/>
              <a:t>CORGIS Dataset Project. (n.d.). </a:t>
            </a:r>
            <a:r>
              <a:rPr lang="en-US" sz="1000" i="1"/>
              <a:t>State crime dataset</a:t>
            </a:r>
            <a:r>
              <a:rPr lang="en-US" sz="1000"/>
              <a:t>. Retrieved April 11, 2026, from </a:t>
            </a:r>
            <a:r>
              <a:rPr lang="en-US" sz="1000">
                <a:hlinkClick r:id="rId4"/>
              </a:rPr>
              <a:t>https://corgis-edu.github.io/corgis/csv/state_crime/</a:t>
            </a:r>
            <a:endParaRPr lang="en-US" sz="1000"/>
          </a:p>
          <a:p>
            <a:r>
              <a:rPr lang="en-US" sz="1000"/>
              <a:t>Donohue, J. J., &amp; Levitt, S. D. (2001). </a:t>
            </a:r>
            <a:r>
              <a:rPr lang="en-US" sz="1000" i="1"/>
              <a:t>The impact of legalized abortion on crime</a:t>
            </a:r>
            <a:r>
              <a:rPr lang="en-US" sz="1000"/>
              <a:t> (Working paper). University of Chicago. </a:t>
            </a:r>
            <a:r>
              <a:rPr lang="en-US" sz="1000">
                <a:hlinkClick r:id="rId5"/>
              </a:rPr>
              <a:t>https://pricetheory.uchicago.edu/levitt/Papers/DonohueLevittTheImpactOfLegalized2001.pdf</a:t>
            </a:r>
            <a:endParaRPr lang="en-US" sz="1000"/>
          </a:p>
          <a:p>
            <a:r>
              <a:rPr lang="en-US" sz="1000"/>
              <a:t>Federal Bureau of Investigation. (n.d.). </a:t>
            </a:r>
            <a:r>
              <a:rPr lang="en-US" sz="1000" i="1"/>
              <a:t>Crime Data Explorer</a:t>
            </a:r>
            <a:r>
              <a:rPr lang="en-US" sz="1000"/>
              <a:t>. Retrieved April 11, 2026, from </a:t>
            </a:r>
            <a:r>
              <a:rPr lang="en-US" sz="1000">
                <a:hlinkClick r:id="rId6"/>
              </a:rPr>
              <a:t>https://cde.ucr.cjis.gov/LATEST/webapp/#/pages/home</a:t>
            </a:r>
            <a:endParaRPr lang="en-US" sz="1000"/>
          </a:p>
          <a:p>
            <a:r>
              <a:rPr lang="en-US" sz="1000"/>
              <a:t>Guttmacher Institute. (2020, January 24). </a:t>
            </a:r>
            <a:r>
              <a:rPr lang="en-US" sz="1000" i="1"/>
              <a:t>State abortion policy landscape: Hostile and supportive states</a:t>
            </a:r>
            <a:r>
              <a:rPr lang="en-US" sz="1000"/>
              <a:t>. </a:t>
            </a:r>
            <a:r>
              <a:rPr lang="en-US" sz="1000">
                <a:hlinkClick r:id="rId7"/>
              </a:rPr>
              <a:t>https://www.guttmacher.org/sites/default/files/article_files/hostile_and_supportive_state_abortion_laws_1-24-2020.pdf</a:t>
            </a:r>
            <a:endParaRPr lang="en-US" sz="1000"/>
          </a:p>
          <a:p>
            <a:r>
              <a:rPr lang="en-US" sz="1000"/>
              <a:t>Inter-university Consortium for Political and Social Research. (n.d.). </a:t>
            </a:r>
            <a:r>
              <a:rPr lang="en-US" sz="1000" i="1"/>
              <a:t>Arrests by age, sex, and race dataset</a:t>
            </a:r>
            <a:r>
              <a:rPr lang="en-US" sz="1000"/>
              <a:t>. Retrieved April 11, 2026, from </a:t>
            </a:r>
            <a:r>
              <a:rPr lang="en-US" sz="1000">
                <a:hlinkClick r:id="rId8"/>
              </a:rPr>
              <a:t>https://osf.io/kthnf</a:t>
            </a:r>
            <a:endParaRPr lang="en-US" sz="1000"/>
          </a:p>
          <a:p>
            <a:r>
              <a:rPr lang="en-US" sz="1000"/>
              <a:t>Levitt, S. D., &amp; Dubner, S. J. (2005). </a:t>
            </a:r>
            <a:r>
              <a:rPr lang="en-US" sz="1000" i="1"/>
              <a:t>Freakonomics: A rogue economist explores the hidden side of everything</a:t>
            </a:r>
            <a:r>
              <a:rPr lang="en-US" sz="1000"/>
              <a:t>. William Morrow.</a:t>
            </a:r>
          </a:p>
          <a:p>
            <a:r>
              <a:rPr lang="en-US" sz="1000"/>
              <a:t>Oyez. (n.d.). </a:t>
            </a:r>
            <a:r>
              <a:rPr lang="en-US" sz="1000" i="1"/>
              <a:t>Planned Parenthood of Southeastern Pennsylvania v. Casey</a:t>
            </a:r>
            <a:r>
              <a:rPr lang="en-US" sz="1000"/>
              <a:t>. Retrieved April 11, 2026, from </a:t>
            </a:r>
            <a:r>
              <a:rPr lang="en-US" sz="1000">
                <a:hlinkClick r:id="rId9"/>
              </a:rPr>
              <a:t>https://www.oyez.org/cases/1991/91-744</a:t>
            </a:r>
            <a:endParaRPr lang="en-US" sz="1000"/>
          </a:p>
          <a:p>
            <a:r>
              <a:rPr lang="en-US" sz="1000"/>
              <a:t>Planned Parenthood Action Fund. (n.d.). </a:t>
            </a:r>
            <a:r>
              <a:rPr lang="en-US" sz="1000" i="1"/>
              <a:t>Roe v. Wade: Behind the case that established the legal right to abortion</a:t>
            </a:r>
            <a:r>
              <a:rPr lang="en-US" sz="1000"/>
              <a:t>. Retrieved April 11, 2026, from </a:t>
            </a:r>
            <a:r>
              <a:rPr lang="en-US" sz="1000">
                <a:hlinkClick r:id="rId10"/>
              </a:rPr>
              <a:t>https://www.plannedparenthoodaction.org/issues/abortion/roe-v-wade/roe-v-wade-behind-case-established-legal-right-abortion</a:t>
            </a:r>
            <a:endParaRPr lang="en-US" sz="1000"/>
          </a:p>
          <a:p>
            <a:r>
              <a:rPr lang="en-US" sz="1000"/>
              <a:t>U.S. Census Bureau. (n.d.). </a:t>
            </a:r>
            <a:r>
              <a:rPr lang="en-US" sz="1000" i="1"/>
              <a:t>Age, sex, education, income, and race data tables</a:t>
            </a:r>
            <a:r>
              <a:rPr lang="en-US" sz="1000"/>
              <a:t>. Retrieved April 11, 2026, from </a:t>
            </a:r>
            <a:r>
              <a:rPr lang="en-US" sz="1000">
                <a:hlinkClick r:id="rId11"/>
              </a:rPr>
              <a:t>https://data.census.gov/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57106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7672</TotalTime>
  <Words>1434</Words>
  <Application>Microsoft Office PowerPoint</Application>
  <PresentationFormat>Widescreen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Abortion Access and Crime</vt:lpstr>
      <vt:lpstr>The Original Question</vt:lpstr>
      <vt:lpstr>Methodology</vt:lpstr>
      <vt:lpstr>Results</vt:lpstr>
      <vt:lpstr>My Question</vt:lpstr>
      <vt:lpstr>Planned Parenthood v. Casey (1992)</vt:lpstr>
      <vt:lpstr>Collecting Data</vt:lpstr>
      <vt:lpstr>Basic Model Design</vt:lpstr>
      <vt:lpstr>Immediate Issues</vt:lpstr>
      <vt:lpstr>Standard Model</vt:lpstr>
      <vt:lpstr>Robust Model</vt:lpstr>
      <vt:lpstr>Weighted Model</vt:lpstr>
      <vt:lpstr>Comparing Models</vt:lpstr>
      <vt:lpstr>PowerPoint Presentation</vt:lpstr>
      <vt:lpstr>PowerPoint Presentation</vt:lpstr>
      <vt:lpstr>Policy Score Models</vt:lpstr>
      <vt:lpstr>Policy Score Models (continued)</vt:lpstr>
      <vt:lpstr>PowerPoint Presentation</vt:lpstr>
      <vt:lpstr>Results</vt:lpstr>
      <vt:lpstr>Possible Theoretical Explanations</vt:lpstr>
      <vt:lpstr>Limitations</vt:lpstr>
      <vt:lpstr>Conclusions</vt:lpstr>
      <vt:lpstr>Further Study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Perkins, Jack</dc:creator>
  <cp:lastModifiedBy>Perkins, Jack</cp:lastModifiedBy>
  <cp:revision>17</cp:revision>
  <dcterms:created xsi:type="dcterms:W3CDTF">2026-03-18T15:29:09Z</dcterms:created>
  <dcterms:modified xsi:type="dcterms:W3CDTF">2026-04-21T16:31:24Z</dcterms:modified>
</cp:coreProperties>
</file>