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6" r:id="rId5"/>
    <p:sldId id="260" r:id="rId6"/>
    <p:sldId id="261" r:id="rId7"/>
    <p:sldId id="269" r:id="rId8"/>
    <p:sldId id="262" r:id="rId9"/>
    <p:sldId id="267" r:id="rId10"/>
    <p:sldId id="263" r:id="rId11"/>
    <p:sldId id="264" r:id="rId12"/>
    <p:sldId id="265" r:id="rId13"/>
    <p:sldId id="270"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026B90-1FAD-4C5F-85F9-AC55D2FAB638}" v="10" dt="2026-03-03T01:46:45.4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9619" autoAdjust="0"/>
  </p:normalViewPr>
  <p:slideViewPr>
    <p:cSldViewPr snapToGrid="0" snapToObjects="1">
      <p:cViewPr varScale="1">
        <p:scale>
          <a:sx n="77" d="100"/>
          <a:sy n="77"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okey, Sara" userId="bd057736-139a-4e50-b7a8-8b20b5b656a6" providerId="ADAL" clId="{182D4DF8-EFF3-4D29-B09C-C915B3ECB5C7}"/>
    <pc:docChg chg="custSel modSld">
      <pc:chgData name="Clokey, Sara" userId="bd057736-139a-4e50-b7a8-8b20b5b656a6" providerId="ADAL" clId="{182D4DF8-EFF3-4D29-B09C-C915B3ECB5C7}" dt="2026-03-03T03:01:30.114" v="6760" actId="20577"/>
      <pc:docMkLst>
        <pc:docMk/>
      </pc:docMkLst>
      <pc:sldChg chg="modNotesTx">
        <pc:chgData name="Clokey, Sara" userId="bd057736-139a-4e50-b7a8-8b20b5b656a6" providerId="ADAL" clId="{182D4DF8-EFF3-4D29-B09C-C915B3ECB5C7}" dt="2026-03-03T03:01:10.998" v="6723" actId="20577"/>
        <pc:sldMkLst>
          <pc:docMk/>
          <pc:sldMk cId="0" sldId="256"/>
        </pc:sldMkLst>
      </pc:sldChg>
      <pc:sldChg chg="modNotesTx">
        <pc:chgData name="Clokey, Sara" userId="bd057736-139a-4e50-b7a8-8b20b5b656a6" providerId="ADAL" clId="{182D4DF8-EFF3-4D29-B09C-C915B3ECB5C7}" dt="2026-03-03T00:35:48.351" v="104" actId="20577"/>
        <pc:sldMkLst>
          <pc:docMk/>
          <pc:sldMk cId="0" sldId="257"/>
        </pc:sldMkLst>
      </pc:sldChg>
      <pc:sldChg chg="modNotesTx">
        <pc:chgData name="Clokey, Sara" userId="bd057736-139a-4e50-b7a8-8b20b5b656a6" providerId="ADAL" clId="{182D4DF8-EFF3-4D29-B09C-C915B3ECB5C7}" dt="2026-03-03T00:37:41.480" v="310" actId="20577"/>
        <pc:sldMkLst>
          <pc:docMk/>
          <pc:sldMk cId="0" sldId="258"/>
        </pc:sldMkLst>
      </pc:sldChg>
      <pc:sldChg chg="delSp modSp mod modNotesTx">
        <pc:chgData name="Clokey, Sara" userId="bd057736-139a-4e50-b7a8-8b20b5b656a6" providerId="ADAL" clId="{182D4DF8-EFF3-4D29-B09C-C915B3ECB5C7}" dt="2026-03-03T02:19:15.728" v="1748" actId="20577"/>
        <pc:sldMkLst>
          <pc:docMk/>
          <pc:sldMk cId="0" sldId="260"/>
        </pc:sldMkLst>
        <pc:spChg chg="del">
          <ac:chgData name="Clokey, Sara" userId="bd057736-139a-4e50-b7a8-8b20b5b656a6" providerId="ADAL" clId="{182D4DF8-EFF3-4D29-B09C-C915B3ECB5C7}" dt="2026-03-03T02:19:06.502" v="1743" actId="478"/>
          <ac:spMkLst>
            <pc:docMk/>
            <pc:sldMk cId="0" sldId="260"/>
            <ac:spMk id="33" creationId="{00000000-0000-0000-0000-000000000000}"/>
          </ac:spMkLst>
        </pc:spChg>
        <pc:spChg chg="mod">
          <ac:chgData name="Clokey, Sara" userId="bd057736-139a-4e50-b7a8-8b20b5b656a6" providerId="ADAL" clId="{182D4DF8-EFF3-4D29-B09C-C915B3ECB5C7}" dt="2026-03-03T02:19:05.009" v="1742" actId="6549"/>
          <ac:spMkLst>
            <pc:docMk/>
            <pc:sldMk cId="0" sldId="260"/>
            <ac:spMk id="34" creationId="{00000000-0000-0000-0000-000000000000}"/>
          </ac:spMkLst>
        </pc:spChg>
      </pc:sldChg>
      <pc:sldChg chg="modNotesTx">
        <pc:chgData name="Clokey, Sara" userId="bd057736-139a-4e50-b7a8-8b20b5b656a6" providerId="ADAL" clId="{182D4DF8-EFF3-4D29-B09C-C915B3ECB5C7}" dt="2026-03-03T02:32:34.209" v="3748" actId="20577"/>
        <pc:sldMkLst>
          <pc:docMk/>
          <pc:sldMk cId="0" sldId="261"/>
        </pc:sldMkLst>
      </pc:sldChg>
      <pc:sldChg chg="modSp mod modNotesTx">
        <pc:chgData name="Clokey, Sara" userId="bd057736-139a-4e50-b7a8-8b20b5b656a6" providerId="ADAL" clId="{182D4DF8-EFF3-4D29-B09C-C915B3ECB5C7}" dt="2026-03-03T02:45:09.838" v="5689" actId="20577"/>
        <pc:sldMkLst>
          <pc:docMk/>
          <pc:sldMk cId="0" sldId="262"/>
        </pc:sldMkLst>
        <pc:spChg chg="mod">
          <ac:chgData name="Clokey, Sara" userId="bd057736-139a-4e50-b7a8-8b20b5b656a6" providerId="ADAL" clId="{182D4DF8-EFF3-4D29-B09C-C915B3ECB5C7}" dt="2026-03-03T02:34:31.427" v="3984" actId="20577"/>
          <ac:spMkLst>
            <pc:docMk/>
            <pc:sldMk cId="0" sldId="262"/>
            <ac:spMk id="7" creationId="{00000000-0000-0000-0000-000000000000}"/>
          </ac:spMkLst>
        </pc:spChg>
        <pc:spChg chg="mod">
          <ac:chgData name="Clokey, Sara" userId="bd057736-139a-4e50-b7a8-8b20b5b656a6" providerId="ADAL" clId="{182D4DF8-EFF3-4D29-B09C-C915B3ECB5C7}" dt="2026-03-03T02:34:48.134" v="3994" actId="20577"/>
          <ac:spMkLst>
            <pc:docMk/>
            <pc:sldMk cId="0" sldId="262"/>
            <ac:spMk id="11" creationId="{00000000-0000-0000-0000-000000000000}"/>
          </ac:spMkLst>
        </pc:spChg>
        <pc:spChg chg="mod">
          <ac:chgData name="Clokey, Sara" userId="bd057736-139a-4e50-b7a8-8b20b5b656a6" providerId="ADAL" clId="{182D4DF8-EFF3-4D29-B09C-C915B3ECB5C7}" dt="2026-03-03T02:34:57.610" v="4001" actId="20577"/>
          <ac:spMkLst>
            <pc:docMk/>
            <pc:sldMk cId="0" sldId="262"/>
            <ac:spMk id="15" creationId="{00000000-0000-0000-0000-000000000000}"/>
          </ac:spMkLst>
        </pc:spChg>
        <pc:spChg chg="mod">
          <ac:chgData name="Clokey, Sara" userId="bd057736-139a-4e50-b7a8-8b20b5b656a6" providerId="ADAL" clId="{182D4DF8-EFF3-4D29-B09C-C915B3ECB5C7}" dt="2026-03-03T02:35:16.250" v="4007" actId="20577"/>
          <ac:spMkLst>
            <pc:docMk/>
            <pc:sldMk cId="0" sldId="262"/>
            <ac:spMk id="19" creationId="{00000000-0000-0000-0000-000000000000}"/>
          </ac:spMkLst>
        </pc:spChg>
        <pc:spChg chg="mod">
          <ac:chgData name="Clokey, Sara" userId="bd057736-139a-4e50-b7a8-8b20b5b656a6" providerId="ADAL" clId="{182D4DF8-EFF3-4D29-B09C-C915B3ECB5C7}" dt="2026-03-03T02:35:27.855" v="4016" actId="20577"/>
          <ac:spMkLst>
            <pc:docMk/>
            <pc:sldMk cId="0" sldId="262"/>
            <ac:spMk id="23" creationId="{00000000-0000-0000-0000-000000000000}"/>
          </ac:spMkLst>
        </pc:spChg>
      </pc:sldChg>
      <pc:sldChg chg="modSp mod modNotesTx">
        <pc:chgData name="Clokey, Sara" userId="bd057736-139a-4e50-b7a8-8b20b5b656a6" providerId="ADAL" clId="{182D4DF8-EFF3-4D29-B09C-C915B3ECB5C7}" dt="2026-03-03T02:56:15.144" v="6194" actId="1076"/>
        <pc:sldMkLst>
          <pc:docMk/>
          <pc:sldMk cId="0" sldId="263"/>
        </pc:sldMkLst>
        <pc:spChg chg="mod">
          <ac:chgData name="Clokey, Sara" userId="bd057736-139a-4e50-b7a8-8b20b5b656a6" providerId="ADAL" clId="{182D4DF8-EFF3-4D29-B09C-C915B3ECB5C7}" dt="2026-03-03T02:56:15.144" v="6194" actId="1076"/>
          <ac:spMkLst>
            <pc:docMk/>
            <pc:sldMk cId="0" sldId="263"/>
            <ac:spMk id="24" creationId="{00000000-0000-0000-0000-000000000000}"/>
          </ac:spMkLst>
        </pc:spChg>
      </pc:sldChg>
      <pc:sldChg chg="modSp mod modNotesTx">
        <pc:chgData name="Clokey, Sara" userId="bd057736-139a-4e50-b7a8-8b20b5b656a6" providerId="ADAL" clId="{182D4DF8-EFF3-4D29-B09C-C915B3ECB5C7}" dt="2026-03-03T02:59:09.330" v="6414" actId="20577"/>
        <pc:sldMkLst>
          <pc:docMk/>
          <pc:sldMk cId="0" sldId="264"/>
        </pc:sldMkLst>
        <pc:spChg chg="mod">
          <ac:chgData name="Clokey, Sara" userId="bd057736-139a-4e50-b7a8-8b20b5b656a6" providerId="ADAL" clId="{182D4DF8-EFF3-4D29-B09C-C915B3ECB5C7}" dt="2026-03-03T02:58:41.952" v="6376" actId="20577"/>
          <ac:spMkLst>
            <pc:docMk/>
            <pc:sldMk cId="0" sldId="264"/>
            <ac:spMk id="7" creationId="{00000000-0000-0000-0000-000000000000}"/>
          </ac:spMkLst>
        </pc:spChg>
        <pc:spChg chg="mod">
          <ac:chgData name="Clokey, Sara" userId="bd057736-139a-4e50-b7a8-8b20b5b656a6" providerId="ADAL" clId="{182D4DF8-EFF3-4D29-B09C-C915B3ECB5C7}" dt="2026-03-03T02:58:33.576" v="6372" actId="20577"/>
          <ac:spMkLst>
            <pc:docMk/>
            <pc:sldMk cId="0" sldId="264"/>
            <ac:spMk id="19" creationId="{00000000-0000-0000-0000-000000000000}"/>
          </ac:spMkLst>
        </pc:spChg>
      </pc:sldChg>
      <pc:sldChg chg="modNotesTx">
        <pc:chgData name="Clokey, Sara" userId="bd057736-139a-4e50-b7a8-8b20b5b656a6" providerId="ADAL" clId="{182D4DF8-EFF3-4D29-B09C-C915B3ECB5C7}" dt="2026-03-03T03:00:11.894" v="6538" actId="20577"/>
        <pc:sldMkLst>
          <pc:docMk/>
          <pc:sldMk cId="0" sldId="265"/>
        </pc:sldMkLst>
      </pc:sldChg>
      <pc:sldChg chg="modNotesTx">
        <pc:chgData name="Clokey, Sara" userId="bd057736-139a-4e50-b7a8-8b20b5b656a6" providerId="ADAL" clId="{182D4DF8-EFF3-4D29-B09C-C915B3ECB5C7}" dt="2026-03-03T01:44:41.190" v="569" actId="20577"/>
        <pc:sldMkLst>
          <pc:docMk/>
          <pc:sldMk cId="0" sldId="266"/>
        </pc:sldMkLst>
      </pc:sldChg>
      <pc:sldChg chg="delSp modSp mod modNotesTx">
        <pc:chgData name="Clokey, Sara" userId="bd057736-139a-4e50-b7a8-8b20b5b656a6" providerId="ADAL" clId="{182D4DF8-EFF3-4D29-B09C-C915B3ECB5C7}" dt="2026-03-03T02:54:30.568" v="6088" actId="20577"/>
        <pc:sldMkLst>
          <pc:docMk/>
          <pc:sldMk cId="911459560" sldId="267"/>
        </pc:sldMkLst>
        <pc:spChg chg="mod">
          <ac:chgData name="Clokey, Sara" userId="bd057736-139a-4e50-b7a8-8b20b5b656a6" providerId="ADAL" clId="{182D4DF8-EFF3-4D29-B09C-C915B3ECB5C7}" dt="2026-03-03T00:28:04.723" v="9" actId="1076"/>
          <ac:spMkLst>
            <pc:docMk/>
            <pc:sldMk cId="911459560" sldId="267"/>
            <ac:spMk id="4" creationId="{44540D90-517F-F78A-8B61-484C45C2119C}"/>
          </ac:spMkLst>
        </pc:spChg>
        <pc:spChg chg="del">
          <ac:chgData name="Clokey, Sara" userId="bd057736-139a-4e50-b7a8-8b20b5b656a6" providerId="ADAL" clId="{182D4DF8-EFF3-4D29-B09C-C915B3ECB5C7}" dt="2026-03-03T00:28:02.168" v="8" actId="478"/>
          <ac:spMkLst>
            <pc:docMk/>
            <pc:sldMk cId="911459560" sldId="267"/>
            <ac:spMk id="5" creationId="{AA3C606A-E50B-7588-1790-9C904191B887}"/>
          </ac:spMkLst>
        </pc:spChg>
      </pc:sldChg>
      <pc:sldChg chg="modNotesTx">
        <pc:chgData name="Clokey, Sara" userId="bd057736-139a-4e50-b7a8-8b20b5b656a6" providerId="ADAL" clId="{182D4DF8-EFF3-4D29-B09C-C915B3ECB5C7}" dt="2026-03-03T02:33:36.048" v="3956" actId="20577"/>
        <pc:sldMkLst>
          <pc:docMk/>
          <pc:sldMk cId="0" sldId="269"/>
        </pc:sldMkLst>
      </pc:sldChg>
      <pc:sldChg chg="modNotesTx">
        <pc:chgData name="Clokey, Sara" userId="bd057736-139a-4e50-b7a8-8b20b5b656a6" providerId="ADAL" clId="{182D4DF8-EFF3-4D29-B09C-C915B3ECB5C7}" dt="2026-03-03T03:01:30.114" v="6760" actId="20577"/>
        <pc:sldMkLst>
          <pc:docMk/>
          <pc:sldMk cId="106440127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7419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I’m really excited to talk about how to build interactive apps with R Shiny</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is something that I’m relatively new to, but I’ve seen it used in my professional field quite a bit and thought this topic presentation would be a great way to learn more about R Shiny apps and then share that knowledge</a:t>
            </a:r>
          </a:p>
          <a:p>
            <a:endParaRPr lang="en-US" dirty="0"/>
          </a:p>
          <a:p>
            <a:r>
              <a:rPr lang="en-US" dirty="0"/>
              <a:t>I'm using a project I built this semester as the running example here: a pitcher analytics dashboard for UConn Baseball built from Trackman data collected this past fall. I’ve made this project, as well as the rest of this presentation, available on the class GitHub page if you would like to explore further.</a:t>
            </a:r>
          </a:p>
          <a:p>
            <a:endParaRPr lang="en-US" dirty="0"/>
          </a:p>
          <a:p>
            <a:r>
              <a:rPr lang="en-US" dirty="0"/>
              <a:t>By the end of this presentation, I hope you’ll have a better understanding of what Shiny is, how it's structured, how to deploy it, and when you might want to use it yourself.</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why Shiny exists and what problem it solves. Then we'll dig into the three key components: the UI, the Server, and the reactive system that connects them.</a:t>
            </a:r>
          </a:p>
          <a:p>
            <a:endParaRPr lang="en-US" dirty="0"/>
          </a:p>
          <a:p>
            <a:r>
              <a:rPr lang="en-US" dirty="0"/>
              <a:t>After the conceptual stuff, I'll walk through the actual code from the baseball app, show you how to deploy to the web, and then demo the live app. We'll close with other use cases and some honest limitations.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identify the problem. Imagine you've done a great analysis in R — you've got plots, tables, filters etc. But your stakeholder is a baseball coach, or a CEO, or a marketing director that doesn’t use R. You could send them a PDF, but the second you update the data, it's stale. You could share your R script, but that's not realistic.</a:t>
            </a:r>
          </a:p>
          <a:p>
            <a:endParaRPr lang="en-US" dirty="0"/>
          </a:p>
          <a:p>
            <a:r>
              <a:rPr lang="en-US" dirty="0"/>
              <a:t>The core issue with static analysis is that it puts all the burden on you. Every time someone wants to look at a different lens, or filter by a specific date range, you have to re-run the code and regenerate everything.</a:t>
            </a:r>
          </a:p>
          <a:p>
            <a:endParaRPr lang="en-US" dirty="0"/>
          </a:p>
          <a:p>
            <a:r>
              <a:rPr lang="en-US" dirty="0"/>
              <a:t>Shiny solves this by letting you use your existing R code to create an interactive web app. And you're writing pure R (or Python, if you feel more comfortable using that software) the whole time. No HTML, no JavaScript, no CSS required. It also works well with ggplot2, dplyr, and the rest of the tidyverse. It’s also free and open source, which makes it more accessible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Shiny app has three components, which can be thought of as three layers that each have one clear job and collaborate to create the final product.</a:t>
            </a:r>
          </a:p>
          <a:p>
            <a:endParaRPr lang="en-US" dirty="0"/>
          </a:p>
          <a:p>
            <a:r>
              <a:rPr lang="en-US" dirty="0"/>
              <a:t>The UI is what gets displayed in the browser, defined entirely in R. It has two jobs: first, lay out the controls that let users make choices, like the pitcher dropdown or the game picker you’ll see in my baseball app example. Second, reserve space on the page for outputs like plots, tables, and text using placeholder functions like </a:t>
            </a:r>
            <a:r>
              <a:rPr lang="en-US" dirty="0" err="1"/>
              <a:t>plotOutput</a:t>
            </a:r>
            <a:r>
              <a:rPr lang="en-US" dirty="0"/>
              <a:t>. </a:t>
            </a:r>
          </a:p>
          <a:p>
            <a:endParaRPr lang="en-US" dirty="0"/>
          </a:p>
          <a:p>
            <a:r>
              <a:rPr lang="en-US" dirty="0"/>
              <a:t>The Server is where your R code actually runs. It's a function that receives the user's choices as inputs and sends results back as outputs. The most important concept here is reactivity: the server doesn't just run once. The moment a user changes the pitcher dropdown, the server notices, re-runs the relevant code, and automatically refreshes the plot. You don't write any code to make that happen, Shiny's reactive system simply handles it for you.</a:t>
            </a:r>
          </a:p>
          <a:p>
            <a:endParaRPr lang="en-US" dirty="0"/>
          </a:p>
          <a:p>
            <a:r>
              <a:rPr lang="en-US" dirty="0"/>
              <a:t>And </a:t>
            </a:r>
            <a:r>
              <a:rPr lang="en-US" dirty="0" err="1"/>
              <a:t>shinyApp</a:t>
            </a:r>
            <a:r>
              <a:rPr lang="en-US" dirty="0"/>
              <a:t>() is just one line at the bottom of your script that hands both the UI and the server to Shiny and locally it opens in your browser. When you're ready for others to use it, you deploy it using the Shiny app website and anyone with the link can open it without installing 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the UI looks like in actual code. Everything on the left side of the screen in our app — the pitcher dropdown, the game picker, the batter hand filter — that all comes from the UI. And everything on the right, the plots, the tabs, those are output placeholders the UI reserves space for.</a:t>
            </a:r>
          </a:p>
          <a:p>
            <a:endParaRPr lang="en-US" dirty="0"/>
          </a:p>
          <a:p>
            <a:r>
              <a:rPr lang="en-US" dirty="0"/>
              <a:t>The overarching function here is </a:t>
            </a:r>
            <a:r>
              <a:rPr lang="en-US" dirty="0" err="1"/>
              <a:t>page_sidebar</a:t>
            </a:r>
            <a:r>
              <a:rPr lang="en-US" dirty="0"/>
              <a:t>. This is the layout function that splits the screen into two columns: sidebar on the left for controls and the main panel on the right for outputs. This function builds the skeleton of the app.</a:t>
            </a:r>
          </a:p>
          <a:p>
            <a:endParaRPr lang="en-US" dirty="0"/>
          </a:p>
          <a:p>
            <a:r>
              <a:rPr lang="en-US" dirty="0"/>
              <a:t>Inside the sidebar, there are three input widgets: </a:t>
            </a:r>
            <a:r>
              <a:rPr lang="en-US" dirty="0" err="1"/>
              <a:t>selectInput</a:t>
            </a:r>
            <a:r>
              <a:rPr lang="en-US" dirty="0"/>
              <a:t> for the pitcher, </a:t>
            </a:r>
            <a:r>
              <a:rPr lang="en-US" dirty="0" err="1"/>
              <a:t>pickerInput</a:t>
            </a:r>
            <a:r>
              <a:rPr lang="en-US" dirty="0"/>
              <a:t> for the game, and </a:t>
            </a:r>
            <a:r>
              <a:rPr lang="en-US" dirty="0" err="1"/>
              <a:t>pickerInput</a:t>
            </a:r>
            <a:r>
              <a:rPr lang="en-US" dirty="0"/>
              <a:t> for batter handedness. Each of these widgets gets its own ID – “</a:t>
            </a:r>
            <a:r>
              <a:rPr lang="en-US" dirty="0" err="1"/>
              <a:t>PitcherInput</a:t>
            </a:r>
            <a:r>
              <a:rPr lang="en-US" dirty="0"/>
              <a:t>,” “</a:t>
            </a:r>
            <a:r>
              <a:rPr lang="en-US" dirty="0" err="1"/>
              <a:t>GameInput</a:t>
            </a:r>
            <a:r>
              <a:rPr lang="en-US" dirty="0"/>
              <a:t>,” and “</a:t>
            </a:r>
            <a:r>
              <a:rPr lang="en-US" dirty="0" err="1"/>
              <a:t>BatterHand</a:t>
            </a:r>
            <a:r>
              <a:rPr lang="en-US" dirty="0"/>
              <a:t>.” These IDs are what the server will use later to call the correct information.</a:t>
            </a:r>
          </a:p>
          <a:p>
            <a:endParaRPr lang="en-US" dirty="0"/>
          </a:p>
          <a:p>
            <a:r>
              <a:rPr lang="en-US" dirty="0"/>
              <a:t>The </a:t>
            </a:r>
            <a:r>
              <a:rPr lang="en-US" dirty="0" err="1"/>
              <a:t>navset_tab</a:t>
            </a:r>
            <a:r>
              <a:rPr lang="en-US" dirty="0"/>
              <a:t> function creates the tab bar on the top of the right-hand side of the app where the outputs go. There are output placeholders here: the </a:t>
            </a:r>
            <a:r>
              <a:rPr lang="en-US" dirty="0" err="1"/>
              <a:t>plotOutput</a:t>
            </a:r>
            <a:r>
              <a:rPr lang="en-US" dirty="0"/>
              <a:t> for movement and </a:t>
            </a:r>
            <a:r>
              <a:rPr lang="en-US" dirty="0" err="1"/>
              <a:t>tableOutput</a:t>
            </a:r>
            <a:r>
              <a:rPr lang="en-US" dirty="0"/>
              <a:t> for metrics, for example, are entered in this </a:t>
            </a:r>
            <a:r>
              <a:rPr lang="en-US" dirty="0" err="1"/>
              <a:t>navset_tab</a:t>
            </a:r>
            <a:r>
              <a:rPr lang="en-US" dirty="0"/>
              <a:t> as placeholders for those outputs that will be created on the server side.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reached the server. This is where the actual computation happens: the user does not interact with the code, but the app experience is driven by it behind the scenes. </a:t>
            </a:r>
          </a:p>
          <a:p>
            <a:endParaRPr lang="en-US" dirty="0"/>
          </a:p>
          <a:p>
            <a:r>
              <a:rPr lang="en-US" dirty="0"/>
              <a:t>The server is a function with three arguments: input, output, and session. Input is where the user’s choices for pitcher, game, and batter handedness come in. Output is where the results are sent back out. Session manages the connection between the two.</a:t>
            </a:r>
          </a:p>
          <a:p>
            <a:endParaRPr lang="en-US" dirty="0"/>
          </a:p>
          <a:p>
            <a:r>
              <a:rPr lang="en-US" dirty="0"/>
              <a:t>The example code here is for the movement scatter plot, which is called with </a:t>
            </a:r>
            <a:r>
              <a:rPr lang="en-US" dirty="0" err="1"/>
              <a:t>output$movement</a:t>
            </a:r>
            <a:r>
              <a:rPr lang="en-US" dirty="0"/>
              <a:t> – this will match the </a:t>
            </a:r>
            <a:r>
              <a:rPr lang="en-US" dirty="0" err="1"/>
              <a:t>plotOutput</a:t>
            </a:r>
            <a:r>
              <a:rPr lang="en-US" dirty="0"/>
              <a:t>(‘movement’) code from the UI tab section. This is assigned as a </a:t>
            </a:r>
            <a:r>
              <a:rPr lang="en-US" dirty="0" err="1"/>
              <a:t>renderPlot</a:t>
            </a:r>
            <a:r>
              <a:rPr lang="en-US" dirty="0"/>
              <a:t> call, telling Shiny that is output is a plot that needs to be created. Whenever something changes and that change is included in this movement plot, Shiny will automatically re-run this black and redraw the chart. </a:t>
            </a:r>
          </a:p>
          <a:p>
            <a:endParaRPr lang="en-US" dirty="0"/>
          </a:p>
          <a:p>
            <a:r>
              <a:rPr lang="en-US" dirty="0"/>
              <a:t>Inside the </a:t>
            </a:r>
            <a:r>
              <a:rPr lang="en-US" dirty="0" err="1"/>
              <a:t>renderPlot</a:t>
            </a:r>
            <a:r>
              <a:rPr lang="en-US" dirty="0"/>
              <a:t> section, there is a reactive expression called </a:t>
            </a:r>
            <a:r>
              <a:rPr lang="en-US" dirty="0" err="1"/>
              <a:t>dataFilter</a:t>
            </a:r>
            <a:r>
              <a:rPr lang="en-US" dirty="0"/>
              <a:t>. This expression takes the full data and keeps only the rows matching the selected pitcher, game, and batter handedness. The reactivity comes into play because this expression understands when any of those three inputs change and will re-run the movement outputs so they’re updated. Shiny reactivity is lazy, meaning that it doesn’t immediately re-run everything as soon as a single input changes. Instead, it waits until something needs the new result and runs only then. This keeps the app running quickly even when there are several tabs and outputs, and it’s done completely automatically. When </a:t>
            </a:r>
            <a:r>
              <a:rPr lang="en-US" dirty="0" err="1"/>
              <a:t>input$PitcherInput</a:t>
            </a:r>
            <a:r>
              <a:rPr lang="en-US" dirty="0"/>
              <a:t>, for example, is included in this reactive function, Shiny recognizes it as a dependency of the function and will re-run outputs accordingly.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one of Shiny's biggest advantages — it’s very straightforward. First, you go to shinyapps.io and create a free account. The free tier gives you five apps and 25 active hours a month, which is more than enough for a class project or portfolio piece.</a:t>
            </a:r>
          </a:p>
          <a:p>
            <a:endParaRPr lang="en-US" dirty="0"/>
          </a:p>
          <a:p>
            <a:r>
              <a:rPr lang="en-US" dirty="0"/>
              <a:t>Then, you install the rsconnect package in R, then go to Tools → Global Options → Publishing → Connect in RStudio and paste in your account token and secret from the shinyapps.io page. You only do this once.</a:t>
            </a:r>
          </a:p>
          <a:p>
            <a:endParaRPr lang="en-US" dirty="0"/>
          </a:p>
          <a:p>
            <a:r>
              <a:rPr lang="en-US" dirty="0"/>
              <a:t>Next, you with your </a:t>
            </a:r>
            <a:r>
              <a:rPr lang="en-US" dirty="0" err="1"/>
              <a:t>app.R</a:t>
            </a:r>
            <a:r>
              <a:rPr lang="en-US" dirty="0"/>
              <a:t> file open in R Studio, click the blue Publish button in the top right of the RStudio editor. Select your account, give the app a name, and hit Publish. RStudio bundles all your files and uploads them to create a live public URL that anyone with a browser can 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opening the app, let me quickly walk through what each tab shows.</a:t>
            </a:r>
          </a:p>
          <a:p>
            <a:endParaRPr lang="en-US" dirty="0"/>
          </a:p>
          <a:p>
            <a:r>
              <a:rPr lang="en-US" dirty="0"/>
              <a:t>The first tab is movement and metrics, demonstrating how much a pitch breaks horizontally and how much it drops vertically. This scatter plot puts every pitch thrown based on these movement profiles, colored by pitch type. You can see how a pitcher’s pitches are clustering in various locations.</a:t>
            </a:r>
          </a:p>
          <a:p>
            <a:endParaRPr lang="en-US" dirty="0"/>
          </a:p>
          <a:p>
            <a:r>
              <a:rPr lang="en-US" dirty="0"/>
              <a:t>The spin clock tab uses a circular chart, like a clock faced, to show the average spin axis for each pitch type. </a:t>
            </a:r>
          </a:p>
          <a:p>
            <a:endParaRPr lang="en-US" dirty="0"/>
          </a:p>
          <a:p>
            <a:r>
              <a:rPr lang="en-US" dirty="0"/>
              <a:t>The velocity distribution tab includes density plots for each pitch type with the average velocity labeled. The amount of separation demonstrates the difference in speed overlap based on pitch type.</a:t>
            </a:r>
          </a:p>
          <a:p>
            <a:endParaRPr lang="en-US" dirty="0"/>
          </a:p>
          <a:p>
            <a:r>
              <a:rPr lang="en-US" dirty="0"/>
              <a:t>The pitch location tab displays where each pitch is ending up in the zone: the darker the color, the more often the pitches land there. </a:t>
            </a:r>
          </a:p>
          <a:p>
            <a:endParaRPr lang="en-US" dirty="0"/>
          </a:p>
          <a:p>
            <a:r>
              <a:rPr lang="en-US" dirty="0"/>
              <a:t>The final tab has three strike zone plots: whiffs, chases, and called strikes. Whiffs include all swings and misses, chases include swings &amp; misses out of the zone, and called strikes are in the zone but not swung at.</a:t>
            </a:r>
          </a:p>
          <a:p>
            <a:endParaRPr lang="en-US" dirty="0"/>
          </a:p>
          <a:p>
            <a:r>
              <a:rPr lang="en-US" dirty="0"/>
              <a:t>All 5 of these tabs will update when the pitch, game, or batter handedness filters are changed in the sidebar. It’s less important to understand these specific charts and what they mean in a baseball-specific context, and more important to understand how the UI and server code discussed before translates to the live app.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28B83-C7DF-3EFB-4675-89DEF2E5E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09E47-45CA-3608-CD1C-A96E36646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8B719-748B-9777-7AAB-D03346685517}"/>
              </a:ext>
            </a:extLst>
          </p:cNvPr>
          <p:cNvSpPr>
            <a:spLocks noGrp="1"/>
          </p:cNvSpPr>
          <p:nvPr>
            <p:ph type="body" idx="1"/>
          </p:nvPr>
        </p:nvSpPr>
        <p:spPr/>
        <p:txBody>
          <a:bodyPr/>
          <a:lstStyle/>
          <a:p>
            <a:r>
              <a:rPr lang="en-US" dirty="0"/>
              <a:t>Let's look at the live app. [Open browser to https://sara-clokey.shinyapps.io/uconn-pitchers/]</a:t>
            </a:r>
          </a:p>
          <a:p>
            <a:endParaRPr lang="en-US" dirty="0"/>
          </a:p>
          <a:p>
            <a:r>
              <a:rPr lang="en-US" dirty="0"/>
              <a:t>The UI code creates the sidebar you see here, where users select pitchers, game, and batter handedness.</a:t>
            </a:r>
          </a:p>
          <a:p>
            <a:endParaRPr lang="en-US" dirty="0"/>
          </a:p>
          <a:p>
            <a:r>
              <a:rPr lang="en-US" dirty="0"/>
              <a:t>The server code creates the correct outputs and places them on the webpage based on the placeholders built into the UI code. </a:t>
            </a:r>
          </a:p>
          <a:p>
            <a:endParaRPr lang="en-US" dirty="0"/>
          </a:p>
          <a:p>
            <a:r>
              <a:rPr lang="en-US" dirty="0"/>
              <a:t>The plots on the right update in real time based on selected inputs on the left.</a:t>
            </a:r>
          </a:p>
        </p:txBody>
      </p:sp>
      <p:sp>
        <p:nvSpPr>
          <p:cNvPr id="4" name="Slide Number Placeholder 3">
            <a:extLst>
              <a:ext uri="{FF2B5EF4-FFF2-40B4-BE49-F238E27FC236}">
                <a16:creationId xmlns:a16="http://schemas.microsoft.com/office/drawing/2014/main" id="{E6F760AA-4F32-4208-8812-EFFCF1D237A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441197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baseball app is one example but Shiny works anywhere you have data and a non-technical audience.</a:t>
            </a:r>
          </a:p>
          <a:p>
            <a:endParaRPr lang="en-US" dirty="0"/>
          </a:p>
          <a:p>
            <a:r>
              <a:rPr lang="en-US" dirty="0"/>
              <a:t>In sports analytics, teams use Shiny for scouting dashboards, shot charts, and game-by-game trend viewers. In public health, researchers build epidemiological explorers where you can filter by region or demographic to watch disease spread over time.</a:t>
            </a:r>
          </a:p>
          <a:p>
            <a:endParaRPr lang="en-US" dirty="0"/>
          </a:p>
          <a:p>
            <a:r>
              <a:rPr lang="en-US" dirty="0"/>
              <a:t>Business teams use it for KPI dashboards and forecasting tools. Academics build model diagnostic viewers and survey explorers. In education it's great for demonstrating dynamic concepts interactively.</a:t>
            </a:r>
          </a:p>
          <a:p>
            <a:endParaRPr lang="en-US" dirty="0"/>
          </a:p>
          <a:p>
            <a:r>
              <a:rPr lang="en-US" dirty="0"/>
              <a:t>The common thread is: you have an R analysis, and someone who can't or won't run R needs to interact with it.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Shiny is great but it has real limitations you should know before using it.</a:t>
            </a:r>
          </a:p>
          <a:p>
            <a:endParaRPr lang="en-US" dirty="0"/>
          </a:p>
          <a:p>
            <a:r>
              <a:rPr lang="en-US" dirty="0"/>
              <a:t>Perhaps most significant, the free shinyapps.io tier has limited scalability. If you're building something that needs to handle lots of concurrent users, you'll need Posit Connect or other paid hosting solutions. The free tier is fine for sharing with a class or a coaching staff, not for a public-facing app with thousands of users.</a:t>
            </a:r>
          </a:p>
          <a:p>
            <a:endParaRPr lang="en-US" dirty="0"/>
          </a:p>
          <a:p>
            <a:r>
              <a:rPr lang="en-US" dirty="0"/>
              <a:t>Performance can be slow because every reactive update can re-run your full data pipeline. If you're working with a large dataset, the app can move sluggishly. There are some solutions to this, like connecting to a database instead of  a CSV or pre-aggregating data, but it’s an important consideration.</a:t>
            </a:r>
          </a:p>
          <a:p>
            <a:endParaRPr lang="en-US" dirty="0"/>
          </a:p>
          <a:p>
            <a:r>
              <a:rPr lang="en-US" dirty="0"/>
              <a:t>Customization has a ceiling. Extensive UI work like animations and complex custom interactions eventually requires HTML and JavaScript, which negates the no-web-development advantage.</a:t>
            </a:r>
          </a:p>
          <a:p>
            <a:endParaRPr lang="en-US" dirty="0"/>
          </a:p>
          <a:p>
            <a:r>
              <a:rPr lang="en-US" dirty="0"/>
              <a:t>Shiny also has no built-in authentication or, so it's not appropriate for apps that need user accounts or compliance structures.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 Shiny is a practical tool to add to your skillset because it dramatically expands who can benefit from your analysis.</a:t>
            </a:r>
          </a:p>
          <a:p>
            <a:endParaRPr lang="en-US" dirty="0"/>
          </a:p>
          <a:p>
            <a:r>
              <a:rPr lang="en-US" dirty="0"/>
              <a:t>The model is simple: UI defines what users see and control, Server contains the logic that reacts to those controls, and reactivity automatically keeps everything in sync when the app is launched.</a:t>
            </a:r>
          </a:p>
          <a:p>
            <a:endParaRPr lang="en-US" dirty="0"/>
          </a:p>
          <a:p>
            <a:r>
              <a:rPr lang="en-US" dirty="0"/>
              <a:t>There are applicable cases for Shiny apps everywhere, including the six domains we looked at today. There are real limitations, but they’re manageable once you know them upfront.</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0692F-3463-9AD7-FB06-82D18D277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8943D-6F7D-E0A5-BCA3-E05F68ED1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41926-4DE0-F671-A53C-F195C2AD7FA2}"/>
              </a:ext>
            </a:extLst>
          </p:cNvPr>
          <p:cNvSpPr>
            <a:spLocks noGrp="1"/>
          </p:cNvSpPr>
          <p:nvPr>
            <p:ph type="body" idx="1"/>
          </p:nvPr>
        </p:nvSpPr>
        <p:spPr/>
        <p:txBody>
          <a:bodyPr/>
          <a:lstStyle/>
          <a:p>
            <a:r>
              <a:rPr lang="en-US" dirty="0"/>
              <a:t>Thank you!</a:t>
            </a:r>
          </a:p>
          <a:p>
            <a:endParaRPr lang="en-US" dirty="0"/>
          </a:p>
          <a:p>
            <a:r>
              <a:rPr lang="en-US" dirty="0"/>
              <a:t>I’m happy to answer </a:t>
            </a:r>
            <a:r>
              <a:rPr lang="en-US"/>
              <a:t>any questions.</a:t>
            </a:r>
            <a:endParaRPr lang="en-US" dirty="0"/>
          </a:p>
          <a:p>
            <a:endParaRPr lang="en-US" dirty="0"/>
          </a:p>
        </p:txBody>
      </p:sp>
      <p:sp>
        <p:nvSpPr>
          <p:cNvPr id="4" name="Slide Number Placeholder 3">
            <a:extLst>
              <a:ext uri="{FF2B5EF4-FFF2-40B4-BE49-F238E27FC236}">
                <a16:creationId xmlns:a16="http://schemas.microsoft.com/office/drawing/2014/main" id="{B738B017-FC61-B539-3A6C-7EF9B0C1F8E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01789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sara-clokey.shinyapps.io/uconn-pitcher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7132320" y="-1097280"/>
            <a:ext cx="3200400" cy="3200400"/>
          </a:xfrm>
          <a:prstGeom prst="ellipse">
            <a:avLst/>
          </a:prstGeom>
          <a:solidFill>
            <a:srgbClr val="22396B"/>
          </a:solidFill>
          <a:ln w="12700">
            <a:solidFill>
              <a:srgbClr val="22396B"/>
            </a:solidFill>
            <a:prstDash val="solid"/>
          </a:ln>
        </p:spPr>
        <p:txBody>
          <a:bodyPr/>
          <a:lstStyle/>
          <a:p>
            <a:endParaRPr lang="en-US"/>
          </a:p>
        </p:txBody>
      </p:sp>
      <p:sp>
        <p:nvSpPr>
          <p:cNvPr id="4" name="Shape 2"/>
          <p:cNvSpPr/>
          <p:nvPr/>
        </p:nvSpPr>
        <p:spPr>
          <a:xfrm>
            <a:off x="7498080" y="-731520"/>
            <a:ext cx="2560320" cy="2560320"/>
          </a:xfrm>
          <a:prstGeom prst="ellipse">
            <a:avLst/>
          </a:prstGeom>
          <a:solidFill>
            <a:srgbClr val="1A3060"/>
          </a:solidFill>
          <a:ln w="12700">
            <a:solidFill>
              <a:srgbClr val="1A3060"/>
            </a:solidFill>
            <a:prstDash val="solid"/>
          </a:ln>
        </p:spPr>
        <p:txBody>
          <a:bodyPr/>
          <a:lstStyle/>
          <a:p>
            <a:endParaRPr lang="en-US"/>
          </a:p>
        </p:txBody>
      </p:sp>
      <p:sp>
        <p:nvSpPr>
          <p:cNvPr id="5" name="Text 3"/>
          <p:cNvSpPr/>
          <p:nvPr/>
        </p:nvSpPr>
        <p:spPr>
          <a:xfrm>
            <a:off x="365760" y="914400"/>
            <a:ext cx="8412480" cy="822960"/>
          </a:xfrm>
          <a:prstGeom prst="rect">
            <a:avLst/>
          </a:prstGeom>
          <a:noFill/>
          <a:ln/>
        </p:spPr>
        <p:txBody>
          <a:bodyPr wrap="square"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Building Interactive Apps</a:t>
            </a:r>
            <a:endParaRPr lang="en-US" sz="3800" dirty="0"/>
          </a:p>
        </p:txBody>
      </p:sp>
      <p:sp>
        <p:nvSpPr>
          <p:cNvPr id="6" name="Text 4"/>
          <p:cNvSpPr/>
          <p:nvPr/>
        </p:nvSpPr>
        <p:spPr>
          <a:xfrm>
            <a:off x="365760" y="1691640"/>
            <a:ext cx="8412480" cy="822960"/>
          </a:xfrm>
          <a:prstGeom prst="rect">
            <a:avLst/>
          </a:prstGeom>
          <a:noFill/>
          <a:ln/>
        </p:spPr>
        <p:txBody>
          <a:bodyPr wrap="square" rtlCol="0" anchor="ctr"/>
          <a:lstStyle/>
          <a:p>
            <a:pPr marL="0" indent="0" algn="l">
              <a:buNone/>
            </a:pPr>
            <a:r>
              <a:rPr lang="en-US" sz="3800" b="1" dirty="0">
                <a:solidFill>
                  <a:srgbClr val="C8DCEF"/>
                </a:solidFill>
                <a:latin typeface="Calibri" pitchFamily="34" charset="0"/>
                <a:ea typeface="Calibri" pitchFamily="34" charset="-122"/>
                <a:cs typeface="Calibri" pitchFamily="34" charset="-120"/>
              </a:rPr>
              <a:t>with R Shiny</a:t>
            </a:r>
            <a:endParaRPr lang="en-US" sz="3800" dirty="0"/>
          </a:p>
        </p:txBody>
      </p:sp>
      <p:sp>
        <p:nvSpPr>
          <p:cNvPr id="7" name="Shape 5"/>
          <p:cNvSpPr/>
          <p:nvPr/>
        </p:nvSpPr>
        <p:spPr>
          <a:xfrm>
            <a:off x="365760" y="2606040"/>
            <a:ext cx="2286000" cy="45720"/>
          </a:xfrm>
          <a:prstGeom prst="rect">
            <a:avLst/>
          </a:prstGeom>
          <a:solidFill>
            <a:srgbClr val="C0392B"/>
          </a:solidFill>
          <a:ln w="12700">
            <a:solidFill>
              <a:srgbClr val="C0392B"/>
            </a:solidFill>
            <a:prstDash val="solid"/>
          </a:ln>
        </p:spPr>
        <p:txBody>
          <a:bodyPr/>
          <a:lstStyle/>
          <a:p>
            <a:endParaRPr lang="en-US"/>
          </a:p>
        </p:txBody>
      </p:sp>
      <p:sp>
        <p:nvSpPr>
          <p:cNvPr id="8" name="Text 6"/>
          <p:cNvSpPr/>
          <p:nvPr/>
        </p:nvSpPr>
        <p:spPr>
          <a:xfrm>
            <a:off x="365760" y="2788920"/>
            <a:ext cx="8412480" cy="457200"/>
          </a:xfrm>
          <a:prstGeom prst="rect">
            <a:avLst/>
          </a:prstGeom>
          <a:noFill/>
          <a:ln/>
        </p:spPr>
        <p:txBody>
          <a:bodyPr wrap="square" rtlCol="0" anchor="ctr"/>
          <a:lstStyle/>
          <a:p>
            <a:pPr marL="0" indent="0" algn="l">
              <a:buNone/>
            </a:pPr>
            <a:r>
              <a:rPr lang="en-US" sz="1600" dirty="0">
                <a:solidFill>
                  <a:srgbClr val="C8DCEF"/>
                </a:solidFill>
                <a:latin typeface="Calibri" pitchFamily="34" charset="0"/>
                <a:ea typeface="Calibri" pitchFamily="34" charset="-122"/>
                <a:cs typeface="Calibri" pitchFamily="34" charset="-120"/>
              </a:rPr>
              <a:t>Case Study using UConn Baseball Data</a:t>
            </a:r>
            <a:endParaRPr lang="en-US" sz="1600" dirty="0"/>
          </a:p>
        </p:txBody>
      </p:sp>
      <p:sp>
        <p:nvSpPr>
          <p:cNvPr id="9" name="Text 7"/>
          <p:cNvSpPr/>
          <p:nvPr/>
        </p:nvSpPr>
        <p:spPr>
          <a:xfrm>
            <a:off x="365760" y="4480560"/>
            <a:ext cx="8412480" cy="365760"/>
          </a:xfrm>
          <a:prstGeom prst="rect">
            <a:avLst/>
          </a:prstGeom>
          <a:noFill/>
          <a:ln/>
        </p:spPr>
        <p:txBody>
          <a:bodyPr wrap="square" rtlCol="0" anchor="ctr"/>
          <a:lstStyle/>
          <a:p>
            <a:pPr marL="0" indent="0" algn="l">
              <a:buNone/>
            </a:pPr>
            <a:r>
              <a:rPr lang="en-US" sz="1200" dirty="0">
                <a:solidFill>
                  <a:srgbClr val="8AAFD4"/>
                </a:solidFill>
                <a:latin typeface="Calibri" pitchFamily="34" charset="0"/>
                <a:ea typeface="Calibri" pitchFamily="34" charset="-122"/>
                <a:cs typeface="Calibri" pitchFamily="34" charset="-120"/>
              </a:rPr>
              <a:t>Sara Clokey  |  DSDA 4815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91440"/>
            <a:ext cx="8412480" cy="548640"/>
          </a:xfrm>
          <a:prstGeom prst="rect">
            <a:avLst/>
          </a:prstGeom>
          <a:noFill/>
          <a:ln/>
        </p:spPr>
        <p:txBody>
          <a:bodyPr wrap="square"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Today's Agenda</a:t>
            </a:r>
            <a:endParaRPr lang="en-US" sz="2400" dirty="0"/>
          </a:p>
        </p:txBody>
      </p:sp>
      <p:sp>
        <p:nvSpPr>
          <p:cNvPr id="4" name="Shape 2"/>
          <p:cNvSpPr/>
          <p:nvPr/>
        </p:nvSpPr>
        <p:spPr>
          <a:xfrm>
            <a:off x="365760" y="1005840"/>
            <a:ext cx="4114800" cy="1097280"/>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365760" y="1005840"/>
            <a:ext cx="73152" cy="1097280"/>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502920" y="1051560"/>
            <a:ext cx="502920" cy="365760"/>
          </a:xfrm>
          <a:prstGeom prst="rect">
            <a:avLst/>
          </a:prstGeom>
          <a:noFill/>
          <a:ln/>
        </p:spPr>
        <p:txBody>
          <a:bodyPr wrap="square" rtlCol="0" anchor="ctr"/>
          <a:lstStyle/>
          <a:p>
            <a:pPr marL="0" indent="0">
              <a:buNone/>
            </a:pPr>
            <a:r>
              <a:rPr lang="en-US" sz="1800" b="1" dirty="0">
                <a:solidFill>
                  <a:srgbClr val="C0392B"/>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502920" y="1389888"/>
            <a:ext cx="3886200"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Why R Shiny?</a:t>
            </a:r>
            <a:endParaRPr lang="en-US" sz="1400" dirty="0"/>
          </a:p>
        </p:txBody>
      </p:sp>
      <p:sp>
        <p:nvSpPr>
          <p:cNvPr id="8" name="Text 6"/>
          <p:cNvSpPr/>
          <p:nvPr/>
        </p:nvSpPr>
        <p:spPr>
          <a:xfrm>
            <a:off x="502920" y="1691640"/>
            <a:ext cx="3886200" cy="320040"/>
          </a:xfrm>
          <a:prstGeom prst="rect">
            <a:avLst/>
          </a:prstGeom>
          <a:noFill/>
          <a:ln/>
        </p:spPr>
        <p:txBody>
          <a:bodyPr wrap="square" rtlCol="0" anchor="ctr"/>
          <a:lstStyle/>
          <a:p>
            <a:pPr marL="0" indent="0">
              <a:buNone/>
            </a:pPr>
            <a:endParaRPr lang="en-US" sz="1100" dirty="0"/>
          </a:p>
        </p:txBody>
      </p:sp>
      <p:sp>
        <p:nvSpPr>
          <p:cNvPr id="9" name="Shape 7"/>
          <p:cNvSpPr/>
          <p:nvPr/>
        </p:nvSpPr>
        <p:spPr>
          <a:xfrm>
            <a:off x="4846320" y="1005840"/>
            <a:ext cx="4114800" cy="1097280"/>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10" name="Shape 8"/>
          <p:cNvSpPr/>
          <p:nvPr/>
        </p:nvSpPr>
        <p:spPr>
          <a:xfrm>
            <a:off x="4846320" y="1005840"/>
            <a:ext cx="73152" cy="1097280"/>
          </a:xfrm>
          <a:prstGeom prst="rect">
            <a:avLst/>
          </a:prstGeom>
          <a:solidFill>
            <a:srgbClr val="C0392B"/>
          </a:solidFill>
          <a:ln w="12700">
            <a:solidFill>
              <a:srgbClr val="C0392B"/>
            </a:solidFill>
            <a:prstDash val="solid"/>
          </a:ln>
        </p:spPr>
        <p:txBody>
          <a:bodyPr/>
          <a:lstStyle/>
          <a:p>
            <a:endParaRPr lang="en-US"/>
          </a:p>
        </p:txBody>
      </p:sp>
      <p:sp>
        <p:nvSpPr>
          <p:cNvPr id="11" name="Text 9"/>
          <p:cNvSpPr/>
          <p:nvPr/>
        </p:nvSpPr>
        <p:spPr>
          <a:xfrm>
            <a:off x="4983480" y="1051560"/>
            <a:ext cx="502920" cy="365760"/>
          </a:xfrm>
          <a:prstGeom prst="rect">
            <a:avLst/>
          </a:prstGeom>
          <a:noFill/>
          <a:ln/>
        </p:spPr>
        <p:txBody>
          <a:bodyPr wrap="square" rtlCol="0" anchor="ctr"/>
          <a:lstStyle/>
          <a:p>
            <a:pPr marL="0" indent="0">
              <a:buNone/>
            </a:pPr>
            <a:r>
              <a:rPr lang="en-US" sz="1800" b="1" dirty="0">
                <a:solidFill>
                  <a:srgbClr val="C0392B"/>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4983480" y="1389888"/>
            <a:ext cx="3886200"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Key Components</a:t>
            </a:r>
            <a:endParaRPr lang="en-US" sz="1400" dirty="0"/>
          </a:p>
        </p:txBody>
      </p:sp>
      <p:sp>
        <p:nvSpPr>
          <p:cNvPr id="13" name="Text 11"/>
          <p:cNvSpPr/>
          <p:nvPr/>
        </p:nvSpPr>
        <p:spPr>
          <a:xfrm>
            <a:off x="4983480" y="1691640"/>
            <a:ext cx="3886200" cy="320040"/>
          </a:xfrm>
          <a:prstGeom prst="rect">
            <a:avLst/>
          </a:prstGeom>
          <a:noFill/>
          <a:ln/>
        </p:spPr>
        <p:txBody>
          <a:bodyPr wrap="square" rtlCol="0" anchor="ctr"/>
          <a:lstStyle/>
          <a:p>
            <a:pPr marL="0" indent="0">
              <a:buNone/>
            </a:pPr>
            <a:endParaRPr lang="en-US" sz="1100" dirty="0"/>
          </a:p>
        </p:txBody>
      </p:sp>
      <p:sp>
        <p:nvSpPr>
          <p:cNvPr id="14" name="Shape 12"/>
          <p:cNvSpPr/>
          <p:nvPr/>
        </p:nvSpPr>
        <p:spPr>
          <a:xfrm>
            <a:off x="365760" y="2359152"/>
            <a:ext cx="4114800" cy="1097280"/>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15" name="Shape 13"/>
          <p:cNvSpPr/>
          <p:nvPr/>
        </p:nvSpPr>
        <p:spPr>
          <a:xfrm>
            <a:off x="365760" y="2359152"/>
            <a:ext cx="73152" cy="1097280"/>
          </a:xfrm>
          <a:prstGeom prst="rect">
            <a:avLst/>
          </a:prstGeom>
          <a:solidFill>
            <a:srgbClr val="C0392B"/>
          </a:solidFill>
          <a:ln w="12700">
            <a:solidFill>
              <a:srgbClr val="C0392B"/>
            </a:solidFill>
            <a:prstDash val="solid"/>
          </a:ln>
        </p:spPr>
        <p:txBody>
          <a:bodyPr/>
          <a:lstStyle/>
          <a:p>
            <a:endParaRPr lang="en-US"/>
          </a:p>
        </p:txBody>
      </p:sp>
      <p:sp>
        <p:nvSpPr>
          <p:cNvPr id="16" name="Text 14"/>
          <p:cNvSpPr/>
          <p:nvPr/>
        </p:nvSpPr>
        <p:spPr>
          <a:xfrm>
            <a:off x="502920" y="2404872"/>
            <a:ext cx="502920" cy="365760"/>
          </a:xfrm>
          <a:prstGeom prst="rect">
            <a:avLst/>
          </a:prstGeom>
          <a:noFill/>
          <a:ln/>
        </p:spPr>
        <p:txBody>
          <a:bodyPr wrap="square" rtlCol="0" anchor="ctr"/>
          <a:lstStyle/>
          <a:p>
            <a:pPr marL="0" indent="0">
              <a:buNone/>
            </a:pPr>
            <a:r>
              <a:rPr lang="en-US" sz="1800" b="1" dirty="0">
                <a:solidFill>
                  <a:srgbClr val="C0392B"/>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502920" y="2743200"/>
            <a:ext cx="3886200"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Code Walkthrough</a:t>
            </a:r>
            <a:endParaRPr lang="en-US" sz="1400" dirty="0"/>
          </a:p>
        </p:txBody>
      </p:sp>
      <p:sp>
        <p:nvSpPr>
          <p:cNvPr id="18" name="Text 16"/>
          <p:cNvSpPr/>
          <p:nvPr/>
        </p:nvSpPr>
        <p:spPr>
          <a:xfrm>
            <a:off x="502920" y="3044952"/>
            <a:ext cx="3886200" cy="320040"/>
          </a:xfrm>
          <a:prstGeom prst="rect">
            <a:avLst/>
          </a:prstGeom>
          <a:noFill/>
          <a:ln/>
        </p:spPr>
        <p:txBody>
          <a:bodyPr wrap="square" rtlCol="0" anchor="ctr"/>
          <a:lstStyle/>
          <a:p>
            <a:pPr marL="0" indent="0">
              <a:buNone/>
            </a:pPr>
            <a:endParaRPr lang="en-US" sz="1100" dirty="0"/>
          </a:p>
        </p:txBody>
      </p:sp>
      <p:sp>
        <p:nvSpPr>
          <p:cNvPr id="19" name="Shape 17"/>
          <p:cNvSpPr/>
          <p:nvPr/>
        </p:nvSpPr>
        <p:spPr>
          <a:xfrm>
            <a:off x="4846320" y="2359152"/>
            <a:ext cx="4114800" cy="1097280"/>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4846320" y="2359152"/>
            <a:ext cx="73152" cy="1097280"/>
          </a:xfrm>
          <a:prstGeom prst="rect">
            <a:avLst/>
          </a:prstGeom>
          <a:solidFill>
            <a:srgbClr val="C0392B"/>
          </a:solidFill>
          <a:ln w="12700">
            <a:solidFill>
              <a:srgbClr val="C0392B"/>
            </a:solidFill>
            <a:prstDash val="solid"/>
          </a:ln>
        </p:spPr>
        <p:txBody>
          <a:bodyPr/>
          <a:lstStyle/>
          <a:p>
            <a:endParaRPr lang="en-US"/>
          </a:p>
        </p:txBody>
      </p:sp>
      <p:sp>
        <p:nvSpPr>
          <p:cNvPr id="21" name="Text 19"/>
          <p:cNvSpPr/>
          <p:nvPr/>
        </p:nvSpPr>
        <p:spPr>
          <a:xfrm>
            <a:off x="4983480" y="2404872"/>
            <a:ext cx="502920" cy="365760"/>
          </a:xfrm>
          <a:prstGeom prst="rect">
            <a:avLst/>
          </a:prstGeom>
          <a:noFill/>
          <a:ln/>
        </p:spPr>
        <p:txBody>
          <a:bodyPr wrap="square" rtlCol="0" anchor="ctr"/>
          <a:lstStyle/>
          <a:p>
            <a:pPr marL="0" indent="0">
              <a:buNone/>
            </a:pPr>
            <a:r>
              <a:rPr lang="en-US" sz="1800" b="1" dirty="0">
                <a:solidFill>
                  <a:srgbClr val="C0392B"/>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4983480" y="2743200"/>
            <a:ext cx="3886200"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Other Applications</a:t>
            </a:r>
            <a:endParaRPr lang="en-US" sz="1400" dirty="0"/>
          </a:p>
        </p:txBody>
      </p:sp>
      <p:sp>
        <p:nvSpPr>
          <p:cNvPr id="23" name="Text 21"/>
          <p:cNvSpPr/>
          <p:nvPr/>
        </p:nvSpPr>
        <p:spPr>
          <a:xfrm>
            <a:off x="4983480" y="3044952"/>
            <a:ext cx="3886200" cy="320040"/>
          </a:xfrm>
          <a:prstGeom prst="rect">
            <a:avLst/>
          </a:prstGeom>
          <a:noFill/>
          <a:ln/>
        </p:spPr>
        <p:txBody>
          <a:bodyPr wrap="square" rtlCol="0" anchor="ctr"/>
          <a:lstStyle/>
          <a:p>
            <a:pPr marL="0" indent="0">
              <a:buNone/>
            </a:pPr>
            <a:endParaRPr lang="en-US" sz="1100" dirty="0"/>
          </a:p>
        </p:txBody>
      </p:sp>
      <p:sp>
        <p:nvSpPr>
          <p:cNvPr id="24" name="Shape 22"/>
          <p:cNvSpPr/>
          <p:nvPr/>
        </p:nvSpPr>
        <p:spPr>
          <a:xfrm>
            <a:off x="365760" y="3712464"/>
            <a:ext cx="4114800" cy="1097280"/>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25" name="Shape 23"/>
          <p:cNvSpPr/>
          <p:nvPr/>
        </p:nvSpPr>
        <p:spPr>
          <a:xfrm>
            <a:off x="365760" y="3712464"/>
            <a:ext cx="73152" cy="1097280"/>
          </a:xfrm>
          <a:prstGeom prst="rect">
            <a:avLst/>
          </a:prstGeom>
          <a:solidFill>
            <a:srgbClr val="C0392B"/>
          </a:solidFill>
          <a:ln w="12700">
            <a:solidFill>
              <a:srgbClr val="C0392B"/>
            </a:solidFill>
            <a:prstDash val="solid"/>
          </a:ln>
        </p:spPr>
        <p:txBody>
          <a:bodyPr/>
          <a:lstStyle/>
          <a:p>
            <a:endParaRPr lang="en-US"/>
          </a:p>
        </p:txBody>
      </p:sp>
      <p:sp>
        <p:nvSpPr>
          <p:cNvPr id="26" name="Text 24"/>
          <p:cNvSpPr/>
          <p:nvPr/>
        </p:nvSpPr>
        <p:spPr>
          <a:xfrm>
            <a:off x="502920" y="3758184"/>
            <a:ext cx="502920" cy="365760"/>
          </a:xfrm>
          <a:prstGeom prst="rect">
            <a:avLst/>
          </a:prstGeom>
          <a:noFill/>
          <a:ln/>
        </p:spPr>
        <p:txBody>
          <a:bodyPr wrap="square" rtlCol="0" anchor="ctr"/>
          <a:lstStyle/>
          <a:p>
            <a:pPr marL="0" indent="0">
              <a:buNone/>
            </a:pPr>
            <a:r>
              <a:rPr lang="en-US" sz="1800" b="1" dirty="0">
                <a:solidFill>
                  <a:srgbClr val="C0392B"/>
                </a:solidFill>
                <a:latin typeface="Calibri" pitchFamily="34" charset="0"/>
                <a:ea typeface="Calibri" pitchFamily="34" charset="-122"/>
                <a:cs typeface="Calibri" pitchFamily="34" charset="-120"/>
              </a:rPr>
              <a:t>05</a:t>
            </a:r>
            <a:endParaRPr lang="en-US" sz="1800" dirty="0"/>
          </a:p>
        </p:txBody>
      </p:sp>
      <p:sp>
        <p:nvSpPr>
          <p:cNvPr id="27" name="Text 25"/>
          <p:cNvSpPr/>
          <p:nvPr/>
        </p:nvSpPr>
        <p:spPr>
          <a:xfrm>
            <a:off x="502920" y="4096512"/>
            <a:ext cx="3886200"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Limitations</a:t>
            </a:r>
            <a:endParaRPr lang="en-US" sz="1400" dirty="0"/>
          </a:p>
        </p:txBody>
      </p:sp>
      <p:sp>
        <p:nvSpPr>
          <p:cNvPr id="28" name="Text 26"/>
          <p:cNvSpPr/>
          <p:nvPr/>
        </p:nvSpPr>
        <p:spPr>
          <a:xfrm>
            <a:off x="502920" y="4398264"/>
            <a:ext cx="3886200" cy="32004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Why R Shiny?</a:t>
            </a:r>
            <a:endParaRPr lang="en-US" sz="2400" dirty="0"/>
          </a:p>
        </p:txBody>
      </p:sp>
      <p:sp>
        <p:nvSpPr>
          <p:cNvPr id="4" name="Text 2"/>
          <p:cNvSpPr/>
          <p:nvPr/>
        </p:nvSpPr>
        <p:spPr>
          <a:xfrm>
            <a:off x="365760" y="914400"/>
            <a:ext cx="4114800" cy="411480"/>
          </a:xfrm>
          <a:prstGeom prst="rect">
            <a:avLst/>
          </a:prstGeom>
          <a:noFill/>
          <a:ln/>
        </p:spPr>
        <p:txBody>
          <a:bodyPr wrap="square"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Problems with Static Analysis</a:t>
            </a:r>
            <a:endParaRPr lang="en-US" sz="2000" dirty="0"/>
          </a:p>
        </p:txBody>
      </p:sp>
      <p:sp>
        <p:nvSpPr>
          <p:cNvPr id="5" name="Shape 3"/>
          <p:cNvSpPr/>
          <p:nvPr/>
        </p:nvSpPr>
        <p:spPr>
          <a:xfrm>
            <a:off x="371952" y="1492979"/>
            <a:ext cx="201168" cy="201168"/>
          </a:xfrm>
          <a:prstGeom prst="ellipse">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640080" y="1435180"/>
            <a:ext cx="3749040" cy="320040"/>
          </a:xfrm>
          <a:prstGeom prst="rect">
            <a:avLst/>
          </a:prstGeom>
          <a:noFill/>
          <a:ln/>
        </p:spPr>
        <p:txBody>
          <a:bodyPr wrap="square" rtlCol="0" anchor="ctr"/>
          <a:lstStyle/>
          <a:p>
            <a:pPr marL="0" indent="0">
              <a:buNone/>
            </a:pPr>
            <a:r>
              <a:rPr lang="en-US" sz="1250" dirty="0">
                <a:solidFill>
                  <a:srgbClr val="5A6A7E"/>
                </a:solidFill>
                <a:latin typeface="Calibri" pitchFamily="34" charset="0"/>
                <a:ea typeface="Calibri" pitchFamily="34" charset="-122"/>
                <a:cs typeface="Calibri" pitchFamily="34" charset="-120"/>
              </a:rPr>
              <a:t>Stakeholders can't explore data themselves</a:t>
            </a:r>
            <a:endParaRPr lang="en-US" sz="1250" dirty="0"/>
          </a:p>
        </p:txBody>
      </p:sp>
      <p:sp>
        <p:nvSpPr>
          <p:cNvPr id="7" name="Shape 5"/>
          <p:cNvSpPr/>
          <p:nvPr/>
        </p:nvSpPr>
        <p:spPr>
          <a:xfrm>
            <a:off x="365760" y="2159136"/>
            <a:ext cx="201168" cy="201168"/>
          </a:xfrm>
          <a:prstGeom prst="ellipse">
            <a:avLst/>
          </a:prstGeom>
          <a:solidFill>
            <a:srgbClr val="C0392B"/>
          </a:solidFill>
          <a:ln w="12700">
            <a:solidFill>
              <a:srgbClr val="C0392B"/>
            </a:solidFill>
            <a:prstDash val="solid"/>
          </a:ln>
        </p:spPr>
        <p:txBody>
          <a:bodyPr/>
          <a:lstStyle/>
          <a:p>
            <a:endParaRPr lang="en-US"/>
          </a:p>
        </p:txBody>
      </p:sp>
      <p:sp>
        <p:nvSpPr>
          <p:cNvPr id="8" name="Text 6"/>
          <p:cNvSpPr/>
          <p:nvPr/>
        </p:nvSpPr>
        <p:spPr>
          <a:xfrm>
            <a:off x="640080" y="2093903"/>
            <a:ext cx="3749040" cy="320040"/>
          </a:xfrm>
          <a:prstGeom prst="rect">
            <a:avLst/>
          </a:prstGeom>
          <a:noFill/>
          <a:ln/>
        </p:spPr>
        <p:txBody>
          <a:bodyPr wrap="square" rtlCol="0" anchor="ctr"/>
          <a:lstStyle/>
          <a:p>
            <a:pPr marL="0" indent="0">
              <a:buNone/>
            </a:pPr>
            <a:r>
              <a:rPr lang="en-US" sz="1250" dirty="0">
                <a:solidFill>
                  <a:srgbClr val="5A6A7E"/>
                </a:solidFill>
                <a:latin typeface="Calibri" pitchFamily="34" charset="0"/>
                <a:ea typeface="Calibri" pitchFamily="34" charset="-122"/>
                <a:cs typeface="Calibri" pitchFamily="34" charset="-120"/>
              </a:rPr>
              <a:t>Recreating a plot for individual specifications is tedious</a:t>
            </a:r>
            <a:endParaRPr lang="en-US" sz="1250" dirty="0"/>
          </a:p>
        </p:txBody>
      </p:sp>
      <p:sp>
        <p:nvSpPr>
          <p:cNvPr id="9" name="Shape 7"/>
          <p:cNvSpPr/>
          <p:nvPr/>
        </p:nvSpPr>
        <p:spPr>
          <a:xfrm>
            <a:off x="371952" y="2830571"/>
            <a:ext cx="201168" cy="201168"/>
          </a:xfrm>
          <a:prstGeom prst="ellipse">
            <a:avLst/>
          </a:prstGeom>
          <a:solidFill>
            <a:srgbClr val="C0392B"/>
          </a:solidFill>
          <a:ln w="12700">
            <a:solidFill>
              <a:srgbClr val="C0392B"/>
            </a:solidFill>
            <a:prstDash val="solid"/>
          </a:ln>
        </p:spPr>
        <p:txBody>
          <a:bodyPr/>
          <a:lstStyle/>
          <a:p>
            <a:endParaRPr lang="en-US"/>
          </a:p>
        </p:txBody>
      </p:sp>
      <p:sp>
        <p:nvSpPr>
          <p:cNvPr id="10" name="Text 8"/>
          <p:cNvSpPr/>
          <p:nvPr/>
        </p:nvSpPr>
        <p:spPr>
          <a:xfrm>
            <a:off x="640080" y="2752626"/>
            <a:ext cx="3749040" cy="320040"/>
          </a:xfrm>
          <a:prstGeom prst="rect">
            <a:avLst/>
          </a:prstGeom>
          <a:noFill/>
          <a:ln/>
        </p:spPr>
        <p:txBody>
          <a:bodyPr wrap="square" rtlCol="0" anchor="ctr"/>
          <a:lstStyle/>
          <a:p>
            <a:pPr marL="0" indent="0">
              <a:buNone/>
            </a:pPr>
            <a:r>
              <a:rPr lang="en-US" sz="1250" dirty="0">
                <a:solidFill>
                  <a:srgbClr val="5A6A7E"/>
                </a:solidFill>
                <a:latin typeface="Calibri" pitchFamily="34" charset="0"/>
                <a:ea typeface="Calibri" pitchFamily="34" charset="-122"/>
                <a:cs typeface="Calibri" pitchFamily="34" charset="-120"/>
              </a:rPr>
              <a:t>PDF/HTML reports go stale immediately</a:t>
            </a:r>
            <a:endParaRPr lang="en-US" sz="1250" dirty="0"/>
          </a:p>
        </p:txBody>
      </p:sp>
      <p:sp>
        <p:nvSpPr>
          <p:cNvPr id="11" name="Shape 9"/>
          <p:cNvSpPr/>
          <p:nvPr/>
        </p:nvSpPr>
        <p:spPr>
          <a:xfrm>
            <a:off x="371952" y="3502006"/>
            <a:ext cx="201168" cy="201168"/>
          </a:xfrm>
          <a:prstGeom prst="ellipse">
            <a:avLst/>
          </a:prstGeom>
          <a:solidFill>
            <a:srgbClr val="C0392B"/>
          </a:solidFill>
          <a:ln w="12700">
            <a:solidFill>
              <a:srgbClr val="C0392B"/>
            </a:solidFill>
            <a:prstDash val="solid"/>
          </a:ln>
        </p:spPr>
        <p:txBody>
          <a:bodyPr/>
          <a:lstStyle/>
          <a:p>
            <a:endParaRPr lang="en-US"/>
          </a:p>
        </p:txBody>
      </p:sp>
      <p:sp>
        <p:nvSpPr>
          <p:cNvPr id="12" name="Text 10"/>
          <p:cNvSpPr/>
          <p:nvPr/>
        </p:nvSpPr>
        <p:spPr>
          <a:xfrm>
            <a:off x="640080" y="3502006"/>
            <a:ext cx="3749040" cy="320040"/>
          </a:xfrm>
          <a:prstGeom prst="rect">
            <a:avLst/>
          </a:prstGeom>
          <a:noFill/>
          <a:ln/>
        </p:spPr>
        <p:txBody>
          <a:bodyPr wrap="square" rtlCol="0" anchor="ctr"/>
          <a:lstStyle/>
          <a:p>
            <a:pPr marL="0" indent="0">
              <a:buNone/>
            </a:pPr>
            <a:r>
              <a:rPr lang="en-US" sz="1250" dirty="0">
                <a:solidFill>
                  <a:srgbClr val="5A6A7E"/>
                </a:solidFill>
                <a:latin typeface="Calibri" pitchFamily="34" charset="0"/>
                <a:ea typeface="Calibri" pitchFamily="34" charset="-122"/>
                <a:cs typeface="Calibri" pitchFamily="34" charset="-120"/>
              </a:rPr>
              <a:t>Sharing R code isn't practical for stakeholders with less technical backgrounds (coaches, players, CEOs, etc.)</a:t>
            </a:r>
            <a:endParaRPr lang="en-US" sz="1250" dirty="0"/>
          </a:p>
        </p:txBody>
      </p:sp>
      <p:sp>
        <p:nvSpPr>
          <p:cNvPr id="13" name="Shape 11"/>
          <p:cNvSpPr/>
          <p:nvPr/>
        </p:nvSpPr>
        <p:spPr>
          <a:xfrm>
            <a:off x="4663442" y="946404"/>
            <a:ext cx="4023360" cy="3931920"/>
          </a:xfrm>
          <a:prstGeom prst="rect">
            <a:avLst/>
          </a:prstGeom>
          <a:solidFill>
            <a:srgbClr val="1B2A4A"/>
          </a:solidFill>
          <a:ln w="12700">
            <a:solidFill>
              <a:srgbClr val="1B2A4A"/>
            </a:solidFill>
            <a:prstDash val="solid"/>
          </a:ln>
          <a:effectLst>
            <a:outerShdw blurRad="101600" dist="38100" dir="8100000" algn="bl" rotWithShape="0">
              <a:srgbClr val="000000">
                <a:alpha val="15000"/>
              </a:srgbClr>
            </a:outerShdw>
          </a:effectLst>
        </p:spPr>
        <p:txBody>
          <a:bodyPr/>
          <a:lstStyle/>
          <a:p>
            <a:endParaRPr lang="en-US" dirty="0"/>
          </a:p>
        </p:txBody>
      </p:sp>
      <p:sp>
        <p:nvSpPr>
          <p:cNvPr id="14" name="Text 12"/>
          <p:cNvSpPr/>
          <p:nvPr/>
        </p:nvSpPr>
        <p:spPr>
          <a:xfrm>
            <a:off x="4919472" y="621792"/>
            <a:ext cx="3657600" cy="1005840"/>
          </a:xfrm>
          <a:prstGeom prst="rect">
            <a:avLst/>
          </a:prstGeom>
          <a:noFill/>
          <a:ln/>
        </p:spPr>
        <p:txBody>
          <a:bodyPr wrap="square"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Benefits of Shiny</a:t>
            </a:r>
            <a:endParaRPr lang="en-US" sz="2000" b="1" dirty="0">
              <a:solidFill>
                <a:schemeClr val="bg1"/>
              </a:solidFill>
            </a:endParaRPr>
          </a:p>
        </p:txBody>
      </p:sp>
      <p:sp>
        <p:nvSpPr>
          <p:cNvPr id="15" name="Shape 13"/>
          <p:cNvSpPr/>
          <p:nvPr/>
        </p:nvSpPr>
        <p:spPr>
          <a:xfrm>
            <a:off x="4925568" y="1472184"/>
            <a:ext cx="164592" cy="164592"/>
          </a:xfrm>
          <a:prstGeom prst="rect">
            <a:avLst/>
          </a:prstGeom>
          <a:solidFill>
            <a:srgbClr val="2ECC71"/>
          </a:solidFill>
          <a:ln w="12700">
            <a:solidFill>
              <a:srgbClr val="2ECC71"/>
            </a:solidFill>
            <a:prstDash val="solid"/>
          </a:ln>
        </p:spPr>
        <p:txBody>
          <a:bodyPr/>
          <a:lstStyle/>
          <a:p>
            <a:endParaRPr lang="en-US"/>
          </a:p>
        </p:txBody>
      </p:sp>
      <p:sp>
        <p:nvSpPr>
          <p:cNvPr id="16" name="Text 14"/>
          <p:cNvSpPr/>
          <p:nvPr/>
        </p:nvSpPr>
        <p:spPr>
          <a:xfrm>
            <a:off x="5120640" y="1389741"/>
            <a:ext cx="329184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No HTML / CSS / JS needed</a:t>
            </a:r>
            <a:endParaRPr lang="en-US" sz="1200" dirty="0"/>
          </a:p>
        </p:txBody>
      </p:sp>
      <p:sp>
        <p:nvSpPr>
          <p:cNvPr id="17" name="Shape 15"/>
          <p:cNvSpPr/>
          <p:nvPr/>
        </p:nvSpPr>
        <p:spPr>
          <a:xfrm>
            <a:off x="4925568" y="2052975"/>
            <a:ext cx="164592" cy="164592"/>
          </a:xfrm>
          <a:prstGeom prst="rect">
            <a:avLst/>
          </a:prstGeom>
          <a:solidFill>
            <a:srgbClr val="2ECC71"/>
          </a:solidFill>
          <a:ln w="12700">
            <a:solidFill>
              <a:srgbClr val="2ECC71"/>
            </a:solidFill>
            <a:prstDash val="solid"/>
          </a:ln>
        </p:spPr>
        <p:txBody>
          <a:bodyPr/>
          <a:lstStyle/>
          <a:p>
            <a:endParaRPr lang="en-US"/>
          </a:p>
        </p:txBody>
      </p:sp>
      <p:sp>
        <p:nvSpPr>
          <p:cNvPr id="18" name="Text 16"/>
          <p:cNvSpPr/>
          <p:nvPr/>
        </p:nvSpPr>
        <p:spPr>
          <a:xfrm>
            <a:off x="5120640" y="1964041"/>
            <a:ext cx="329184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Reactive - UI updates automatically</a:t>
            </a:r>
            <a:endParaRPr lang="en-US" sz="1200" dirty="0"/>
          </a:p>
        </p:txBody>
      </p:sp>
      <p:sp>
        <p:nvSpPr>
          <p:cNvPr id="19" name="Shape 17"/>
          <p:cNvSpPr/>
          <p:nvPr/>
        </p:nvSpPr>
        <p:spPr>
          <a:xfrm>
            <a:off x="4919472" y="2633766"/>
            <a:ext cx="164592" cy="164592"/>
          </a:xfrm>
          <a:prstGeom prst="rect">
            <a:avLst/>
          </a:prstGeom>
          <a:solidFill>
            <a:srgbClr val="2ECC71"/>
          </a:solidFill>
          <a:ln w="12700">
            <a:solidFill>
              <a:srgbClr val="2ECC71"/>
            </a:solidFill>
            <a:prstDash val="solid"/>
          </a:ln>
        </p:spPr>
        <p:txBody>
          <a:bodyPr/>
          <a:lstStyle/>
          <a:p>
            <a:endParaRPr lang="en-US"/>
          </a:p>
        </p:txBody>
      </p:sp>
      <p:sp>
        <p:nvSpPr>
          <p:cNvPr id="20" name="Text 18"/>
          <p:cNvSpPr/>
          <p:nvPr/>
        </p:nvSpPr>
        <p:spPr>
          <a:xfrm>
            <a:off x="5078460" y="2544169"/>
            <a:ext cx="329184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Works with ggplot2, dplyr, tidyverse</a:t>
            </a:r>
            <a:endParaRPr lang="en-US" sz="1200" dirty="0"/>
          </a:p>
        </p:txBody>
      </p:sp>
      <p:sp>
        <p:nvSpPr>
          <p:cNvPr id="21" name="Shape 19"/>
          <p:cNvSpPr/>
          <p:nvPr/>
        </p:nvSpPr>
        <p:spPr>
          <a:xfrm>
            <a:off x="4919472" y="3214557"/>
            <a:ext cx="164592" cy="164592"/>
          </a:xfrm>
          <a:prstGeom prst="rect">
            <a:avLst/>
          </a:prstGeom>
          <a:solidFill>
            <a:srgbClr val="2ECC71"/>
          </a:solidFill>
          <a:ln w="12700">
            <a:solidFill>
              <a:srgbClr val="2ECC71"/>
            </a:solidFill>
            <a:prstDash val="solid"/>
          </a:ln>
        </p:spPr>
        <p:txBody>
          <a:bodyPr/>
          <a:lstStyle/>
          <a:p>
            <a:endParaRPr lang="en-US"/>
          </a:p>
        </p:txBody>
      </p:sp>
      <p:sp>
        <p:nvSpPr>
          <p:cNvPr id="22" name="Text 20"/>
          <p:cNvSpPr/>
          <p:nvPr/>
        </p:nvSpPr>
        <p:spPr>
          <a:xfrm>
            <a:off x="5120640" y="3136833"/>
            <a:ext cx="329184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Free &amp; open source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Key Components of a Shiny App</a:t>
            </a:r>
            <a:endParaRPr lang="en-US" sz="2400" dirty="0"/>
          </a:p>
        </p:txBody>
      </p:sp>
      <p:sp>
        <p:nvSpPr>
          <p:cNvPr id="4" name="Shape 2"/>
          <p:cNvSpPr/>
          <p:nvPr/>
        </p:nvSpPr>
        <p:spPr>
          <a:xfrm>
            <a:off x="228600" y="822960"/>
            <a:ext cx="2834640" cy="4160520"/>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228600" y="822960"/>
            <a:ext cx="2834640" cy="685800"/>
          </a:xfrm>
          <a:prstGeom prst="rect">
            <a:avLst/>
          </a:prstGeom>
          <a:solidFill>
            <a:srgbClr val="1A5276"/>
          </a:solidFill>
          <a:ln w="12700">
            <a:solidFill>
              <a:srgbClr val="1A5276"/>
            </a:solidFill>
            <a:prstDash val="solid"/>
          </a:ln>
        </p:spPr>
        <p:txBody>
          <a:bodyPr/>
          <a:lstStyle/>
          <a:p>
            <a:endParaRPr lang="en-US"/>
          </a:p>
        </p:txBody>
      </p:sp>
      <p:sp>
        <p:nvSpPr>
          <p:cNvPr id="6" name="Text 4"/>
          <p:cNvSpPr/>
          <p:nvPr/>
        </p:nvSpPr>
        <p:spPr>
          <a:xfrm>
            <a:off x="338328" y="841248"/>
            <a:ext cx="1371600" cy="38404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UI</a:t>
            </a:r>
            <a:endParaRPr lang="en-US" sz="2200" dirty="0"/>
          </a:p>
        </p:txBody>
      </p:sp>
      <p:sp>
        <p:nvSpPr>
          <p:cNvPr id="7" name="Text 5"/>
          <p:cNvSpPr/>
          <p:nvPr/>
        </p:nvSpPr>
        <p:spPr>
          <a:xfrm>
            <a:off x="338328" y="1216152"/>
            <a:ext cx="260604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User Interface</a:t>
            </a:r>
            <a:endParaRPr lang="en-US" sz="1050" dirty="0"/>
          </a:p>
        </p:txBody>
      </p:sp>
      <p:sp>
        <p:nvSpPr>
          <p:cNvPr id="8" name="Text 6"/>
          <p:cNvSpPr/>
          <p:nvPr/>
        </p:nvSpPr>
        <p:spPr>
          <a:xfrm>
            <a:off x="338328" y="1627632"/>
            <a:ext cx="2596896" cy="502920"/>
          </a:xfrm>
          <a:prstGeom prst="rect">
            <a:avLst/>
          </a:prstGeom>
          <a:noFill/>
          <a:ln/>
        </p:spPr>
        <p:txBody>
          <a:bodyPr wrap="square" rtlCol="0" anchor="ctr"/>
          <a:lstStyle/>
          <a:p>
            <a:pPr marL="0" indent="0">
              <a:buNone/>
            </a:pPr>
            <a:r>
              <a:rPr lang="en-US" sz="1100" dirty="0">
                <a:solidFill>
                  <a:srgbClr val="5A6A7E"/>
                </a:solidFill>
                <a:latin typeface="Calibri" pitchFamily="34" charset="0"/>
                <a:ea typeface="Calibri" pitchFamily="34" charset="-122"/>
                <a:cs typeface="Calibri" pitchFamily="34" charset="-120"/>
              </a:rPr>
              <a:t>What the user sees &amp; interacts with</a:t>
            </a:r>
            <a:endParaRPr lang="en-US" sz="1100" dirty="0"/>
          </a:p>
        </p:txBody>
      </p:sp>
      <p:sp>
        <p:nvSpPr>
          <p:cNvPr id="9" name="Shape 7"/>
          <p:cNvSpPr/>
          <p:nvPr/>
        </p:nvSpPr>
        <p:spPr>
          <a:xfrm>
            <a:off x="338328" y="2212848"/>
            <a:ext cx="54864" cy="274320"/>
          </a:xfrm>
          <a:prstGeom prst="rect">
            <a:avLst/>
          </a:prstGeom>
          <a:solidFill>
            <a:srgbClr val="1A5276"/>
          </a:solidFill>
          <a:ln w="12700">
            <a:solidFill>
              <a:srgbClr val="1A5276"/>
            </a:solidFill>
            <a:prstDash val="solid"/>
          </a:ln>
        </p:spPr>
        <p:txBody>
          <a:bodyPr/>
          <a:lstStyle/>
          <a:p>
            <a:endParaRPr lang="en-US"/>
          </a:p>
        </p:txBody>
      </p:sp>
      <p:sp>
        <p:nvSpPr>
          <p:cNvPr id="10" name="Text 8"/>
          <p:cNvSpPr/>
          <p:nvPr/>
        </p:nvSpPr>
        <p:spPr>
          <a:xfrm>
            <a:off x="438912" y="2212848"/>
            <a:ext cx="2468880" cy="201168"/>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Layout functions:</a:t>
            </a:r>
            <a:endParaRPr lang="en-US" sz="1050" dirty="0"/>
          </a:p>
        </p:txBody>
      </p:sp>
      <p:sp>
        <p:nvSpPr>
          <p:cNvPr id="11" name="Text 9"/>
          <p:cNvSpPr/>
          <p:nvPr/>
        </p:nvSpPr>
        <p:spPr>
          <a:xfrm>
            <a:off x="438912" y="2395728"/>
            <a:ext cx="2468880" cy="256032"/>
          </a:xfrm>
          <a:prstGeom prst="rect">
            <a:avLst/>
          </a:prstGeom>
          <a:noFill/>
          <a:ln/>
        </p:spPr>
        <p:txBody>
          <a:bodyPr wrap="square" rtlCol="0" anchor="ctr"/>
          <a:lstStyle/>
          <a:p>
            <a:pPr marL="0" indent="0">
              <a:buNone/>
            </a:pPr>
            <a:r>
              <a:rPr lang="en-US" sz="1000" dirty="0">
                <a:solidFill>
                  <a:srgbClr val="5A6A7E"/>
                </a:solidFill>
                <a:latin typeface="Calibri" pitchFamily="34" charset="0"/>
                <a:ea typeface="Calibri" pitchFamily="34" charset="-122"/>
                <a:cs typeface="Calibri" pitchFamily="34" charset="-120"/>
              </a:rPr>
              <a:t>page_sidebar(), navset_tab(), fluidPage()</a:t>
            </a:r>
            <a:endParaRPr lang="en-US" sz="1000" dirty="0"/>
          </a:p>
        </p:txBody>
      </p:sp>
      <p:sp>
        <p:nvSpPr>
          <p:cNvPr id="12" name="Shape 10"/>
          <p:cNvSpPr/>
          <p:nvPr/>
        </p:nvSpPr>
        <p:spPr>
          <a:xfrm>
            <a:off x="338328" y="2734056"/>
            <a:ext cx="54864" cy="274320"/>
          </a:xfrm>
          <a:prstGeom prst="rect">
            <a:avLst/>
          </a:prstGeom>
          <a:solidFill>
            <a:srgbClr val="1A5276"/>
          </a:solidFill>
          <a:ln w="12700">
            <a:solidFill>
              <a:srgbClr val="1A5276"/>
            </a:solidFill>
            <a:prstDash val="solid"/>
          </a:ln>
        </p:spPr>
        <p:txBody>
          <a:bodyPr/>
          <a:lstStyle/>
          <a:p>
            <a:endParaRPr lang="en-US"/>
          </a:p>
        </p:txBody>
      </p:sp>
      <p:sp>
        <p:nvSpPr>
          <p:cNvPr id="13" name="Text 11"/>
          <p:cNvSpPr/>
          <p:nvPr/>
        </p:nvSpPr>
        <p:spPr>
          <a:xfrm>
            <a:off x="438912" y="2734056"/>
            <a:ext cx="2468880" cy="201168"/>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Input widgets:</a:t>
            </a:r>
            <a:endParaRPr lang="en-US" sz="1050" dirty="0"/>
          </a:p>
        </p:txBody>
      </p:sp>
      <p:sp>
        <p:nvSpPr>
          <p:cNvPr id="14" name="Text 12"/>
          <p:cNvSpPr/>
          <p:nvPr/>
        </p:nvSpPr>
        <p:spPr>
          <a:xfrm>
            <a:off x="438912" y="2916936"/>
            <a:ext cx="2468880" cy="256032"/>
          </a:xfrm>
          <a:prstGeom prst="rect">
            <a:avLst/>
          </a:prstGeom>
          <a:noFill/>
          <a:ln/>
        </p:spPr>
        <p:txBody>
          <a:bodyPr wrap="square" rtlCol="0" anchor="ctr"/>
          <a:lstStyle/>
          <a:p>
            <a:pPr marL="0" indent="0">
              <a:buNone/>
            </a:pPr>
            <a:r>
              <a:rPr lang="en-US" sz="1000" dirty="0">
                <a:solidFill>
                  <a:srgbClr val="5A6A7E"/>
                </a:solidFill>
                <a:latin typeface="Calibri" pitchFamily="34" charset="0"/>
                <a:ea typeface="Calibri" pitchFamily="34" charset="-122"/>
                <a:cs typeface="Calibri" pitchFamily="34" charset="-120"/>
              </a:rPr>
              <a:t>selectInput(), sliderInput(), pickerInput(), checkboxInput()</a:t>
            </a:r>
            <a:endParaRPr lang="en-US" sz="1000" dirty="0"/>
          </a:p>
        </p:txBody>
      </p:sp>
      <p:sp>
        <p:nvSpPr>
          <p:cNvPr id="15" name="Shape 13"/>
          <p:cNvSpPr/>
          <p:nvPr/>
        </p:nvSpPr>
        <p:spPr>
          <a:xfrm>
            <a:off x="338328" y="3255264"/>
            <a:ext cx="54864" cy="274320"/>
          </a:xfrm>
          <a:prstGeom prst="rect">
            <a:avLst/>
          </a:prstGeom>
          <a:solidFill>
            <a:srgbClr val="1A5276"/>
          </a:solidFill>
          <a:ln w="12700">
            <a:solidFill>
              <a:srgbClr val="1A5276"/>
            </a:solidFill>
            <a:prstDash val="solid"/>
          </a:ln>
        </p:spPr>
        <p:txBody>
          <a:bodyPr/>
          <a:lstStyle/>
          <a:p>
            <a:endParaRPr lang="en-US"/>
          </a:p>
        </p:txBody>
      </p:sp>
      <p:sp>
        <p:nvSpPr>
          <p:cNvPr id="16" name="Text 14"/>
          <p:cNvSpPr/>
          <p:nvPr/>
        </p:nvSpPr>
        <p:spPr>
          <a:xfrm>
            <a:off x="438912" y="3255264"/>
            <a:ext cx="2468880" cy="201168"/>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Output placeholders:</a:t>
            </a:r>
            <a:endParaRPr lang="en-US" sz="1050" dirty="0"/>
          </a:p>
        </p:txBody>
      </p:sp>
      <p:sp>
        <p:nvSpPr>
          <p:cNvPr id="17" name="Text 15"/>
          <p:cNvSpPr/>
          <p:nvPr/>
        </p:nvSpPr>
        <p:spPr>
          <a:xfrm>
            <a:off x="438912" y="3438144"/>
            <a:ext cx="2468880" cy="256032"/>
          </a:xfrm>
          <a:prstGeom prst="rect">
            <a:avLst/>
          </a:prstGeom>
          <a:noFill/>
          <a:ln/>
        </p:spPr>
        <p:txBody>
          <a:bodyPr wrap="square" rtlCol="0" anchor="ctr"/>
          <a:lstStyle/>
          <a:p>
            <a:pPr marL="0" indent="0">
              <a:buNone/>
            </a:pPr>
            <a:r>
              <a:rPr lang="en-US" sz="1000" dirty="0">
                <a:solidFill>
                  <a:srgbClr val="5A6A7E"/>
                </a:solidFill>
                <a:latin typeface="Calibri" pitchFamily="34" charset="0"/>
                <a:ea typeface="Calibri" pitchFamily="34" charset="-122"/>
                <a:cs typeface="Calibri" pitchFamily="34" charset="-120"/>
              </a:rPr>
              <a:t>plotOutput(), tableOutput(), textOutput()</a:t>
            </a:r>
            <a:endParaRPr lang="en-US" sz="1000" dirty="0"/>
          </a:p>
        </p:txBody>
      </p:sp>
      <p:sp>
        <p:nvSpPr>
          <p:cNvPr id="18" name="Shape 16"/>
          <p:cNvSpPr/>
          <p:nvPr/>
        </p:nvSpPr>
        <p:spPr>
          <a:xfrm>
            <a:off x="338328" y="3776472"/>
            <a:ext cx="54864" cy="274320"/>
          </a:xfrm>
          <a:prstGeom prst="rect">
            <a:avLst/>
          </a:prstGeom>
          <a:solidFill>
            <a:srgbClr val="1A5276"/>
          </a:solidFill>
          <a:ln w="12700">
            <a:solidFill>
              <a:srgbClr val="1A5276"/>
            </a:solidFill>
            <a:prstDash val="solid"/>
          </a:ln>
        </p:spPr>
        <p:txBody>
          <a:bodyPr/>
          <a:lstStyle/>
          <a:p>
            <a:endParaRPr lang="en-US"/>
          </a:p>
        </p:txBody>
      </p:sp>
      <p:sp>
        <p:nvSpPr>
          <p:cNvPr id="19" name="Text 17"/>
          <p:cNvSpPr/>
          <p:nvPr/>
        </p:nvSpPr>
        <p:spPr>
          <a:xfrm>
            <a:off x="438912" y="3776472"/>
            <a:ext cx="2468880" cy="201168"/>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Widget IDs:</a:t>
            </a:r>
            <a:endParaRPr lang="en-US" sz="1050" dirty="0"/>
          </a:p>
        </p:txBody>
      </p:sp>
      <p:sp>
        <p:nvSpPr>
          <p:cNvPr id="20" name="Text 18"/>
          <p:cNvSpPr/>
          <p:nvPr/>
        </p:nvSpPr>
        <p:spPr>
          <a:xfrm>
            <a:off x="438912" y="3959352"/>
            <a:ext cx="2468880" cy="256032"/>
          </a:xfrm>
          <a:prstGeom prst="rect">
            <a:avLst/>
          </a:prstGeom>
          <a:noFill/>
          <a:ln/>
        </p:spPr>
        <p:txBody>
          <a:bodyPr wrap="square" rtlCol="0" anchor="ctr"/>
          <a:lstStyle/>
          <a:p>
            <a:pPr marL="0" indent="0">
              <a:buNone/>
            </a:pPr>
            <a:r>
              <a:rPr lang="en-US" sz="1000" dirty="0">
                <a:solidFill>
                  <a:srgbClr val="5A6A7E"/>
                </a:solidFill>
                <a:latin typeface="Calibri" pitchFamily="34" charset="0"/>
                <a:ea typeface="Calibri" pitchFamily="34" charset="-122"/>
                <a:cs typeface="Calibri" pitchFamily="34" charset="-120"/>
              </a:rPr>
              <a:t>Each widget gets an ID (e.g. "</a:t>
            </a:r>
            <a:r>
              <a:rPr lang="en-US" sz="1000" dirty="0" err="1">
                <a:solidFill>
                  <a:srgbClr val="5A6A7E"/>
                </a:solidFill>
                <a:latin typeface="Calibri" pitchFamily="34" charset="0"/>
                <a:ea typeface="Calibri" pitchFamily="34" charset="-122"/>
                <a:cs typeface="Calibri" pitchFamily="34" charset="-120"/>
              </a:rPr>
              <a:t>PitcherInput</a:t>
            </a:r>
            <a:r>
              <a:rPr lang="en-US" sz="1000">
                <a:solidFill>
                  <a:srgbClr val="5A6A7E"/>
                </a:solidFill>
                <a:latin typeface="Calibri" pitchFamily="34" charset="0"/>
                <a:ea typeface="Calibri" pitchFamily="34" charset="-122"/>
                <a:cs typeface="Calibri" pitchFamily="34" charset="-120"/>
              </a:rPr>
              <a:t>") that reads </a:t>
            </a:r>
            <a:r>
              <a:rPr lang="en-US" sz="1000" dirty="0">
                <a:solidFill>
                  <a:srgbClr val="5A6A7E"/>
                </a:solidFill>
                <a:latin typeface="Calibri" pitchFamily="34" charset="0"/>
                <a:ea typeface="Calibri" pitchFamily="34" charset="-122"/>
                <a:cs typeface="Calibri" pitchFamily="34" charset="-120"/>
              </a:rPr>
              <a:t>values in the server</a:t>
            </a:r>
            <a:endParaRPr lang="en-US" sz="1000" dirty="0"/>
          </a:p>
        </p:txBody>
      </p:sp>
      <p:sp>
        <p:nvSpPr>
          <p:cNvPr id="21" name="Shape 19"/>
          <p:cNvSpPr/>
          <p:nvPr/>
        </p:nvSpPr>
        <p:spPr>
          <a:xfrm>
            <a:off x="3246120" y="822960"/>
            <a:ext cx="2834640" cy="4160520"/>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22" name="Shape 20"/>
          <p:cNvSpPr/>
          <p:nvPr/>
        </p:nvSpPr>
        <p:spPr>
          <a:xfrm>
            <a:off x="3246120" y="822960"/>
            <a:ext cx="2834640" cy="685800"/>
          </a:xfrm>
          <a:prstGeom prst="rect">
            <a:avLst/>
          </a:prstGeom>
          <a:solidFill>
            <a:srgbClr val="C0392B"/>
          </a:solidFill>
          <a:ln w="12700">
            <a:solidFill>
              <a:srgbClr val="C0392B"/>
            </a:solidFill>
            <a:prstDash val="solid"/>
          </a:ln>
        </p:spPr>
        <p:txBody>
          <a:bodyPr/>
          <a:lstStyle/>
          <a:p>
            <a:endParaRPr lang="en-US"/>
          </a:p>
        </p:txBody>
      </p:sp>
      <p:sp>
        <p:nvSpPr>
          <p:cNvPr id="23" name="Text 21"/>
          <p:cNvSpPr/>
          <p:nvPr/>
        </p:nvSpPr>
        <p:spPr>
          <a:xfrm>
            <a:off x="3355848" y="841248"/>
            <a:ext cx="2606040" cy="38404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Server</a:t>
            </a:r>
            <a:endParaRPr lang="en-US" sz="2200" dirty="0"/>
          </a:p>
        </p:txBody>
      </p:sp>
      <p:sp>
        <p:nvSpPr>
          <p:cNvPr id="24" name="Text 22"/>
          <p:cNvSpPr/>
          <p:nvPr/>
        </p:nvSpPr>
        <p:spPr>
          <a:xfrm>
            <a:off x="3355848" y="1216152"/>
            <a:ext cx="260604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Reactive Logic</a:t>
            </a:r>
            <a:endParaRPr lang="en-US" sz="1050" dirty="0"/>
          </a:p>
        </p:txBody>
      </p:sp>
      <p:sp>
        <p:nvSpPr>
          <p:cNvPr id="25" name="Text 23"/>
          <p:cNvSpPr/>
          <p:nvPr/>
        </p:nvSpPr>
        <p:spPr>
          <a:xfrm>
            <a:off x="3355848" y="1627632"/>
            <a:ext cx="2596896" cy="502920"/>
          </a:xfrm>
          <a:prstGeom prst="rect">
            <a:avLst/>
          </a:prstGeom>
          <a:noFill/>
          <a:ln/>
        </p:spPr>
        <p:txBody>
          <a:bodyPr wrap="square" rtlCol="0" anchor="ctr"/>
          <a:lstStyle/>
          <a:p>
            <a:pPr marL="0" indent="0">
              <a:buNone/>
            </a:pPr>
            <a:r>
              <a:rPr lang="en-US" sz="1100" dirty="0">
                <a:solidFill>
                  <a:srgbClr val="5A6A7E"/>
                </a:solidFill>
                <a:latin typeface="Calibri" pitchFamily="34" charset="0"/>
                <a:ea typeface="Calibri" pitchFamily="34" charset="-122"/>
                <a:cs typeface="Calibri" pitchFamily="34" charset="-120"/>
              </a:rPr>
              <a:t>A function(input, output, session) containing all the logic that turns user inputs into rendered outputs.</a:t>
            </a:r>
            <a:endParaRPr lang="en-US" sz="1100" dirty="0"/>
          </a:p>
        </p:txBody>
      </p:sp>
      <p:sp>
        <p:nvSpPr>
          <p:cNvPr id="26" name="Shape 24"/>
          <p:cNvSpPr/>
          <p:nvPr/>
        </p:nvSpPr>
        <p:spPr>
          <a:xfrm>
            <a:off x="3355848" y="2212848"/>
            <a:ext cx="54864" cy="274320"/>
          </a:xfrm>
          <a:prstGeom prst="rect">
            <a:avLst/>
          </a:prstGeom>
          <a:solidFill>
            <a:srgbClr val="C0392B"/>
          </a:solidFill>
          <a:ln w="12700">
            <a:solidFill>
              <a:srgbClr val="C0392B"/>
            </a:solidFill>
            <a:prstDash val="solid"/>
          </a:ln>
        </p:spPr>
        <p:txBody>
          <a:bodyPr/>
          <a:lstStyle/>
          <a:p>
            <a:endParaRPr lang="en-US"/>
          </a:p>
        </p:txBody>
      </p:sp>
      <p:sp>
        <p:nvSpPr>
          <p:cNvPr id="27" name="Text 25"/>
          <p:cNvSpPr/>
          <p:nvPr/>
        </p:nvSpPr>
        <p:spPr>
          <a:xfrm>
            <a:off x="3456432" y="2212848"/>
            <a:ext cx="2468880" cy="201168"/>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render*() functions:</a:t>
            </a:r>
            <a:endParaRPr lang="en-US" sz="1050" dirty="0"/>
          </a:p>
        </p:txBody>
      </p:sp>
      <p:sp>
        <p:nvSpPr>
          <p:cNvPr id="28" name="Text 26"/>
          <p:cNvSpPr/>
          <p:nvPr/>
        </p:nvSpPr>
        <p:spPr>
          <a:xfrm>
            <a:off x="3456432" y="2395728"/>
            <a:ext cx="2468880" cy="256032"/>
          </a:xfrm>
          <a:prstGeom prst="rect">
            <a:avLst/>
          </a:prstGeom>
          <a:noFill/>
          <a:ln/>
        </p:spPr>
        <p:txBody>
          <a:bodyPr wrap="square" rtlCol="0" anchor="ctr"/>
          <a:lstStyle/>
          <a:p>
            <a:pPr marL="0" indent="0">
              <a:buNone/>
            </a:pPr>
            <a:r>
              <a:rPr lang="en-US" sz="1000" dirty="0">
                <a:solidFill>
                  <a:srgbClr val="5A6A7E"/>
                </a:solidFill>
                <a:latin typeface="Calibri" pitchFamily="34" charset="0"/>
                <a:ea typeface="Calibri" pitchFamily="34" charset="-122"/>
                <a:cs typeface="Calibri" pitchFamily="34" charset="-120"/>
              </a:rPr>
              <a:t>renderPlot(), renderTable(), renderText() — each creates one output</a:t>
            </a:r>
            <a:endParaRPr lang="en-US" sz="1000" dirty="0"/>
          </a:p>
        </p:txBody>
      </p:sp>
      <p:sp>
        <p:nvSpPr>
          <p:cNvPr id="29" name="Shape 27"/>
          <p:cNvSpPr/>
          <p:nvPr/>
        </p:nvSpPr>
        <p:spPr>
          <a:xfrm>
            <a:off x="3355848" y="2734056"/>
            <a:ext cx="54864" cy="274320"/>
          </a:xfrm>
          <a:prstGeom prst="rect">
            <a:avLst/>
          </a:prstGeom>
          <a:solidFill>
            <a:srgbClr val="C0392B"/>
          </a:solidFill>
          <a:ln w="12700">
            <a:solidFill>
              <a:srgbClr val="C0392B"/>
            </a:solidFill>
            <a:prstDash val="solid"/>
          </a:ln>
        </p:spPr>
        <p:txBody>
          <a:bodyPr/>
          <a:lstStyle/>
          <a:p>
            <a:endParaRPr lang="en-US"/>
          </a:p>
        </p:txBody>
      </p:sp>
      <p:sp>
        <p:nvSpPr>
          <p:cNvPr id="30" name="Text 28"/>
          <p:cNvSpPr/>
          <p:nvPr/>
        </p:nvSpPr>
        <p:spPr>
          <a:xfrm>
            <a:off x="3456432" y="2734056"/>
            <a:ext cx="2468880" cy="201168"/>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reactive():</a:t>
            </a:r>
            <a:endParaRPr lang="en-US" sz="1050" dirty="0"/>
          </a:p>
        </p:txBody>
      </p:sp>
      <p:sp>
        <p:nvSpPr>
          <p:cNvPr id="31" name="Text 29"/>
          <p:cNvSpPr/>
          <p:nvPr/>
        </p:nvSpPr>
        <p:spPr>
          <a:xfrm>
            <a:off x="3456432" y="2916936"/>
            <a:ext cx="2468880" cy="256032"/>
          </a:xfrm>
          <a:prstGeom prst="rect">
            <a:avLst/>
          </a:prstGeom>
          <a:noFill/>
          <a:ln/>
        </p:spPr>
        <p:txBody>
          <a:bodyPr wrap="square" rtlCol="0" anchor="ctr"/>
          <a:lstStyle/>
          <a:p>
            <a:pPr marL="0" indent="0">
              <a:buNone/>
            </a:pPr>
            <a:r>
              <a:rPr lang="en-US" sz="1000" dirty="0">
                <a:solidFill>
                  <a:srgbClr val="5A6A7E"/>
                </a:solidFill>
                <a:latin typeface="Calibri" pitchFamily="34" charset="0"/>
                <a:ea typeface="Calibri" pitchFamily="34" charset="-122"/>
                <a:cs typeface="Calibri" pitchFamily="34" charset="-120"/>
              </a:rPr>
              <a:t>Cached expression that re-runs only when its input dependencies change</a:t>
            </a:r>
            <a:endParaRPr lang="en-US" sz="1000" dirty="0"/>
          </a:p>
        </p:txBody>
      </p:sp>
      <p:sp>
        <p:nvSpPr>
          <p:cNvPr id="32" name="Shape 30"/>
          <p:cNvSpPr/>
          <p:nvPr/>
        </p:nvSpPr>
        <p:spPr>
          <a:xfrm>
            <a:off x="3355848" y="3255264"/>
            <a:ext cx="54864" cy="274320"/>
          </a:xfrm>
          <a:prstGeom prst="rect">
            <a:avLst/>
          </a:prstGeom>
          <a:solidFill>
            <a:srgbClr val="C0392B"/>
          </a:solidFill>
          <a:ln w="12700">
            <a:solidFill>
              <a:srgbClr val="C0392B"/>
            </a:solidFill>
            <a:prstDash val="solid"/>
          </a:ln>
        </p:spPr>
        <p:txBody>
          <a:bodyPr/>
          <a:lstStyle/>
          <a:p>
            <a:endParaRPr lang="en-US"/>
          </a:p>
        </p:txBody>
      </p:sp>
      <p:sp>
        <p:nvSpPr>
          <p:cNvPr id="33" name="Text 31"/>
          <p:cNvSpPr/>
          <p:nvPr/>
        </p:nvSpPr>
        <p:spPr>
          <a:xfrm>
            <a:off x="3456432" y="3255264"/>
            <a:ext cx="2468880" cy="201168"/>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observeEvent():</a:t>
            </a:r>
            <a:endParaRPr lang="en-US" sz="1050" dirty="0"/>
          </a:p>
        </p:txBody>
      </p:sp>
      <p:sp>
        <p:nvSpPr>
          <p:cNvPr id="34" name="Text 32"/>
          <p:cNvSpPr/>
          <p:nvPr/>
        </p:nvSpPr>
        <p:spPr>
          <a:xfrm>
            <a:off x="3456432" y="3438144"/>
            <a:ext cx="2468880" cy="256032"/>
          </a:xfrm>
          <a:prstGeom prst="rect">
            <a:avLst/>
          </a:prstGeom>
          <a:noFill/>
          <a:ln/>
        </p:spPr>
        <p:txBody>
          <a:bodyPr wrap="square" rtlCol="0" anchor="ctr"/>
          <a:lstStyle/>
          <a:p>
            <a:pPr marL="0" indent="0">
              <a:buNone/>
            </a:pPr>
            <a:r>
              <a:rPr lang="en-US" sz="1000" dirty="0">
                <a:solidFill>
                  <a:srgbClr val="5A6A7E"/>
                </a:solidFill>
                <a:latin typeface="Calibri" pitchFamily="34" charset="0"/>
                <a:ea typeface="Calibri" pitchFamily="34" charset="-122"/>
                <a:cs typeface="Calibri" pitchFamily="34" charset="-120"/>
              </a:rPr>
              <a:t>Triggers side effects (e.g. updating a widget) when a specific input changes</a:t>
            </a:r>
            <a:endParaRPr lang="en-US" sz="1000" dirty="0"/>
          </a:p>
        </p:txBody>
      </p:sp>
      <p:sp>
        <p:nvSpPr>
          <p:cNvPr id="35" name="Shape 33"/>
          <p:cNvSpPr/>
          <p:nvPr/>
        </p:nvSpPr>
        <p:spPr>
          <a:xfrm>
            <a:off x="3355848" y="3776472"/>
            <a:ext cx="54864" cy="274320"/>
          </a:xfrm>
          <a:prstGeom prst="rect">
            <a:avLst/>
          </a:prstGeom>
          <a:solidFill>
            <a:srgbClr val="C0392B"/>
          </a:solidFill>
          <a:ln w="12700">
            <a:solidFill>
              <a:srgbClr val="C0392B"/>
            </a:solidFill>
            <a:prstDash val="solid"/>
          </a:ln>
        </p:spPr>
        <p:txBody>
          <a:bodyPr/>
          <a:lstStyle/>
          <a:p>
            <a:endParaRPr lang="en-US"/>
          </a:p>
        </p:txBody>
      </p:sp>
      <p:sp>
        <p:nvSpPr>
          <p:cNvPr id="36" name="Text 34"/>
          <p:cNvSpPr/>
          <p:nvPr/>
        </p:nvSpPr>
        <p:spPr>
          <a:xfrm>
            <a:off x="3456432" y="3776472"/>
            <a:ext cx="2468880" cy="201168"/>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input$* / output$*:</a:t>
            </a:r>
            <a:endParaRPr lang="en-US" sz="1050" dirty="0"/>
          </a:p>
        </p:txBody>
      </p:sp>
      <p:sp>
        <p:nvSpPr>
          <p:cNvPr id="37" name="Text 35"/>
          <p:cNvSpPr/>
          <p:nvPr/>
        </p:nvSpPr>
        <p:spPr>
          <a:xfrm>
            <a:off x="3456432" y="3959352"/>
            <a:ext cx="2468880" cy="256032"/>
          </a:xfrm>
          <a:prstGeom prst="rect">
            <a:avLst/>
          </a:prstGeom>
          <a:noFill/>
          <a:ln/>
        </p:spPr>
        <p:txBody>
          <a:bodyPr wrap="square" rtlCol="0" anchor="ctr"/>
          <a:lstStyle/>
          <a:p>
            <a:pPr marL="0" indent="0">
              <a:buNone/>
            </a:pPr>
            <a:r>
              <a:rPr lang="en-US" sz="1000" dirty="0">
                <a:solidFill>
                  <a:srgbClr val="5A6A7E"/>
                </a:solidFill>
                <a:latin typeface="Calibri" pitchFamily="34" charset="0"/>
                <a:ea typeface="Calibri" pitchFamily="34" charset="-122"/>
                <a:cs typeface="Calibri" pitchFamily="34" charset="-120"/>
              </a:rPr>
              <a:t>input$ reads widget values; output$ sends results back to the UI</a:t>
            </a:r>
            <a:endParaRPr lang="en-US" sz="1000" dirty="0"/>
          </a:p>
        </p:txBody>
      </p:sp>
      <p:sp>
        <p:nvSpPr>
          <p:cNvPr id="38" name="Shape 36"/>
          <p:cNvSpPr/>
          <p:nvPr/>
        </p:nvSpPr>
        <p:spPr>
          <a:xfrm>
            <a:off x="6263640" y="822960"/>
            <a:ext cx="2651760" cy="4160520"/>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39" name="Shape 37"/>
          <p:cNvSpPr/>
          <p:nvPr/>
        </p:nvSpPr>
        <p:spPr>
          <a:xfrm>
            <a:off x="6263640" y="822960"/>
            <a:ext cx="2651760" cy="685800"/>
          </a:xfrm>
          <a:prstGeom prst="rect">
            <a:avLst/>
          </a:prstGeom>
          <a:solidFill>
            <a:srgbClr val="1A7245"/>
          </a:solidFill>
          <a:ln w="12700">
            <a:solidFill>
              <a:srgbClr val="1A7245"/>
            </a:solidFill>
            <a:prstDash val="solid"/>
          </a:ln>
        </p:spPr>
        <p:txBody>
          <a:bodyPr/>
          <a:lstStyle/>
          <a:p>
            <a:endParaRPr lang="en-US"/>
          </a:p>
        </p:txBody>
      </p:sp>
      <p:sp>
        <p:nvSpPr>
          <p:cNvPr id="40" name="Text 38"/>
          <p:cNvSpPr/>
          <p:nvPr/>
        </p:nvSpPr>
        <p:spPr>
          <a:xfrm>
            <a:off x="6373368" y="841248"/>
            <a:ext cx="2423160" cy="38404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shinyApp()</a:t>
            </a:r>
            <a:endParaRPr lang="en-US" sz="1800" dirty="0"/>
          </a:p>
        </p:txBody>
      </p:sp>
      <p:sp>
        <p:nvSpPr>
          <p:cNvPr id="41" name="Text 39"/>
          <p:cNvSpPr/>
          <p:nvPr/>
        </p:nvSpPr>
        <p:spPr>
          <a:xfrm>
            <a:off x="6373368" y="1216152"/>
            <a:ext cx="2423160" cy="2286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Launch</a:t>
            </a:r>
            <a:endParaRPr lang="en-US" sz="1050" dirty="0"/>
          </a:p>
        </p:txBody>
      </p:sp>
      <p:sp>
        <p:nvSpPr>
          <p:cNvPr id="42" name="Text 40"/>
          <p:cNvSpPr/>
          <p:nvPr/>
        </p:nvSpPr>
        <p:spPr>
          <a:xfrm>
            <a:off x="6373368" y="1627632"/>
            <a:ext cx="2423160" cy="502920"/>
          </a:xfrm>
          <a:prstGeom prst="rect">
            <a:avLst/>
          </a:prstGeom>
          <a:noFill/>
          <a:ln/>
        </p:spPr>
        <p:txBody>
          <a:bodyPr wrap="square" rtlCol="0" anchor="ctr"/>
          <a:lstStyle/>
          <a:p>
            <a:pPr marL="0" indent="0">
              <a:buNone/>
            </a:pPr>
            <a:r>
              <a:rPr lang="en-US" sz="1100" dirty="0">
                <a:solidFill>
                  <a:srgbClr val="5A6A7E"/>
                </a:solidFill>
                <a:latin typeface="Calibri" pitchFamily="34" charset="0"/>
                <a:ea typeface="Calibri" pitchFamily="34" charset="-122"/>
                <a:cs typeface="Calibri" pitchFamily="34" charset="-120"/>
              </a:rPr>
              <a:t>One line glues the UI and Server together and launches the application.</a:t>
            </a:r>
            <a:endParaRPr lang="en-US" sz="1100" dirty="0"/>
          </a:p>
        </p:txBody>
      </p:sp>
      <p:sp>
        <p:nvSpPr>
          <p:cNvPr id="43" name="Shape 41"/>
          <p:cNvSpPr/>
          <p:nvPr/>
        </p:nvSpPr>
        <p:spPr>
          <a:xfrm>
            <a:off x="6373368" y="2212848"/>
            <a:ext cx="2423160" cy="548640"/>
          </a:xfrm>
          <a:prstGeom prst="rect">
            <a:avLst/>
          </a:prstGeom>
          <a:solidFill>
            <a:srgbClr val="1E2D40"/>
          </a:solidFill>
          <a:ln w="12700">
            <a:solidFill>
              <a:srgbClr val="1E2D40"/>
            </a:solidFill>
            <a:prstDash val="solid"/>
          </a:ln>
        </p:spPr>
        <p:txBody>
          <a:bodyPr/>
          <a:lstStyle/>
          <a:p>
            <a:endParaRPr lang="en-US"/>
          </a:p>
        </p:txBody>
      </p:sp>
      <p:sp>
        <p:nvSpPr>
          <p:cNvPr id="44" name="Text 42"/>
          <p:cNvSpPr/>
          <p:nvPr/>
        </p:nvSpPr>
        <p:spPr>
          <a:xfrm>
            <a:off x="6446520" y="2304288"/>
            <a:ext cx="2286000" cy="320040"/>
          </a:xfrm>
          <a:prstGeom prst="rect">
            <a:avLst/>
          </a:prstGeom>
          <a:noFill/>
          <a:ln/>
        </p:spPr>
        <p:txBody>
          <a:bodyPr wrap="square" rtlCol="0" anchor="ctr"/>
          <a:lstStyle/>
          <a:p>
            <a:pPr marL="0" indent="0">
              <a:buNone/>
            </a:pPr>
            <a:r>
              <a:rPr lang="en-US" sz="1050" dirty="0">
                <a:solidFill>
                  <a:srgbClr val="C8DCEF"/>
                </a:solidFill>
                <a:latin typeface="Consolas" pitchFamily="34" charset="0"/>
                <a:ea typeface="Consolas" pitchFamily="34" charset="-122"/>
                <a:cs typeface="Consolas" pitchFamily="34" charset="-120"/>
              </a:rPr>
              <a:t>shinyApp(ui, server)</a:t>
            </a:r>
            <a:endParaRPr lang="en-US" sz="1050" dirty="0"/>
          </a:p>
        </p:txBody>
      </p:sp>
      <p:sp>
        <p:nvSpPr>
          <p:cNvPr id="45" name="Shape 43"/>
          <p:cNvSpPr/>
          <p:nvPr/>
        </p:nvSpPr>
        <p:spPr>
          <a:xfrm>
            <a:off x="6373368" y="2898648"/>
            <a:ext cx="54864" cy="256032"/>
          </a:xfrm>
          <a:prstGeom prst="rect">
            <a:avLst/>
          </a:prstGeom>
          <a:solidFill>
            <a:srgbClr val="1A7245"/>
          </a:solidFill>
          <a:ln w="12700">
            <a:solidFill>
              <a:srgbClr val="1A7245"/>
            </a:solidFill>
            <a:prstDash val="solid"/>
          </a:ln>
        </p:spPr>
        <p:txBody>
          <a:bodyPr/>
          <a:lstStyle/>
          <a:p>
            <a:endParaRPr lang="en-US"/>
          </a:p>
        </p:txBody>
      </p:sp>
      <p:sp>
        <p:nvSpPr>
          <p:cNvPr id="46" name="Text 44"/>
          <p:cNvSpPr/>
          <p:nvPr/>
        </p:nvSpPr>
        <p:spPr>
          <a:xfrm>
            <a:off x="6473952" y="2898648"/>
            <a:ext cx="2331720" cy="182880"/>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Run locally:</a:t>
            </a:r>
            <a:endParaRPr lang="en-US" sz="1000" dirty="0"/>
          </a:p>
        </p:txBody>
      </p:sp>
      <p:sp>
        <p:nvSpPr>
          <p:cNvPr id="47" name="Text 45"/>
          <p:cNvSpPr/>
          <p:nvPr/>
        </p:nvSpPr>
        <p:spPr>
          <a:xfrm>
            <a:off x="6473952" y="3063240"/>
            <a:ext cx="2331720" cy="237744"/>
          </a:xfrm>
          <a:prstGeom prst="rect">
            <a:avLst/>
          </a:prstGeom>
          <a:noFill/>
          <a:ln/>
        </p:spPr>
        <p:txBody>
          <a:bodyPr wrap="square" rtlCol="0" anchor="ctr"/>
          <a:lstStyle/>
          <a:p>
            <a:pPr marL="0" indent="0">
              <a:buNone/>
            </a:pPr>
            <a:r>
              <a:rPr lang="en-US" sz="950" dirty="0">
                <a:solidFill>
                  <a:srgbClr val="5A6A7E"/>
                </a:solidFill>
                <a:latin typeface="Calibri" pitchFamily="34" charset="0"/>
                <a:ea typeface="Calibri" pitchFamily="34" charset="-122"/>
                <a:cs typeface="Calibri" pitchFamily="34" charset="-120"/>
              </a:rPr>
              <a:t>Launches in your browser via localhost</a:t>
            </a:r>
            <a:endParaRPr lang="en-US" sz="950" dirty="0"/>
          </a:p>
        </p:txBody>
      </p:sp>
      <p:sp>
        <p:nvSpPr>
          <p:cNvPr id="48" name="Shape 46"/>
          <p:cNvSpPr/>
          <p:nvPr/>
        </p:nvSpPr>
        <p:spPr>
          <a:xfrm>
            <a:off x="6373368" y="3374136"/>
            <a:ext cx="54864" cy="256032"/>
          </a:xfrm>
          <a:prstGeom prst="rect">
            <a:avLst/>
          </a:prstGeom>
          <a:solidFill>
            <a:srgbClr val="1A7245"/>
          </a:solidFill>
          <a:ln w="12700">
            <a:solidFill>
              <a:srgbClr val="1A7245"/>
            </a:solidFill>
            <a:prstDash val="solid"/>
          </a:ln>
        </p:spPr>
        <p:txBody>
          <a:bodyPr/>
          <a:lstStyle/>
          <a:p>
            <a:endParaRPr lang="en-US"/>
          </a:p>
        </p:txBody>
      </p:sp>
      <p:sp>
        <p:nvSpPr>
          <p:cNvPr id="49" name="Text 47"/>
          <p:cNvSpPr/>
          <p:nvPr/>
        </p:nvSpPr>
        <p:spPr>
          <a:xfrm>
            <a:off x="6473952" y="3374136"/>
            <a:ext cx="2331720" cy="182880"/>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shinyapps.io:</a:t>
            </a:r>
            <a:endParaRPr lang="en-US" sz="1000" dirty="0"/>
          </a:p>
        </p:txBody>
      </p:sp>
      <p:sp>
        <p:nvSpPr>
          <p:cNvPr id="50" name="Text 48"/>
          <p:cNvSpPr/>
          <p:nvPr/>
        </p:nvSpPr>
        <p:spPr>
          <a:xfrm>
            <a:off x="6473952" y="3538728"/>
            <a:ext cx="2331720" cy="237744"/>
          </a:xfrm>
          <a:prstGeom prst="rect">
            <a:avLst/>
          </a:prstGeom>
          <a:noFill/>
          <a:ln/>
        </p:spPr>
        <p:txBody>
          <a:bodyPr wrap="square" rtlCol="0" anchor="ctr"/>
          <a:lstStyle/>
          <a:p>
            <a:pPr marL="0" indent="0">
              <a:buNone/>
            </a:pPr>
            <a:r>
              <a:rPr lang="en-US" sz="950" dirty="0">
                <a:solidFill>
                  <a:srgbClr val="5A6A7E"/>
                </a:solidFill>
                <a:latin typeface="Calibri" pitchFamily="34" charset="0"/>
                <a:ea typeface="Calibri" pitchFamily="34" charset="-122"/>
                <a:cs typeface="Calibri" pitchFamily="34" charset="-120"/>
              </a:rPr>
              <a:t>One-click deploy from RStudio to the web</a:t>
            </a:r>
            <a:endParaRPr lang="en-US" sz="950" dirty="0"/>
          </a:p>
        </p:txBody>
      </p:sp>
      <p:sp>
        <p:nvSpPr>
          <p:cNvPr id="51" name="Shape 49"/>
          <p:cNvSpPr/>
          <p:nvPr/>
        </p:nvSpPr>
        <p:spPr>
          <a:xfrm>
            <a:off x="6373368" y="3849624"/>
            <a:ext cx="54864" cy="256032"/>
          </a:xfrm>
          <a:prstGeom prst="rect">
            <a:avLst/>
          </a:prstGeom>
          <a:solidFill>
            <a:srgbClr val="1A7245"/>
          </a:solidFill>
          <a:ln w="12700">
            <a:solidFill>
              <a:srgbClr val="1A7245"/>
            </a:solidFill>
            <a:prstDash val="solid"/>
          </a:ln>
        </p:spPr>
        <p:txBody>
          <a:bodyPr/>
          <a:lstStyle/>
          <a:p>
            <a:endParaRPr lang="en-US"/>
          </a:p>
        </p:txBody>
      </p:sp>
      <p:sp>
        <p:nvSpPr>
          <p:cNvPr id="52" name="Text 50"/>
          <p:cNvSpPr/>
          <p:nvPr/>
        </p:nvSpPr>
        <p:spPr>
          <a:xfrm>
            <a:off x="6473952" y="3849624"/>
            <a:ext cx="2331720" cy="182880"/>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Posit Connect:</a:t>
            </a:r>
            <a:endParaRPr lang="en-US" sz="1000" dirty="0"/>
          </a:p>
        </p:txBody>
      </p:sp>
      <p:sp>
        <p:nvSpPr>
          <p:cNvPr id="53" name="Text 51"/>
          <p:cNvSpPr/>
          <p:nvPr/>
        </p:nvSpPr>
        <p:spPr>
          <a:xfrm>
            <a:off x="6473952" y="4014216"/>
            <a:ext cx="2331720" cy="237744"/>
          </a:xfrm>
          <a:prstGeom prst="rect">
            <a:avLst/>
          </a:prstGeom>
          <a:noFill/>
          <a:ln/>
        </p:spPr>
        <p:txBody>
          <a:bodyPr wrap="square" rtlCol="0" anchor="ctr"/>
          <a:lstStyle/>
          <a:p>
            <a:pPr marL="0" indent="0">
              <a:buNone/>
            </a:pPr>
            <a:r>
              <a:rPr lang="en-US" sz="950" dirty="0">
                <a:solidFill>
                  <a:srgbClr val="5A6A7E"/>
                </a:solidFill>
                <a:latin typeface="Calibri" pitchFamily="34" charset="0"/>
                <a:ea typeface="Calibri" pitchFamily="34" charset="-122"/>
                <a:cs typeface="Calibri" pitchFamily="34" charset="-120"/>
              </a:rPr>
              <a:t>Enterprise hosting with access controls</a:t>
            </a:r>
            <a:endParaRPr lang="en-US" sz="950" dirty="0"/>
          </a:p>
        </p:txBody>
      </p:sp>
      <p:sp>
        <p:nvSpPr>
          <p:cNvPr id="54" name="Shape 52"/>
          <p:cNvSpPr/>
          <p:nvPr/>
        </p:nvSpPr>
        <p:spPr>
          <a:xfrm>
            <a:off x="6373368" y="4325112"/>
            <a:ext cx="54864" cy="256032"/>
          </a:xfrm>
          <a:prstGeom prst="rect">
            <a:avLst/>
          </a:prstGeom>
          <a:solidFill>
            <a:srgbClr val="1A7245"/>
          </a:solidFill>
          <a:ln w="12700">
            <a:solidFill>
              <a:srgbClr val="1A7245"/>
            </a:solidFill>
            <a:prstDash val="solid"/>
          </a:ln>
        </p:spPr>
        <p:txBody>
          <a:bodyPr/>
          <a:lstStyle/>
          <a:p>
            <a:endParaRPr lang="en-US"/>
          </a:p>
        </p:txBody>
      </p:sp>
      <p:sp>
        <p:nvSpPr>
          <p:cNvPr id="55" name="Text 53"/>
          <p:cNvSpPr/>
          <p:nvPr/>
        </p:nvSpPr>
        <p:spPr>
          <a:xfrm>
            <a:off x="6473952" y="4325112"/>
            <a:ext cx="2331720" cy="182880"/>
          </a:xfrm>
          <a:prstGeom prst="rect">
            <a:avLst/>
          </a:prstGeom>
          <a:noFill/>
          <a:ln/>
        </p:spPr>
        <p:txBody>
          <a:bodyPr wrap="square"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rsconnect pkg:</a:t>
            </a:r>
            <a:endParaRPr lang="en-US" sz="1000" dirty="0"/>
          </a:p>
        </p:txBody>
      </p:sp>
      <p:sp>
        <p:nvSpPr>
          <p:cNvPr id="56" name="Text 54"/>
          <p:cNvSpPr/>
          <p:nvPr/>
        </p:nvSpPr>
        <p:spPr>
          <a:xfrm>
            <a:off x="6473952" y="4489704"/>
            <a:ext cx="2331720" cy="237744"/>
          </a:xfrm>
          <a:prstGeom prst="rect">
            <a:avLst/>
          </a:prstGeom>
          <a:noFill/>
          <a:ln/>
        </p:spPr>
        <p:txBody>
          <a:bodyPr wrap="square" rtlCol="0" anchor="ctr"/>
          <a:lstStyle/>
          <a:p>
            <a:pPr marL="0" indent="0">
              <a:buNone/>
            </a:pPr>
            <a:r>
              <a:rPr lang="en-US" sz="950" dirty="0">
                <a:solidFill>
                  <a:srgbClr val="5A6A7E"/>
                </a:solidFill>
                <a:latin typeface="Calibri" pitchFamily="34" charset="0"/>
                <a:ea typeface="Calibri" pitchFamily="34" charset="-122"/>
                <a:cs typeface="Calibri" pitchFamily="34" charset="-120"/>
              </a:rPr>
              <a:t>deployApp() deploys programmatically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UI: Inputs &amp; Layout</a:t>
            </a:r>
            <a:endParaRPr lang="en-US" sz="2400" dirty="0"/>
          </a:p>
        </p:txBody>
      </p:sp>
      <p:sp>
        <p:nvSpPr>
          <p:cNvPr id="4" name="Shape 2"/>
          <p:cNvSpPr/>
          <p:nvPr/>
        </p:nvSpPr>
        <p:spPr>
          <a:xfrm>
            <a:off x="320040" y="868680"/>
            <a:ext cx="4663440" cy="3886200"/>
          </a:xfrm>
          <a:prstGeom prst="rect">
            <a:avLst/>
          </a:prstGeom>
          <a:solidFill>
            <a:srgbClr val="1E2D40"/>
          </a:solidFill>
          <a:ln w="12700">
            <a:solidFill>
              <a:srgbClr val="1E2D40"/>
            </a:solidFill>
            <a:prstDash val="solid"/>
          </a:ln>
        </p:spPr>
        <p:txBody>
          <a:bodyPr/>
          <a:lstStyle/>
          <a:p>
            <a:endParaRPr lang="en-US"/>
          </a:p>
        </p:txBody>
      </p:sp>
      <p:sp>
        <p:nvSpPr>
          <p:cNvPr id="5" name="Text 3"/>
          <p:cNvSpPr/>
          <p:nvPr/>
        </p:nvSpPr>
        <p:spPr>
          <a:xfrm>
            <a:off x="457200" y="987552"/>
            <a:ext cx="4389120" cy="246888"/>
          </a:xfrm>
          <a:prstGeom prst="rect">
            <a:avLst/>
          </a:prstGeom>
          <a:noFill/>
          <a:ln/>
        </p:spPr>
        <p:txBody>
          <a:bodyPr wrap="square" rtlCol="0" anchor="ctr"/>
          <a:lstStyle/>
          <a:p>
            <a:pPr marL="0" indent="0" algn="l">
              <a:buNone/>
            </a:pPr>
            <a:r>
              <a:rPr lang="en-US" sz="950" dirty="0">
                <a:solidFill>
                  <a:srgbClr val="C8DCEF"/>
                </a:solidFill>
                <a:latin typeface="Consolas" pitchFamily="34" charset="0"/>
                <a:ea typeface="Consolas" pitchFamily="34" charset="-122"/>
                <a:cs typeface="Consolas" pitchFamily="34" charset="-120"/>
              </a:rPr>
              <a:t>ui &lt;- page_sidebar(</a:t>
            </a:r>
            <a:endParaRPr lang="en-US" sz="950" dirty="0"/>
          </a:p>
        </p:txBody>
      </p:sp>
      <p:sp>
        <p:nvSpPr>
          <p:cNvPr id="6" name="Text 4"/>
          <p:cNvSpPr/>
          <p:nvPr/>
        </p:nvSpPr>
        <p:spPr>
          <a:xfrm>
            <a:off x="457200" y="1218895"/>
            <a:ext cx="4389120" cy="246888"/>
          </a:xfrm>
          <a:prstGeom prst="rect">
            <a:avLst/>
          </a:prstGeom>
          <a:noFill/>
          <a:ln/>
        </p:spPr>
        <p:txBody>
          <a:bodyPr wrap="square" rtlCol="0" anchor="ctr"/>
          <a:lstStyle/>
          <a:p>
            <a:pPr marL="0" indent="0" algn="l">
              <a:buNone/>
            </a:pPr>
            <a:r>
              <a:rPr lang="en-US" sz="950" dirty="0">
                <a:solidFill>
                  <a:srgbClr val="A8D5A2"/>
                </a:solidFill>
                <a:latin typeface="Consolas" pitchFamily="34" charset="0"/>
                <a:ea typeface="Consolas" pitchFamily="34" charset="-122"/>
                <a:cs typeface="Consolas" pitchFamily="34" charset="-120"/>
              </a:rPr>
              <a:t>  title = "UConn Baseball Analytics",</a:t>
            </a:r>
            <a:endParaRPr lang="en-US" sz="950" dirty="0"/>
          </a:p>
        </p:txBody>
      </p:sp>
      <p:sp>
        <p:nvSpPr>
          <p:cNvPr id="7" name="Text 5"/>
          <p:cNvSpPr/>
          <p:nvPr/>
        </p:nvSpPr>
        <p:spPr>
          <a:xfrm>
            <a:off x="457200" y="1450238"/>
            <a:ext cx="4389120" cy="246888"/>
          </a:xfrm>
          <a:prstGeom prst="rect">
            <a:avLst/>
          </a:prstGeom>
          <a:noFill/>
          <a:ln/>
        </p:spPr>
        <p:txBody>
          <a:bodyPr wrap="square" rtlCol="0" anchor="ctr"/>
          <a:lstStyle/>
          <a:p>
            <a:pPr marL="0" indent="0" algn="l">
              <a:buNone/>
            </a:pPr>
            <a:r>
              <a:rPr lang="en-US" sz="950" dirty="0">
                <a:solidFill>
                  <a:srgbClr val="C8DCEF"/>
                </a:solidFill>
                <a:latin typeface="Consolas" pitchFamily="34" charset="0"/>
                <a:ea typeface="Consolas" pitchFamily="34" charset="-122"/>
                <a:cs typeface="Consolas" pitchFamily="34" charset="-120"/>
              </a:rPr>
              <a:t>  sidebar = sidebar(</a:t>
            </a:r>
            <a:endParaRPr lang="en-US" sz="950" dirty="0"/>
          </a:p>
        </p:txBody>
      </p:sp>
      <p:sp>
        <p:nvSpPr>
          <p:cNvPr id="8" name="Text 6"/>
          <p:cNvSpPr/>
          <p:nvPr/>
        </p:nvSpPr>
        <p:spPr>
          <a:xfrm>
            <a:off x="457200" y="1681582"/>
            <a:ext cx="4389120" cy="246888"/>
          </a:xfrm>
          <a:prstGeom prst="rect">
            <a:avLst/>
          </a:prstGeom>
          <a:noFill/>
          <a:ln/>
        </p:spPr>
        <p:txBody>
          <a:bodyPr wrap="square" rtlCol="0" anchor="ctr"/>
          <a:lstStyle/>
          <a:p>
            <a:pPr marL="0" indent="0" algn="l">
              <a:buNone/>
            </a:pPr>
            <a:r>
              <a:rPr lang="en-US" sz="950" dirty="0">
                <a:solidFill>
                  <a:srgbClr val="F7DC6F"/>
                </a:solidFill>
                <a:latin typeface="Consolas" pitchFamily="34" charset="0"/>
                <a:ea typeface="Consolas" pitchFamily="34" charset="-122"/>
                <a:cs typeface="Consolas" pitchFamily="34" charset="-120"/>
              </a:rPr>
              <a:t>    selectInput("PitcherInput",</a:t>
            </a:r>
            <a:endParaRPr lang="en-US" sz="950" dirty="0"/>
          </a:p>
        </p:txBody>
      </p:sp>
      <p:sp>
        <p:nvSpPr>
          <p:cNvPr id="9" name="Text 7"/>
          <p:cNvSpPr/>
          <p:nvPr/>
        </p:nvSpPr>
        <p:spPr>
          <a:xfrm>
            <a:off x="457200" y="1912925"/>
            <a:ext cx="4389120" cy="246888"/>
          </a:xfrm>
          <a:prstGeom prst="rect">
            <a:avLst/>
          </a:prstGeom>
          <a:noFill/>
          <a:ln/>
        </p:spPr>
        <p:txBody>
          <a:bodyPr wrap="square" rtlCol="0" anchor="ctr"/>
          <a:lstStyle/>
          <a:p>
            <a:pPr marL="0" indent="0" algn="l">
              <a:buNone/>
            </a:pPr>
            <a:r>
              <a:rPr lang="en-US" sz="950" dirty="0">
                <a:solidFill>
                  <a:srgbClr val="F7DC6F"/>
                </a:solidFill>
                <a:latin typeface="Consolas" pitchFamily="34" charset="0"/>
                <a:ea typeface="Consolas" pitchFamily="34" charset="-122"/>
                <a:cs typeface="Consolas" pitchFamily="34" charset="-120"/>
              </a:rPr>
              <a:t>      label = "Select Pitcher",</a:t>
            </a:r>
            <a:endParaRPr lang="en-US" sz="950" dirty="0"/>
          </a:p>
        </p:txBody>
      </p:sp>
      <p:sp>
        <p:nvSpPr>
          <p:cNvPr id="10" name="Text 8"/>
          <p:cNvSpPr/>
          <p:nvPr/>
        </p:nvSpPr>
        <p:spPr>
          <a:xfrm>
            <a:off x="457200" y="2144268"/>
            <a:ext cx="4389120" cy="246888"/>
          </a:xfrm>
          <a:prstGeom prst="rect">
            <a:avLst/>
          </a:prstGeom>
          <a:noFill/>
          <a:ln/>
        </p:spPr>
        <p:txBody>
          <a:bodyPr wrap="square" rtlCol="0" anchor="ctr"/>
          <a:lstStyle/>
          <a:p>
            <a:pPr marL="0" indent="0" algn="l">
              <a:buNone/>
            </a:pPr>
            <a:r>
              <a:rPr lang="en-US" sz="950" dirty="0">
                <a:solidFill>
                  <a:srgbClr val="F7DC6F"/>
                </a:solidFill>
                <a:latin typeface="Consolas" pitchFamily="34" charset="0"/>
                <a:ea typeface="Consolas" pitchFamily="34" charset="-122"/>
                <a:cs typeface="Consolas" pitchFamily="34" charset="-120"/>
              </a:rPr>
              <a:t>      choices = sort(unique(df$Pitcher))),</a:t>
            </a:r>
            <a:endParaRPr lang="en-US" sz="950" dirty="0"/>
          </a:p>
        </p:txBody>
      </p:sp>
      <p:sp>
        <p:nvSpPr>
          <p:cNvPr id="11" name="Text 9"/>
          <p:cNvSpPr/>
          <p:nvPr/>
        </p:nvSpPr>
        <p:spPr>
          <a:xfrm>
            <a:off x="457200" y="2375611"/>
            <a:ext cx="4389120" cy="246888"/>
          </a:xfrm>
          <a:prstGeom prst="rect">
            <a:avLst/>
          </a:prstGeom>
          <a:noFill/>
          <a:ln/>
        </p:spPr>
        <p:txBody>
          <a:bodyPr wrap="square" rtlCol="0" anchor="ctr"/>
          <a:lstStyle/>
          <a:p>
            <a:pPr marL="0" indent="0" algn="l">
              <a:buNone/>
            </a:pPr>
            <a:r>
              <a:rPr lang="en-US" sz="950" dirty="0">
                <a:solidFill>
                  <a:srgbClr val="F7DC6F"/>
                </a:solidFill>
                <a:latin typeface="Consolas" pitchFamily="34" charset="0"/>
                <a:ea typeface="Consolas" pitchFamily="34" charset="-122"/>
                <a:cs typeface="Consolas" pitchFamily="34" charset="-120"/>
              </a:rPr>
              <a:t>    pickerInput("GameInput", ...),</a:t>
            </a:r>
            <a:endParaRPr lang="en-US" sz="950" dirty="0"/>
          </a:p>
        </p:txBody>
      </p:sp>
      <p:sp>
        <p:nvSpPr>
          <p:cNvPr id="12" name="Text 10"/>
          <p:cNvSpPr/>
          <p:nvPr/>
        </p:nvSpPr>
        <p:spPr>
          <a:xfrm>
            <a:off x="457200" y="2606954"/>
            <a:ext cx="4389120" cy="246888"/>
          </a:xfrm>
          <a:prstGeom prst="rect">
            <a:avLst/>
          </a:prstGeom>
          <a:noFill/>
          <a:ln/>
        </p:spPr>
        <p:txBody>
          <a:bodyPr wrap="square" rtlCol="0" anchor="ctr"/>
          <a:lstStyle/>
          <a:p>
            <a:pPr marL="0" indent="0" algn="l">
              <a:buNone/>
            </a:pPr>
            <a:r>
              <a:rPr lang="en-US" sz="950" dirty="0">
                <a:solidFill>
                  <a:srgbClr val="F7DC6F"/>
                </a:solidFill>
                <a:latin typeface="Consolas" pitchFamily="34" charset="0"/>
                <a:ea typeface="Consolas" pitchFamily="34" charset="-122"/>
                <a:cs typeface="Consolas" pitchFamily="34" charset="-120"/>
              </a:rPr>
              <a:t>    pickerInput("BatterHand", ...)</a:t>
            </a:r>
            <a:endParaRPr lang="en-US" sz="950" dirty="0"/>
          </a:p>
        </p:txBody>
      </p:sp>
      <p:sp>
        <p:nvSpPr>
          <p:cNvPr id="13" name="Text 11"/>
          <p:cNvSpPr/>
          <p:nvPr/>
        </p:nvSpPr>
        <p:spPr>
          <a:xfrm>
            <a:off x="457200" y="2838298"/>
            <a:ext cx="4389120" cy="246888"/>
          </a:xfrm>
          <a:prstGeom prst="rect">
            <a:avLst/>
          </a:prstGeom>
          <a:noFill/>
          <a:ln/>
        </p:spPr>
        <p:txBody>
          <a:bodyPr wrap="square" rtlCol="0" anchor="ctr"/>
          <a:lstStyle/>
          <a:p>
            <a:pPr marL="0" indent="0" algn="l">
              <a:buNone/>
            </a:pPr>
            <a:r>
              <a:rPr lang="en-US" sz="950" dirty="0">
                <a:solidFill>
                  <a:srgbClr val="C8DCEF"/>
                </a:solidFill>
                <a:latin typeface="Consolas" pitchFamily="34" charset="0"/>
                <a:ea typeface="Consolas" pitchFamily="34" charset="-122"/>
                <a:cs typeface="Consolas" pitchFamily="34" charset="-120"/>
              </a:rPr>
              <a:t>  ),</a:t>
            </a:r>
            <a:endParaRPr lang="en-US" sz="950" dirty="0"/>
          </a:p>
        </p:txBody>
      </p:sp>
      <p:sp>
        <p:nvSpPr>
          <p:cNvPr id="14" name="Text 12"/>
          <p:cNvSpPr/>
          <p:nvPr/>
        </p:nvSpPr>
        <p:spPr>
          <a:xfrm>
            <a:off x="457200" y="3069641"/>
            <a:ext cx="4389120" cy="246888"/>
          </a:xfrm>
          <a:prstGeom prst="rect">
            <a:avLst/>
          </a:prstGeom>
          <a:noFill/>
          <a:ln/>
        </p:spPr>
        <p:txBody>
          <a:bodyPr wrap="square" rtlCol="0" anchor="ctr"/>
          <a:lstStyle/>
          <a:p>
            <a:pPr marL="0" indent="0" algn="l">
              <a:buNone/>
            </a:pPr>
            <a:r>
              <a:rPr lang="en-US" sz="950" dirty="0">
                <a:solidFill>
                  <a:srgbClr val="C8DCEF"/>
                </a:solidFill>
                <a:latin typeface="Consolas" pitchFamily="34" charset="0"/>
                <a:ea typeface="Consolas" pitchFamily="34" charset="-122"/>
                <a:cs typeface="Consolas" pitchFamily="34" charset="-120"/>
              </a:rPr>
              <a:t>  navset_tab(</a:t>
            </a:r>
            <a:endParaRPr lang="en-US" sz="950" dirty="0"/>
          </a:p>
        </p:txBody>
      </p:sp>
      <p:sp>
        <p:nvSpPr>
          <p:cNvPr id="15" name="Text 13"/>
          <p:cNvSpPr/>
          <p:nvPr/>
        </p:nvSpPr>
        <p:spPr>
          <a:xfrm>
            <a:off x="457200" y="3300984"/>
            <a:ext cx="4389120" cy="246888"/>
          </a:xfrm>
          <a:prstGeom prst="rect">
            <a:avLst/>
          </a:prstGeom>
          <a:noFill/>
          <a:ln/>
        </p:spPr>
        <p:txBody>
          <a:bodyPr wrap="square" rtlCol="0" anchor="ctr"/>
          <a:lstStyle/>
          <a:p>
            <a:pPr marL="0" indent="0" algn="l">
              <a:buNone/>
            </a:pPr>
            <a:r>
              <a:rPr lang="en-US" sz="950" dirty="0">
                <a:solidFill>
                  <a:srgbClr val="F0B27A"/>
                </a:solidFill>
                <a:latin typeface="Consolas" pitchFamily="34" charset="0"/>
                <a:ea typeface="Consolas" pitchFamily="34" charset="-122"/>
                <a:cs typeface="Consolas" pitchFamily="34" charset="-120"/>
              </a:rPr>
              <a:t>    nav_panel("Movement &amp; Metrics",</a:t>
            </a:r>
            <a:endParaRPr lang="en-US" sz="950" dirty="0"/>
          </a:p>
        </p:txBody>
      </p:sp>
      <p:sp>
        <p:nvSpPr>
          <p:cNvPr id="16" name="Text 14"/>
          <p:cNvSpPr/>
          <p:nvPr/>
        </p:nvSpPr>
        <p:spPr>
          <a:xfrm>
            <a:off x="457200" y="3532327"/>
            <a:ext cx="4389120" cy="246888"/>
          </a:xfrm>
          <a:prstGeom prst="rect">
            <a:avLst/>
          </a:prstGeom>
          <a:noFill/>
          <a:ln/>
        </p:spPr>
        <p:txBody>
          <a:bodyPr wrap="square" rtlCol="0" anchor="ctr"/>
          <a:lstStyle/>
          <a:p>
            <a:pPr marL="0" indent="0" algn="l">
              <a:buNone/>
            </a:pPr>
            <a:r>
              <a:rPr lang="en-US" sz="950" dirty="0">
                <a:solidFill>
                  <a:srgbClr val="F0B27A"/>
                </a:solidFill>
                <a:latin typeface="Consolas" pitchFamily="34" charset="0"/>
                <a:ea typeface="Consolas" pitchFamily="34" charset="-122"/>
                <a:cs typeface="Consolas" pitchFamily="34" charset="-120"/>
              </a:rPr>
              <a:t>             plotOutput('movement'),</a:t>
            </a:r>
            <a:endParaRPr lang="en-US" sz="950" dirty="0"/>
          </a:p>
        </p:txBody>
      </p:sp>
      <p:sp>
        <p:nvSpPr>
          <p:cNvPr id="17" name="Text 15"/>
          <p:cNvSpPr/>
          <p:nvPr/>
        </p:nvSpPr>
        <p:spPr>
          <a:xfrm>
            <a:off x="457200" y="3763670"/>
            <a:ext cx="4389120" cy="246888"/>
          </a:xfrm>
          <a:prstGeom prst="rect">
            <a:avLst/>
          </a:prstGeom>
          <a:noFill/>
          <a:ln/>
        </p:spPr>
        <p:txBody>
          <a:bodyPr wrap="square" rtlCol="0" anchor="ctr"/>
          <a:lstStyle/>
          <a:p>
            <a:pPr marL="0" indent="0" algn="l">
              <a:buNone/>
            </a:pPr>
            <a:r>
              <a:rPr lang="en-US" sz="950" dirty="0">
                <a:solidFill>
                  <a:srgbClr val="F0B27A"/>
                </a:solidFill>
                <a:latin typeface="Consolas" pitchFamily="34" charset="0"/>
                <a:ea typeface="Consolas" pitchFamily="34" charset="-122"/>
                <a:cs typeface="Consolas" pitchFamily="34" charset="-120"/>
              </a:rPr>
              <a:t>             tableOutput('metrics')),</a:t>
            </a:r>
            <a:endParaRPr lang="en-US" sz="950" dirty="0"/>
          </a:p>
        </p:txBody>
      </p:sp>
      <p:sp>
        <p:nvSpPr>
          <p:cNvPr id="18" name="Text 16"/>
          <p:cNvSpPr/>
          <p:nvPr/>
        </p:nvSpPr>
        <p:spPr>
          <a:xfrm>
            <a:off x="457200" y="3995014"/>
            <a:ext cx="4389120" cy="246888"/>
          </a:xfrm>
          <a:prstGeom prst="rect">
            <a:avLst/>
          </a:prstGeom>
          <a:noFill/>
          <a:ln/>
        </p:spPr>
        <p:txBody>
          <a:bodyPr wrap="square" rtlCol="0" anchor="ctr"/>
          <a:lstStyle/>
          <a:p>
            <a:pPr marL="0" indent="0" algn="l">
              <a:buNone/>
            </a:pPr>
            <a:r>
              <a:rPr lang="en-US" sz="950" dirty="0">
                <a:solidFill>
                  <a:srgbClr val="F0B27A"/>
                </a:solidFill>
                <a:latin typeface="Consolas" pitchFamily="34" charset="0"/>
                <a:ea typeface="Consolas" pitchFamily="34" charset="-122"/>
                <a:cs typeface="Consolas" pitchFamily="34" charset="-120"/>
              </a:rPr>
              <a:t>    nav_panel("Locations", ...)</a:t>
            </a:r>
            <a:endParaRPr lang="en-US" sz="950" dirty="0"/>
          </a:p>
        </p:txBody>
      </p:sp>
      <p:sp>
        <p:nvSpPr>
          <p:cNvPr id="19" name="Text 17"/>
          <p:cNvSpPr/>
          <p:nvPr/>
        </p:nvSpPr>
        <p:spPr>
          <a:xfrm>
            <a:off x="457200" y="4226357"/>
            <a:ext cx="4389120" cy="246888"/>
          </a:xfrm>
          <a:prstGeom prst="rect">
            <a:avLst/>
          </a:prstGeom>
          <a:noFill/>
          <a:ln/>
        </p:spPr>
        <p:txBody>
          <a:bodyPr wrap="square" rtlCol="0" anchor="ctr"/>
          <a:lstStyle/>
          <a:p>
            <a:pPr marL="0" indent="0" algn="l">
              <a:buNone/>
            </a:pPr>
            <a:r>
              <a:rPr lang="en-US" sz="950" dirty="0">
                <a:solidFill>
                  <a:srgbClr val="C8DCEF"/>
                </a:solidFill>
                <a:latin typeface="Consolas" pitchFamily="34" charset="0"/>
                <a:ea typeface="Consolas" pitchFamily="34" charset="-122"/>
                <a:cs typeface="Consolas" pitchFamily="34" charset="-120"/>
              </a:rPr>
              <a:t>  )</a:t>
            </a:r>
            <a:endParaRPr lang="en-US" sz="950" dirty="0"/>
          </a:p>
        </p:txBody>
      </p:sp>
      <p:sp>
        <p:nvSpPr>
          <p:cNvPr id="20" name="Text 18"/>
          <p:cNvSpPr/>
          <p:nvPr/>
        </p:nvSpPr>
        <p:spPr>
          <a:xfrm>
            <a:off x="457200" y="4457700"/>
            <a:ext cx="4389120" cy="246888"/>
          </a:xfrm>
          <a:prstGeom prst="rect">
            <a:avLst/>
          </a:prstGeom>
          <a:noFill/>
          <a:ln/>
        </p:spPr>
        <p:txBody>
          <a:bodyPr wrap="square" rtlCol="0" anchor="ctr"/>
          <a:lstStyle/>
          <a:p>
            <a:pPr marL="0" indent="0" algn="l">
              <a:buNone/>
            </a:pPr>
            <a:r>
              <a:rPr lang="en-US" sz="950" dirty="0">
                <a:solidFill>
                  <a:srgbClr val="C8DCEF"/>
                </a:solidFill>
                <a:latin typeface="Consolas" pitchFamily="34" charset="0"/>
                <a:ea typeface="Consolas" pitchFamily="34" charset="-122"/>
                <a:cs typeface="Consolas" pitchFamily="34" charset="-120"/>
              </a:rPr>
              <a:t>)</a:t>
            </a:r>
            <a:endParaRPr lang="en-US" sz="950" dirty="0"/>
          </a:p>
        </p:txBody>
      </p:sp>
      <p:sp>
        <p:nvSpPr>
          <p:cNvPr id="21" name="Shape 19"/>
          <p:cNvSpPr/>
          <p:nvPr/>
        </p:nvSpPr>
        <p:spPr>
          <a:xfrm>
            <a:off x="5166360" y="914400"/>
            <a:ext cx="3657600" cy="86868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22" name="Shape 20"/>
          <p:cNvSpPr/>
          <p:nvPr/>
        </p:nvSpPr>
        <p:spPr>
          <a:xfrm>
            <a:off x="5166360" y="914400"/>
            <a:ext cx="64008" cy="868680"/>
          </a:xfrm>
          <a:prstGeom prst="rect">
            <a:avLst/>
          </a:prstGeom>
          <a:solidFill>
            <a:srgbClr val="C0392B"/>
          </a:solidFill>
          <a:ln w="12700">
            <a:solidFill>
              <a:srgbClr val="C0392B"/>
            </a:solidFill>
            <a:prstDash val="solid"/>
          </a:ln>
        </p:spPr>
        <p:txBody>
          <a:bodyPr/>
          <a:lstStyle/>
          <a:p>
            <a:endParaRPr lang="en-US"/>
          </a:p>
        </p:txBody>
      </p:sp>
      <p:sp>
        <p:nvSpPr>
          <p:cNvPr id="23" name="Text 21"/>
          <p:cNvSpPr/>
          <p:nvPr/>
        </p:nvSpPr>
        <p:spPr>
          <a:xfrm>
            <a:off x="5285232" y="960120"/>
            <a:ext cx="3474720" cy="274320"/>
          </a:xfrm>
          <a:prstGeom prst="rect">
            <a:avLst/>
          </a:prstGeom>
          <a:noFill/>
          <a:ln/>
        </p:spPr>
        <p:txBody>
          <a:bodyPr wrap="square" rtlCol="0" anchor="ctr"/>
          <a:lstStyle/>
          <a:p>
            <a:pPr marL="0" indent="0">
              <a:buNone/>
            </a:pPr>
            <a:r>
              <a:rPr lang="en-US" sz="1150" b="1" dirty="0">
                <a:solidFill>
                  <a:srgbClr val="1B2A4A"/>
                </a:solidFill>
                <a:latin typeface="Consolas" pitchFamily="34" charset="0"/>
                <a:ea typeface="Consolas" pitchFamily="34" charset="-122"/>
                <a:cs typeface="Consolas" pitchFamily="34" charset="-120"/>
              </a:rPr>
              <a:t>page_sidebar()</a:t>
            </a:r>
            <a:endParaRPr lang="en-US" sz="1150" dirty="0"/>
          </a:p>
        </p:txBody>
      </p:sp>
      <p:sp>
        <p:nvSpPr>
          <p:cNvPr id="24" name="Text 22"/>
          <p:cNvSpPr/>
          <p:nvPr/>
        </p:nvSpPr>
        <p:spPr>
          <a:xfrm>
            <a:off x="5285232" y="1261872"/>
            <a:ext cx="3474720" cy="475488"/>
          </a:xfrm>
          <a:prstGeom prst="rect">
            <a:avLst/>
          </a:prstGeom>
          <a:noFill/>
          <a:ln/>
        </p:spPr>
        <p:txBody>
          <a:bodyPr wrap="square" rtlCol="0" anchor="ctr"/>
          <a:lstStyle/>
          <a:p>
            <a:pPr marL="0" indent="0">
              <a:buNone/>
            </a:pPr>
            <a:r>
              <a:rPr lang="en-US" sz="1050" dirty="0">
                <a:solidFill>
                  <a:srgbClr val="5A6A7E"/>
                </a:solidFill>
                <a:latin typeface="Calibri" pitchFamily="34" charset="0"/>
                <a:ea typeface="Calibri" pitchFamily="34" charset="-122"/>
                <a:cs typeface="Calibri" pitchFamily="34" charset="-120"/>
              </a:rPr>
              <a:t>Creates a sidebar + main content layout. Controls stay visible while the user navigates between output tabs.</a:t>
            </a:r>
            <a:endParaRPr lang="en-US" sz="1050" dirty="0"/>
          </a:p>
        </p:txBody>
      </p:sp>
      <p:sp>
        <p:nvSpPr>
          <p:cNvPr id="25" name="Shape 23"/>
          <p:cNvSpPr/>
          <p:nvPr/>
        </p:nvSpPr>
        <p:spPr>
          <a:xfrm>
            <a:off x="5166360" y="2011680"/>
            <a:ext cx="3657600" cy="86868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26" name="Shape 24"/>
          <p:cNvSpPr/>
          <p:nvPr/>
        </p:nvSpPr>
        <p:spPr>
          <a:xfrm>
            <a:off x="5166360" y="2011680"/>
            <a:ext cx="64008" cy="868680"/>
          </a:xfrm>
          <a:prstGeom prst="rect">
            <a:avLst/>
          </a:prstGeom>
          <a:solidFill>
            <a:srgbClr val="C0392B"/>
          </a:solidFill>
          <a:ln w="12700">
            <a:solidFill>
              <a:srgbClr val="C0392B"/>
            </a:solidFill>
            <a:prstDash val="solid"/>
          </a:ln>
        </p:spPr>
        <p:txBody>
          <a:bodyPr/>
          <a:lstStyle/>
          <a:p>
            <a:endParaRPr lang="en-US"/>
          </a:p>
        </p:txBody>
      </p:sp>
      <p:sp>
        <p:nvSpPr>
          <p:cNvPr id="27" name="Text 25"/>
          <p:cNvSpPr/>
          <p:nvPr/>
        </p:nvSpPr>
        <p:spPr>
          <a:xfrm>
            <a:off x="5285232" y="2057400"/>
            <a:ext cx="3474720" cy="274320"/>
          </a:xfrm>
          <a:prstGeom prst="rect">
            <a:avLst/>
          </a:prstGeom>
          <a:noFill/>
          <a:ln/>
        </p:spPr>
        <p:txBody>
          <a:bodyPr wrap="square" rtlCol="0" anchor="ctr"/>
          <a:lstStyle/>
          <a:p>
            <a:pPr marL="0" indent="0">
              <a:buNone/>
            </a:pPr>
            <a:r>
              <a:rPr lang="en-US" sz="1150" b="1" dirty="0">
                <a:solidFill>
                  <a:srgbClr val="1B2A4A"/>
                </a:solidFill>
                <a:latin typeface="Consolas" pitchFamily="34" charset="0"/>
                <a:ea typeface="Consolas" pitchFamily="34" charset="-122"/>
                <a:cs typeface="Consolas" pitchFamily="34" charset="-120"/>
              </a:rPr>
              <a:t>selectInput() / pickerInput()</a:t>
            </a:r>
            <a:endParaRPr lang="en-US" sz="1150" dirty="0"/>
          </a:p>
        </p:txBody>
      </p:sp>
      <p:sp>
        <p:nvSpPr>
          <p:cNvPr id="28" name="Text 26"/>
          <p:cNvSpPr/>
          <p:nvPr/>
        </p:nvSpPr>
        <p:spPr>
          <a:xfrm>
            <a:off x="5285232" y="2359152"/>
            <a:ext cx="3474720" cy="475488"/>
          </a:xfrm>
          <a:prstGeom prst="rect">
            <a:avLst/>
          </a:prstGeom>
          <a:noFill/>
          <a:ln/>
        </p:spPr>
        <p:txBody>
          <a:bodyPr wrap="square" rtlCol="0" anchor="ctr"/>
          <a:lstStyle/>
          <a:p>
            <a:pPr marL="0" indent="0">
              <a:buNone/>
            </a:pPr>
            <a:r>
              <a:rPr lang="en-US" sz="1050" dirty="0">
                <a:solidFill>
                  <a:srgbClr val="5A6A7E"/>
                </a:solidFill>
                <a:latin typeface="Calibri" pitchFamily="34" charset="0"/>
                <a:ea typeface="Calibri" pitchFamily="34" charset="-122"/>
                <a:cs typeface="Calibri" pitchFamily="34" charset="-120"/>
              </a:rPr>
              <a:t>Capture user choices. Values are read in the server with input$PitcherInput. pickerInput adds multi-select &amp; 'select all'.</a:t>
            </a:r>
            <a:endParaRPr lang="en-US" sz="1050" dirty="0"/>
          </a:p>
        </p:txBody>
      </p:sp>
      <p:sp>
        <p:nvSpPr>
          <p:cNvPr id="29" name="Shape 27"/>
          <p:cNvSpPr/>
          <p:nvPr/>
        </p:nvSpPr>
        <p:spPr>
          <a:xfrm>
            <a:off x="5166360" y="3108960"/>
            <a:ext cx="3657600" cy="86868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30" name="Shape 28"/>
          <p:cNvSpPr/>
          <p:nvPr/>
        </p:nvSpPr>
        <p:spPr>
          <a:xfrm>
            <a:off x="5166360" y="3108960"/>
            <a:ext cx="64008" cy="868680"/>
          </a:xfrm>
          <a:prstGeom prst="rect">
            <a:avLst/>
          </a:prstGeom>
          <a:solidFill>
            <a:srgbClr val="C0392B"/>
          </a:solidFill>
          <a:ln w="12700">
            <a:solidFill>
              <a:srgbClr val="C0392B"/>
            </a:solidFill>
            <a:prstDash val="solid"/>
          </a:ln>
        </p:spPr>
        <p:txBody>
          <a:bodyPr/>
          <a:lstStyle/>
          <a:p>
            <a:endParaRPr lang="en-US"/>
          </a:p>
        </p:txBody>
      </p:sp>
      <p:sp>
        <p:nvSpPr>
          <p:cNvPr id="31" name="Text 29"/>
          <p:cNvSpPr/>
          <p:nvPr/>
        </p:nvSpPr>
        <p:spPr>
          <a:xfrm>
            <a:off x="5285232" y="3154680"/>
            <a:ext cx="3474720" cy="274320"/>
          </a:xfrm>
          <a:prstGeom prst="rect">
            <a:avLst/>
          </a:prstGeom>
          <a:noFill/>
          <a:ln/>
        </p:spPr>
        <p:txBody>
          <a:bodyPr wrap="square" rtlCol="0" anchor="ctr"/>
          <a:lstStyle/>
          <a:p>
            <a:pPr marL="0" indent="0">
              <a:buNone/>
            </a:pPr>
            <a:r>
              <a:rPr lang="en-US" sz="1150" b="1" dirty="0">
                <a:solidFill>
                  <a:srgbClr val="1B2A4A"/>
                </a:solidFill>
                <a:latin typeface="Consolas" pitchFamily="34" charset="0"/>
                <a:ea typeface="Consolas" pitchFamily="34" charset="-122"/>
                <a:cs typeface="Consolas" pitchFamily="34" charset="-120"/>
              </a:rPr>
              <a:t>navset_tab() / nav_panel()</a:t>
            </a:r>
            <a:endParaRPr lang="en-US" sz="1150" dirty="0"/>
          </a:p>
        </p:txBody>
      </p:sp>
      <p:sp>
        <p:nvSpPr>
          <p:cNvPr id="32" name="Text 30"/>
          <p:cNvSpPr/>
          <p:nvPr/>
        </p:nvSpPr>
        <p:spPr>
          <a:xfrm>
            <a:off x="5285232" y="3456432"/>
            <a:ext cx="3474720" cy="475488"/>
          </a:xfrm>
          <a:prstGeom prst="rect">
            <a:avLst/>
          </a:prstGeom>
          <a:noFill/>
          <a:ln/>
        </p:spPr>
        <p:txBody>
          <a:bodyPr wrap="square" rtlCol="0" anchor="ctr"/>
          <a:lstStyle/>
          <a:p>
            <a:pPr marL="0" indent="0">
              <a:buNone/>
            </a:pPr>
            <a:r>
              <a:rPr lang="en-US" sz="1050" dirty="0">
                <a:solidFill>
                  <a:srgbClr val="5A6A7E"/>
                </a:solidFill>
                <a:latin typeface="Calibri" pitchFamily="34" charset="0"/>
                <a:ea typeface="Calibri" pitchFamily="34" charset="-122"/>
                <a:cs typeface="Calibri" pitchFamily="34" charset="-120"/>
              </a:rPr>
              <a:t>Creates tabs so each visualization gets its own panel. plotOutput('movement') reserves space for a plot named 'movement'.</a:t>
            </a:r>
            <a:endParaRPr lang="en-US" sz="1050" dirty="0"/>
          </a:p>
        </p:txBody>
      </p:sp>
      <p:sp>
        <p:nvSpPr>
          <p:cNvPr id="34" name="Text 32"/>
          <p:cNvSpPr/>
          <p:nvPr/>
        </p:nvSpPr>
        <p:spPr>
          <a:xfrm>
            <a:off x="5230368" y="4151376"/>
            <a:ext cx="3529584" cy="420624"/>
          </a:xfrm>
          <a:prstGeom prst="rect">
            <a:avLst/>
          </a:prstGeom>
          <a:noFill/>
          <a:ln/>
        </p:spPr>
        <p:txBody>
          <a:bodyPr wrap="square" rtlCol="0" anchor="ctr"/>
          <a:lstStyle/>
          <a:p>
            <a:pPr marL="0" indent="0">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Server: Reactivity in Action</a:t>
            </a:r>
            <a:endParaRPr lang="en-US" sz="2400" dirty="0"/>
          </a:p>
        </p:txBody>
      </p:sp>
      <p:sp>
        <p:nvSpPr>
          <p:cNvPr id="4" name="Shape 2"/>
          <p:cNvSpPr/>
          <p:nvPr/>
        </p:nvSpPr>
        <p:spPr>
          <a:xfrm>
            <a:off x="320040" y="868680"/>
            <a:ext cx="4663440" cy="3886200"/>
          </a:xfrm>
          <a:prstGeom prst="rect">
            <a:avLst/>
          </a:prstGeom>
          <a:solidFill>
            <a:srgbClr val="1E2D40"/>
          </a:solidFill>
          <a:ln w="12700">
            <a:solidFill>
              <a:srgbClr val="1E2D40"/>
            </a:solidFill>
            <a:prstDash val="solid"/>
          </a:ln>
        </p:spPr>
        <p:txBody>
          <a:bodyPr/>
          <a:lstStyle/>
          <a:p>
            <a:endParaRPr lang="en-US"/>
          </a:p>
        </p:txBody>
      </p:sp>
      <p:sp>
        <p:nvSpPr>
          <p:cNvPr id="5" name="Text 3"/>
          <p:cNvSpPr/>
          <p:nvPr/>
        </p:nvSpPr>
        <p:spPr>
          <a:xfrm>
            <a:off x="457200" y="987552"/>
            <a:ext cx="4389120" cy="246888"/>
          </a:xfrm>
          <a:prstGeom prst="rect">
            <a:avLst/>
          </a:prstGeom>
          <a:noFill/>
          <a:ln/>
        </p:spPr>
        <p:txBody>
          <a:bodyPr wrap="square" rtlCol="0" anchor="ctr"/>
          <a:lstStyle/>
          <a:p>
            <a:pPr marL="0" indent="0" algn="l">
              <a:buNone/>
            </a:pPr>
            <a:r>
              <a:rPr lang="en-US" sz="950" dirty="0">
                <a:solidFill>
                  <a:srgbClr val="C8DCEF"/>
                </a:solidFill>
                <a:latin typeface="Consolas" pitchFamily="34" charset="0"/>
                <a:ea typeface="Consolas" pitchFamily="34" charset="-122"/>
                <a:cs typeface="Consolas" pitchFamily="34" charset="-120"/>
              </a:rPr>
              <a:t>server &lt;- function(input, output, session) {</a:t>
            </a:r>
            <a:endParaRPr lang="en-US" sz="950" dirty="0"/>
          </a:p>
        </p:txBody>
      </p:sp>
      <p:sp>
        <p:nvSpPr>
          <p:cNvPr id="6" name="Text 4"/>
          <p:cNvSpPr/>
          <p:nvPr/>
        </p:nvSpPr>
        <p:spPr>
          <a:xfrm>
            <a:off x="457200" y="1228039"/>
            <a:ext cx="4389120" cy="246888"/>
          </a:xfrm>
          <a:prstGeom prst="rect">
            <a:avLst/>
          </a:prstGeom>
          <a:noFill/>
          <a:ln/>
        </p:spPr>
        <p:txBody>
          <a:bodyPr wrap="square" rtlCol="0" anchor="ctr"/>
          <a:lstStyle/>
          <a:p>
            <a:pPr marL="0" indent="0" algn="l">
              <a:buNone/>
            </a:pPr>
            <a:endParaRPr lang="en-US" sz="950" dirty="0"/>
          </a:p>
        </p:txBody>
      </p:sp>
      <p:sp>
        <p:nvSpPr>
          <p:cNvPr id="7" name="Text 5"/>
          <p:cNvSpPr/>
          <p:nvPr/>
        </p:nvSpPr>
        <p:spPr>
          <a:xfrm>
            <a:off x="457200" y="1468526"/>
            <a:ext cx="4389120" cy="246888"/>
          </a:xfrm>
          <a:prstGeom prst="rect">
            <a:avLst/>
          </a:prstGeom>
          <a:noFill/>
          <a:ln/>
        </p:spPr>
        <p:txBody>
          <a:bodyPr wrap="square" rtlCol="0" anchor="ctr"/>
          <a:lstStyle/>
          <a:p>
            <a:pPr marL="0" indent="0" algn="l">
              <a:buNone/>
            </a:pPr>
            <a:r>
              <a:rPr lang="en-US" sz="950" dirty="0">
                <a:solidFill>
                  <a:srgbClr val="F0B27A"/>
                </a:solidFill>
                <a:latin typeface="Consolas" pitchFamily="34" charset="0"/>
                <a:ea typeface="Consolas" pitchFamily="34" charset="-122"/>
                <a:cs typeface="Consolas" pitchFamily="34" charset="-120"/>
              </a:rPr>
              <a:t>  output$movement &lt;- renderPlot({</a:t>
            </a:r>
            <a:endParaRPr lang="en-US" sz="950" dirty="0"/>
          </a:p>
        </p:txBody>
      </p:sp>
      <p:sp>
        <p:nvSpPr>
          <p:cNvPr id="8" name="Text 6"/>
          <p:cNvSpPr/>
          <p:nvPr/>
        </p:nvSpPr>
        <p:spPr>
          <a:xfrm>
            <a:off x="457200" y="1709014"/>
            <a:ext cx="4389120" cy="246888"/>
          </a:xfrm>
          <a:prstGeom prst="rect">
            <a:avLst/>
          </a:prstGeom>
          <a:noFill/>
          <a:ln/>
        </p:spPr>
        <p:txBody>
          <a:bodyPr wrap="square" rtlCol="0" anchor="ctr"/>
          <a:lstStyle/>
          <a:p>
            <a:pPr marL="0" indent="0" algn="l">
              <a:buNone/>
            </a:pPr>
            <a:endParaRPr lang="en-US" sz="950" dirty="0"/>
          </a:p>
        </p:txBody>
      </p:sp>
      <p:sp>
        <p:nvSpPr>
          <p:cNvPr id="9" name="Text 7"/>
          <p:cNvSpPr/>
          <p:nvPr/>
        </p:nvSpPr>
        <p:spPr>
          <a:xfrm>
            <a:off x="457200" y="1949501"/>
            <a:ext cx="4389120" cy="246888"/>
          </a:xfrm>
          <a:prstGeom prst="rect">
            <a:avLst/>
          </a:prstGeom>
          <a:noFill/>
          <a:ln/>
        </p:spPr>
        <p:txBody>
          <a:bodyPr wrap="square" rtlCol="0" anchor="ctr"/>
          <a:lstStyle/>
          <a:p>
            <a:pPr marL="0" indent="0" algn="l">
              <a:buNone/>
            </a:pPr>
            <a:r>
              <a:rPr lang="en-US" sz="950" dirty="0">
                <a:solidFill>
                  <a:srgbClr val="A8D5A2"/>
                </a:solidFill>
                <a:latin typeface="Consolas" pitchFamily="34" charset="0"/>
                <a:ea typeface="Consolas" pitchFamily="34" charset="-122"/>
                <a:cs typeface="Consolas" pitchFamily="34" charset="-120"/>
              </a:rPr>
              <a:t>    dataFilter &lt;- reactive({</a:t>
            </a:r>
            <a:endParaRPr lang="en-US" sz="950" dirty="0"/>
          </a:p>
        </p:txBody>
      </p:sp>
      <p:sp>
        <p:nvSpPr>
          <p:cNvPr id="10" name="Text 8"/>
          <p:cNvSpPr/>
          <p:nvPr/>
        </p:nvSpPr>
        <p:spPr>
          <a:xfrm>
            <a:off x="457200" y="2189988"/>
            <a:ext cx="4389120" cy="246888"/>
          </a:xfrm>
          <a:prstGeom prst="rect">
            <a:avLst/>
          </a:prstGeom>
          <a:noFill/>
          <a:ln/>
        </p:spPr>
        <p:txBody>
          <a:bodyPr wrap="square" rtlCol="0" anchor="ctr"/>
          <a:lstStyle/>
          <a:p>
            <a:pPr marL="0" indent="0" algn="l">
              <a:buNone/>
            </a:pPr>
            <a:r>
              <a:rPr lang="en-US" sz="950" dirty="0">
                <a:solidFill>
                  <a:srgbClr val="A8D5A2"/>
                </a:solidFill>
                <a:latin typeface="Consolas" pitchFamily="34" charset="0"/>
                <a:ea typeface="Consolas" pitchFamily="34" charset="-122"/>
                <a:cs typeface="Consolas" pitchFamily="34" charset="-120"/>
              </a:rPr>
              <a:t>      df %&gt;%</a:t>
            </a:r>
            <a:endParaRPr lang="en-US" sz="950" dirty="0"/>
          </a:p>
        </p:txBody>
      </p:sp>
      <p:sp>
        <p:nvSpPr>
          <p:cNvPr id="11" name="Text 9"/>
          <p:cNvSpPr/>
          <p:nvPr/>
        </p:nvSpPr>
        <p:spPr>
          <a:xfrm>
            <a:off x="457200" y="2430475"/>
            <a:ext cx="4389120" cy="246888"/>
          </a:xfrm>
          <a:prstGeom prst="rect">
            <a:avLst/>
          </a:prstGeom>
          <a:noFill/>
          <a:ln/>
        </p:spPr>
        <p:txBody>
          <a:bodyPr wrap="square" rtlCol="0" anchor="ctr"/>
          <a:lstStyle/>
          <a:p>
            <a:pPr marL="0" indent="0" algn="l">
              <a:buNone/>
            </a:pPr>
            <a:r>
              <a:rPr lang="en-US" sz="950" dirty="0">
                <a:solidFill>
                  <a:srgbClr val="A8D5A2"/>
                </a:solidFill>
                <a:latin typeface="Consolas" pitchFamily="34" charset="0"/>
                <a:ea typeface="Consolas" pitchFamily="34" charset="-122"/>
                <a:cs typeface="Consolas" pitchFamily="34" charset="-120"/>
              </a:rPr>
              <a:t>        filter(</a:t>
            </a:r>
            <a:endParaRPr lang="en-US" sz="950" dirty="0"/>
          </a:p>
        </p:txBody>
      </p:sp>
      <p:sp>
        <p:nvSpPr>
          <p:cNvPr id="12" name="Text 10"/>
          <p:cNvSpPr/>
          <p:nvPr/>
        </p:nvSpPr>
        <p:spPr>
          <a:xfrm>
            <a:off x="457200" y="2670962"/>
            <a:ext cx="4389120" cy="246888"/>
          </a:xfrm>
          <a:prstGeom prst="rect">
            <a:avLst/>
          </a:prstGeom>
          <a:noFill/>
          <a:ln/>
        </p:spPr>
        <p:txBody>
          <a:bodyPr wrap="square" rtlCol="0" anchor="ctr"/>
          <a:lstStyle/>
          <a:p>
            <a:pPr marL="0" indent="0" algn="l">
              <a:buNone/>
            </a:pPr>
            <a:r>
              <a:rPr lang="en-US" sz="950" dirty="0">
                <a:solidFill>
                  <a:srgbClr val="F7DC6F"/>
                </a:solidFill>
                <a:latin typeface="Consolas" pitchFamily="34" charset="0"/>
                <a:ea typeface="Consolas" pitchFamily="34" charset="-122"/>
                <a:cs typeface="Consolas" pitchFamily="34" charset="-120"/>
              </a:rPr>
              <a:t>          Pitcher == input$PitcherInput,</a:t>
            </a:r>
            <a:endParaRPr lang="en-US" sz="950" dirty="0"/>
          </a:p>
        </p:txBody>
      </p:sp>
      <p:sp>
        <p:nvSpPr>
          <p:cNvPr id="13" name="Text 11"/>
          <p:cNvSpPr/>
          <p:nvPr/>
        </p:nvSpPr>
        <p:spPr>
          <a:xfrm>
            <a:off x="457200" y="2911450"/>
            <a:ext cx="4389120" cy="246888"/>
          </a:xfrm>
          <a:prstGeom prst="rect">
            <a:avLst/>
          </a:prstGeom>
          <a:noFill/>
          <a:ln/>
        </p:spPr>
        <p:txBody>
          <a:bodyPr wrap="square" rtlCol="0" anchor="ctr"/>
          <a:lstStyle/>
          <a:p>
            <a:pPr marL="0" indent="0" algn="l">
              <a:buNone/>
            </a:pPr>
            <a:r>
              <a:rPr lang="en-US" sz="950" dirty="0">
                <a:solidFill>
                  <a:srgbClr val="F7DC6F"/>
                </a:solidFill>
                <a:latin typeface="Consolas" pitchFamily="34" charset="0"/>
                <a:ea typeface="Consolas" pitchFamily="34" charset="-122"/>
                <a:cs typeface="Consolas" pitchFamily="34" charset="-120"/>
              </a:rPr>
              <a:t>          CustomGameID %in% input$GameInput,</a:t>
            </a:r>
            <a:endParaRPr lang="en-US" sz="950" dirty="0"/>
          </a:p>
        </p:txBody>
      </p:sp>
      <p:sp>
        <p:nvSpPr>
          <p:cNvPr id="14" name="Text 12"/>
          <p:cNvSpPr/>
          <p:nvPr/>
        </p:nvSpPr>
        <p:spPr>
          <a:xfrm>
            <a:off x="457200" y="3151937"/>
            <a:ext cx="4389120" cy="246888"/>
          </a:xfrm>
          <a:prstGeom prst="rect">
            <a:avLst/>
          </a:prstGeom>
          <a:noFill/>
          <a:ln/>
        </p:spPr>
        <p:txBody>
          <a:bodyPr wrap="square" rtlCol="0" anchor="ctr"/>
          <a:lstStyle/>
          <a:p>
            <a:pPr marL="0" indent="0" algn="l">
              <a:buNone/>
            </a:pPr>
            <a:r>
              <a:rPr lang="en-US" sz="950" dirty="0">
                <a:solidFill>
                  <a:srgbClr val="F7DC6F"/>
                </a:solidFill>
                <a:latin typeface="Consolas" pitchFamily="34" charset="0"/>
                <a:ea typeface="Consolas" pitchFamily="34" charset="-122"/>
                <a:cs typeface="Consolas" pitchFamily="34" charset="-120"/>
              </a:rPr>
              <a:t>          BatterSide %in% input$BatterHand</a:t>
            </a:r>
            <a:endParaRPr lang="en-US" sz="950" dirty="0"/>
          </a:p>
        </p:txBody>
      </p:sp>
      <p:sp>
        <p:nvSpPr>
          <p:cNvPr id="15" name="Text 13"/>
          <p:cNvSpPr/>
          <p:nvPr/>
        </p:nvSpPr>
        <p:spPr>
          <a:xfrm>
            <a:off x="457200" y="3392424"/>
            <a:ext cx="4389120" cy="246888"/>
          </a:xfrm>
          <a:prstGeom prst="rect">
            <a:avLst/>
          </a:prstGeom>
          <a:noFill/>
          <a:ln/>
        </p:spPr>
        <p:txBody>
          <a:bodyPr wrap="square" rtlCol="0" anchor="ctr"/>
          <a:lstStyle/>
          <a:p>
            <a:pPr marL="0" indent="0" algn="l">
              <a:buNone/>
            </a:pPr>
            <a:r>
              <a:rPr lang="en-US" sz="950" dirty="0">
                <a:solidFill>
                  <a:srgbClr val="A8D5A2"/>
                </a:solidFill>
                <a:latin typeface="Consolas" pitchFamily="34" charset="0"/>
                <a:ea typeface="Consolas" pitchFamily="34" charset="-122"/>
                <a:cs typeface="Consolas" pitchFamily="34" charset="-120"/>
              </a:rPr>
              <a:t>        )</a:t>
            </a:r>
            <a:endParaRPr lang="en-US" sz="950" dirty="0"/>
          </a:p>
        </p:txBody>
      </p:sp>
      <p:sp>
        <p:nvSpPr>
          <p:cNvPr id="16" name="Text 14"/>
          <p:cNvSpPr/>
          <p:nvPr/>
        </p:nvSpPr>
        <p:spPr>
          <a:xfrm>
            <a:off x="457200" y="3632911"/>
            <a:ext cx="4389120" cy="246888"/>
          </a:xfrm>
          <a:prstGeom prst="rect">
            <a:avLst/>
          </a:prstGeom>
          <a:noFill/>
          <a:ln/>
        </p:spPr>
        <p:txBody>
          <a:bodyPr wrap="square" rtlCol="0" anchor="ctr"/>
          <a:lstStyle/>
          <a:p>
            <a:pPr marL="0" indent="0" algn="l">
              <a:buNone/>
            </a:pPr>
            <a:r>
              <a:rPr lang="en-US" sz="950" dirty="0">
                <a:solidFill>
                  <a:srgbClr val="A8D5A2"/>
                </a:solidFill>
                <a:latin typeface="Consolas" pitchFamily="34" charset="0"/>
                <a:ea typeface="Consolas" pitchFamily="34" charset="-122"/>
                <a:cs typeface="Consolas" pitchFamily="34" charset="-120"/>
              </a:rPr>
              <a:t>    })</a:t>
            </a:r>
            <a:endParaRPr lang="en-US" sz="950" dirty="0"/>
          </a:p>
        </p:txBody>
      </p:sp>
      <p:sp>
        <p:nvSpPr>
          <p:cNvPr id="17" name="Text 15"/>
          <p:cNvSpPr/>
          <p:nvPr/>
        </p:nvSpPr>
        <p:spPr>
          <a:xfrm>
            <a:off x="457200" y="3873398"/>
            <a:ext cx="4389120" cy="246888"/>
          </a:xfrm>
          <a:prstGeom prst="rect">
            <a:avLst/>
          </a:prstGeom>
          <a:noFill/>
          <a:ln/>
        </p:spPr>
        <p:txBody>
          <a:bodyPr wrap="square" rtlCol="0" anchor="ctr"/>
          <a:lstStyle/>
          <a:p>
            <a:pPr marL="0" indent="0" algn="l">
              <a:buNone/>
            </a:pPr>
            <a:endParaRPr lang="en-US" sz="950" dirty="0"/>
          </a:p>
        </p:txBody>
      </p:sp>
      <p:sp>
        <p:nvSpPr>
          <p:cNvPr id="18" name="Text 16"/>
          <p:cNvSpPr/>
          <p:nvPr/>
        </p:nvSpPr>
        <p:spPr>
          <a:xfrm>
            <a:off x="457200" y="4113886"/>
            <a:ext cx="4389120" cy="246888"/>
          </a:xfrm>
          <a:prstGeom prst="rect">
            <a:avLst/>
          </a:prstGeom>
          <a:noFill/>
          <a:ln/>
        </p:spPr>
        <p:txBody>
          <a:bodyPr wrap="square" rtlCol="0" anchor="ctr"/>
          <a:lstStyle/>
          <a:p>
            <a:pPr marL="0" indent="0" algn="l">
              <a:buNone/>
            </a:pPr>
            <a:r>
              <a:rPr lang="en-US" sz="950" dirty="0">
                <a:solidFill>
                  <a:srgbClr val="C8DCEF"/>
                </a:solidFill>
                <a:latin typeface="Consolas" pitchFamily="34" charset="0"/>
                <a:ea typeface="Consolas" pitchFamily="34" charset="-122"/>
                <a:cs typeface="Consolas" pitchFamily="34" charset="-120"/>
              </a:rPr>
              <a:t>    dataFilter() %&gt;% ggplot(...)</a:t>
            </a:r>
            <a:endParaRPr lang="en-US" sz="950" dirty="0"/>
          </a:p>
        </p:txBody>
      </p:sp>
      <p:sp>
        <p:nvSpPr>
          <p:cNvPr id="19" name="Text 17"/>
          <p:cNvSpPr/>
          <p:nvPr/>
        </p:nvSpPr>
        <p:spPr>
          <a:xfrm>
            <a:off x="457200" y="4354373"/>
            <a:ext cx="4389120" cy="246888"/>
          </a:xfrm>
          <a:prstGeom prst="rect">
            <a:avLst/>
          </a:prstGeom>
          <a:noFill/>
          <a:ln/>
        </p:spPr>
        <p:txBody>
          <a:bodyPr wrap="square" rtlCol="0" anchor="ctr"/>
          <a:lstStyle/>
          <a:p>
            <a:pPr marL="0" indent="0" algn="l">
              <a:buNone/>
            </a:pPr>
            <a:r>
              <a:rPr lang="en-US" sz="950" dirty="0">
                <a:solidFill>
                  <a:srgbClr val="F0B27A"/>
                </a:solidFill>
                <a:latin typeface="Consolas" pitchFamily="34" charset="0"/>
                <a:ea typeface="Consolas" pitchFamily="34" charset="-122"/>
                <a:cs typeface="Consolas" pitchFamily="34" charset="-120"/>
              </a:rPr>
              <a:t>  })</a:t>
            </a:r>
            <a:endParaRPr lang="en-US" sz="950" dirty="0"/>
          </a:p>
        </p:txBody>
      </p:sp>
      <p:sp>
        <p:nvSpPr>
          <p:cNvPr id="20" name="Text 18"/>
          <p:cNvSpPr/>
          <p:nvPr/>
        </p:nvSpPr>
        <p:spPr>
          <a:xfrm>
            <a:off x="457200" y="4594860"/>
            <a:ext cx="4389120" cy="246888"/>
          </a:xfrm>
          <a:prstGeom prst="rect">
            <a:avLst/>
          </a:prstGeom>
          <a:noFill/>
          <a:ln/>
        </p:spPr>
        <p:txBody>
          <a:bodyPr wrap="square" rtlCol="0" anchor="ctr"/>
          <a:lstStyle/>
          <a:p>
            <a:pPr marL="0" indent="0" algn="l">
              <a:buNone/>
            </a:pPr>
            <a:r>
              <a:rPr lang="en-US" sz="950" dirty="0">
                <a:solidFill>
                  <a:srgbClr val="C8DCEF"/>
                </a:solidFill>
                <a:latin typeface="Consolas" pitchFamily="34" charset="0"/>
                <a:ea typeface="Consolas" pitchFamily="34" charset="-122"/>
                <a:cs typeface="Consolas" pitchFamily="34" charset="-120"/>
              </a:rPr>
              <a:t>}</a:t>
            </a:r>
            <a:endParaRPr lang="en-US" sz="950" dirty="0"/>
          </a:p>
        </p:txBody>
      </p:sp>
      <p:sp>
        <p:nvSpPr>
          <p:cNvPr id="21" name="Shape 19"/>
          <p:cNvSpPr/>
          <p:nvPr/>
        </p:nvSpPr>
        <p:spPr>
          <a:xfrm>
            <a:off x="5166360" y="914400"/>
            <a:ext cx="3657600" cy="91440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22" name="Shape 20"/>
          <p:cNvSpPr/>
          <p:nvPr/>
        </p:nvSpPr>
        <p:spPr>
          <a:xfrm>
            <a:off x="5166360" y="914400"/>
            <a:ext cx="64008" cy="914400"/>
          </a:xfrm>
          <a:prstGeom prst="rect">
            <a:avLst/>
          </a:prstGeom>
          <a:solidFill>
            <a:srgbClr val="F0B27A"/>
          </a:solidFill>
          <a:ln w="12700">
            <a:solidFill>
              <a:srgbClr val="F0B27A"/>
            </a:solidFill>
            <a:prstDash val="solid"/>
          </a:ln>
        </p:spPr>
        <p:txBody>
          <a:bodyPr/>
          <a:lstStyle/>
          <a:p>
            <a:endParaRPr lang="en-US"/>
          </a:p>
        </p:txBody>
      </p:sp>
      <p:sp>
        <p:nvSpPr>
          <p:cNvPr id="23" name="Text 21"/>
          <p:cNvSpPr/>
          <p:nvPr/>
        </p:nvSpPr>
        <p:spPr>
          <a:xfrm>
            <a:off x="5285232" y="960120"/>
            <a:ext cx="3474720" cy="274320"/>
          </a:xfrm>
          <a:prstGeom prst="rect">
            <a:avLst/>
          </a:prstGeom>
          <a:noFill/>
          <a:ln/>
        </p:spPr>
        <p:txBody>
          <a:bodyPr wrap="square" rtlCol="0" anchor="ctr"/>
          <a:lstStyle/>
          <a:p>
            <a:pPr marL="0" indent="0">
              <a:buNone/>
            </a:pPr>
            <a:r>
              <a:rPr lang="en-US" sz="1150" b="1" dirty="0">
                <a:solidFill>
                  <a:srgbClr val="1B2A4A"/>
                </a:solidFill>
                <a:latin typeface="Consolas" pitchFamily="34" charset="0"/>
                <a:ea typeface="Consolas" pitchFamily="34" charset="-122"/>
                <a:cs typeface="Consolas" pitchFamily="34" charset="-120"/>
              </a:rPr>
              <a:t>renderPlot()</a:t>
            </a:r>
            <a:endParaRPr lang="en-US" sz="1150" dirty="0"/>
          </a:p>
        </p:txBody>
      </p:sp>
      <p:sp>
        <p:nvSpPr>
          <p:cNvPr id="24" name="Text 22"/>
          <p:cNvSpPr/>
          <p:nvPr/>
        </p:nvSpPr>
        <p:spPr>
          <a:xfrm>
            <a:off x="5285232" y="1261872"/>
            <a:ext cx="3474720" cy="521208"/>
          </a:xfrm>
          <a:prstGeom prst="rect">
            <a:avLst/>
          </a:prstGeom>
          <a:noFill/>
          <a:ln/>
        </p:spPr>
        <p:txBody>
          <a:bodyPr wrap="square" rtlCol="0" anchor="ctr"/>
          <a:lstStyle/>
          <a:p>
            <a:pPr marL="0" indent="0">
              <a:buNone/>
            </a:pPr>
            <a:r>
              <a:rPr lang="en-US" sz="1050" dirty="0">
                <a:solidFill>
                  <a:srgbClr val="5A6A7E"/>
                </a:solidFill>
                <a:latin typeface="Calibri" pitchFamily="34" charset="0"/>
                <a:ea typeface="Calibri" pitchFamily="34" charset="-122"/>
                <a:cs typeface="Calibri" pitchFamily="34" charset="-120"/>
              </a:rPr>
              <a:t>Links a ggplot to output$movement. Re-renders automatically when any reactive dependency changes. Matches plotOutput('movement') in the UI.</a:t>
            </a:r>
            <a:endParaRPr lang="en-US" sz="1050" dirty="0"/>
          </a:p>
        </p:txBody>
      </p:sp>
      <p:sp>
        <p:nvSpPr>
          <p:cNvPr id="25" name="Shape 23"/>
          <p:cNvSpPr/>
          <p:nvPr/>
        </p:nvSpPr>
        <p:spPr>
          <a:xfrm>
            <a:off x="5166360" y="2057400"/>
            <a:ext cx="3657600" cy="91440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26" name="Shape 24"/>
          <p:cNvSpPr/>
          <p:nvPr/>
        </p:nvSpPr>
        <p:spPr>
          <a:xfrm>
            <a:off x="5166360" y="2057400"/>
            <a:ext cx="64008" cy="914400"/>
          </a:xfrm>
          <a:prstGeom prst="rect">
            <a:avLst/>
          </a:prstGeom>
          <a:solidFill>
            <a:srgbClr val="A8D5A2"/>
          </a:solidFill>
          <a:ln w="12700">
            <a:solidFill>
              <a:srgbClr val="A8D5A2"/>
            </a:solidFill>
            <a:prstDash val="solid"/>
          </a:ln>
        </p:spPr>
        <p:txBody>
          <a:bodyPr/>
          <a:lstStyle/>
          <a:p>
            <a:endParaRPr lang="en-US"/>
          </a:p>
        </p:txBody>
      </p:sp>
      <p:sp>
        <p:nvSpPr>
          <p:cNvPr id="27" name="Text 25"/>
          <p:cNvSpPr/>
          <p:nvPr/>
        </p:nvSpPr>
        <p:spPr>
          <a:xfrm>
            <a:off x="5285232" y="2103120"/>
            <a:ext cx="3474720" cy="274320"/>
          </a:xfrm>
          <a:prstGeom prst="rect">
            <a:avLst/>
          </a:prstGeom>
          <a:noFill/>
          <a:ln/>
        </p:spPr>
        <p:txBody>
          <a:bodyPr wrap="square" rtlCol="0" anchor="ctr"/>
          <a:lstStyle/>
          <a:p>
            <a:pPr marL="0" indent="0">
              <a:buNone/>
            </a:pPr>
            <a:r>
              <a:rPr lang="en-US" sz="1150" b="1" dirty="0">
                <a:solidFill>
                  <a:srgbClr val="1B2A4A"/>
                </a:solidFill>
                <a:latin typeface="Consolas" pitchFamily="34" charset="0"/>
                <a:ea typeface="Consolas" pitchFamily="34" charset="-122"/>
                <a:cs typeface="Consolas" pitchFamily="34" charset="-120"/>
              </a:rPr>
              <a:t>reactive()</a:t>
            </a:r>
            <a:endParaRPr lang="en-US" sz="1150" dirty="0"/>
          </a:p>
        </p:txBody>
      </p:sp>
      <p:sp>
        <p:nvSpPr>
          <p:cNvPr id="28" name="Text 26"/>
          <p:cNvSpPr/>
          <p:nvPr/>
        </p:nvSpPr>
        <p:spPr>
          <a:xfrm>
            <a:off x="5285232" y="2404872"/>
            <a:ext cx="3474720" cy="521208"/>
          </a:xfrm>
          <a:prstGeom prst="rect">
            <a:avLst/>
          </a:prstGeom>
          <a:noFill/>
          <a:ln/>
        </p:spPr>
        <p:txBody>
          <a:bodyPr wrap="square" rtlCol="0" anchor="ctr"/>
          <a:lstStyle/>
          <a:p>
            <a:pPr marL="0" indent="0">
              <a:buNone/>
            </a:pPr>
            <a:r>
              <a:rPr lang="en-US" sz="1050" dirty="0">
                <a:solidFill>
                  <a:srgbClr val="5A6A7E"/>
                </a:solidFill>
                <a:latin typeface="Calibri" pitchFamily="34" charset="0"/>
                <a:ea typeface="Calibri" pitchFamily="34" charset="-122"/>
                <a:cs typeface="Calibri" pitchFamily="34" charset="-120"/>
              </a:rPr>
              <a:t>Creates a cached, lazy expression. dataFilter() re-runs only when input$PitcherInput, input$GameInput, or input$BatterHand change. Called like a function.</a:t>
            </a:r>
            <a:endParaRPr lang="en-US" sz="1050" dirty="0"/>
          </a:p>
        </p:txBody>
      </p:sp>
      <p:sp>
        <p:nvSpPr>
          <p:cNvPr id="29" name="Shape 27"/>
          <p:cNvSpPr/>
          <p:nvPr/>
        </p:nvSpPr>
        <p:spPr>
          <a:xfrm>
            <a:off x="5166360" y="3200400"/>
            <a:ext cx="3657600" cy="91440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30" name="Shape 28"/>
          <p:cNvSpPr/>
          <p:nvPr/>
        </p:nvSpPr>
        <p:spPr>
          <a:xfrm>
            <a:off x="5166360" y="3200400"/>
            <a:ext cx="64008" cy="914400"/>
          </a:xfrm>
          <a:prstGeom prst="rect">
            <a:avLst/>
          </a:prstGeom>
          <a:solidFill>
            <a:srgbClr val="F7DC6F"/>
          </a:solidFill>
          <a:ln w="12700">
            <a:solidFill>
              <a:srgbClr val="F7DC6F"/>
            </a:solidFill>
            <a:prstDash val="solid"/>
          </a:ln>
        </p:spPr>
        <p:txBody>
          <a:bodyPr/>
          <a:lstStyle/>
          <a:p>
            <a:endParaRPr lang="en-US"/>
          </a:p>
        </p:txBody>
      </p:sp>
      <p:sp>
        <p:nvSpPr>
          <p:cNvPr id="31" name="Text 29"/>
          <p:cNvSpPr/>
          <p:nvPr/>
        </p:nvSpPr>
        <p:spPr>
          <a:xfrm>
            <a:off x="5285232" y="3246120"/>
            <a:ext cx="3474720" cy="274320"/>
          </a:xfrm>
          <a:prstGeom prst="rect">
            <a:avLst/>
          </a:prstGeom>
          <a:noFill/>
          <a:ln/>
        </p:spPr>
        <p:txBody>
          <a:bodyPr wrap="square" rtlCol="0" anchor="ctr"/>
          <a:lstStyle/>
          <a:p>
            <a:pPr marL="0" indent="0">
              <a:buNone/>
            </a:pPr>
            <a:r>
              <a:rPr lang="en-US" sz="1150" b="1" dirty="0">
                <a:solidFill>
                  <a:srgbClr val="1B2A4A"/>
                </a:solidFill>
                <a:latin typeface="Consolas" pitchFamily="34" charset="0"/>
                <a:ea typeface="Consolas" pitchFamily="34" charset="-122"/>
                <a:cs typeface="Consolas" pitchFamily="34" charset="-120"/>
              </a:rPr>
              <a:t>input$*</a:t>
            </a:r>
            <a:endParaRPr lang="en-US" sz="1150" dirty="0"/>
          </a:p>
        </p:txBody>
      </p:sp>
      <p:sp>
        <p:nvSpPr>
          <p:cNvPr id="32" name="Text 30"/>
          <p:cNvSpPr/>
          <p:nvPr/>
        </p:nvSpPr>
        <p:spPr>
          <a:xfrm>
            <a:off x="5285232" y="3547872"/>
            <a:ext cx="3474720" cy="521208"/>
          </a:xfrm>
          <a:prstGeom prst="rect">
            <a:avLst/>
          </a:prstGeom>
          <a:noFill/>
          <a:ln/>
        </p:spPr>
        <p:txBody>
          <a:bodyPr wrap="square" rtlCol="0" anchor="ctr"/>
          <a:lstStyle/>
          <a:p>
            <a:pPr marL="0" indent="0">
              <a:buNone/>
            </a:pPr>
            <a:r>
              <a:rPr lang="en-US" sz="1050" dirty="0">
                <a:solidFill>
                  <a:srgbClr val="5A6A7E"/>
                </a:solidFill>
                <a:latin typeface="Calibri" pitchFamily="34" charset="0"/>
                <a:ea typeface="Calibri" pitchFamily="34" charset="-122"/>
                <a:cs typeface="Calibri" pitchFamily="34" charset="-120"/>
              </a:rPr>
              <a:t>Reactive values tied to each widget. Reading them inside renderPlot() or reactive() registers a dependency — Shiny tracks and re-runs when they change.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Deploying Your Shiny App</a:t>
            </a:r>
            <a:endParaRPr lang="en-US" sz="2400" dirty="0"/>
          </a:p>
        </p:txBody>
      </p:sp>
      <p:sp>
        <p:nvSpPr>
          <p:cNvPr id="4" name="Text 2"/>
          <p:cNvSpPr/>
          <p:nvPr/>
        </p:nvSpPr>
        <p:spPr>
          <a:xfrm>
            <a:off x="365760" y="804672"/>
            <a:ext cx="8412480" cy="320040"/>
          </a:xfrm>
          <a:prstGeom prst="rect">
            <a:avLst/>
          </a:prstGeom>
          <a:noFill/>
          <a:ln/>
        </p:spPr>
        <p:txBody>
          <a:bodyPr wrap="square" rtlCol="0" anchor="ctr"/>
          <a:lstStyle/>
          <a:p>
            <a:pPr marL="0" indent="0">
              <a:buNone/>
            </a:pPr>
            <a:r>
              <a:rPr lang="en-US" sz="1300" i="1" dirty="0">
                <a:solidFill>
                  <a:srgbClr val="5A6A7E"/>
                </a:solidFill>
                <a:latin typeface="Calibri" pitchFamily="34" charset="0"/>
                <a:ea typeface="Calibri" pitchFamily="34" charset="-122"/>
                <a:cs typeface="Calibri" pitchFamily="34" charset="-120"/>
              </a:rPr>
              <a:t>From RStudio to the web in four steps — no server knowledge required.</a:t>
            </a:r>
            <a:endParaRPr lang="en-US" sz="1300" dirty="0"/>
          </a:p>
        </p:txBody>
      </p:sp>
      <p:sp>
        <p:nvSpPr>
          <p:cNvPr id="5" name="Shape 3"/>
          <p:cNvSpPr/>
          <p:nvPr/>
        </p:nvSpPr>
        <p:spPr>
          <a:xfrm>
            <a:off x="320040" y="1261872"/>
            <a:ext cx="4160520" cy="1627632"/>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6" name="Shape 4"/>
          <p:cNvSpPr/>
          <p:nvPr/>
        </p:nvSpPr>
        <p:spPr>
          <a:xfrm>
            <a:off x="320040" y="1261872"/>
            <a:ext cx="4160520" cy="457200"/>
          </a:xfrm>
          <a:prstGeom prst="rect">
            <a:avLst/>
          </a:prstGeom>
          <a:solidFill>
            <a:srgbClr val="1A5276"/>
          </a:solidFill>
          <a:ln w="12700">
            <a:solidFill>
              <a:srgbClr val="1A5276"/>
            </a:solidFill>
            <a:prstDash val="solid"/>
          </a:ln>
        </p:spPr>
        <p:txBody>
          <a:bodyPr/>
          <a:lstStyle/>
          <a:p>
            <a:endParaRPr lang="en-US"/>
          </a:p>
        </p:txBody>
      </p:sp>
      <p:sp>
        <p:nvSpPr>
          <p:cNvPr id="7" name="Text 5"/>
          <p:cNvSpPr/>
          <p:nvPr/>
        </p:nvSpPr>
        <p:spPr>
          <a:xfrm>
            <a:off x="429768" y="1316736"/>
            <a:ext cx="548640" cy="347472"/>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914400" y="1353312"/>
            <a:ext cx="3429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Create a shinyapps.io Account</a:t>
            </a:r>
            <a:endParaRPr lang="en-US" sz="1300" dirty="0"/>
          </a:p>
        </p:txBody>
      </p:sp>
      <p:sp>
        <p:nvSpPr>
          <p:cNvPr id="9" name="Text 7"/>
          <p:cNvSpPr/>
          <p:nvPr/>
        </p:nvSpPr>
        <p:spPr>
          <a:xfrm>
            <a:off x="457200" y="1828800"/>
            <a:ext cx="3904488" cy="96012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Go to shinyapps.io and sign up for a free account</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The free tier supports up to 5 apps and 25 active hours/month</a:t>
            </a:r>
            <a:endParaRPr lang="en-US" sz="1050" dirty="0"/>
          </a:p>
        </p:txBody>
      </p:sp>
      <p:sp>
        <p:nvSpPr>
          <p:cNvPr id="10" name="Shape 8"/>
          <p:cNvSpPr/>
          <p:nvPr/>
        </p:nvSpPr>
        <p:spPr>
          <a:xfrm>
            <a:off x="4754880" y="1261872"/>
            <a:ext cx="4160520" cy="1627632"/>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11" name="Shape 9"/>
          <p:cNvSpPr/>
          <p:nvPr/>
        </p:nvSpPr>
        <p:spPr>
          <a:xfrm>
            <a:off x="4754880" y="1261872"/>
            <a:ext cx="4160520" cy="457200"/>
          </a:xfrm>
          <a:prstGeom prst="rect">
            <a:avLst/>
          </a:prstGeom>
          <a:solidFill>
            <a:srgbClr val="C0392B"/>
          </a:solidFill>
          <a:ln w="12700">
            <a:solidFill>
              <a:srgbClr val="C0392B"/>
            </a:solidFill>
            <a:prstDash val="solid"/>
          </a:ln>
        </p:spPr>
        <p:txBody>
          <a:bodyPr/>
          <a:lstStyle/>
          <a:p>
            <a:endParaRPr lang="en-US"/>
          </a:p>
        </p:txBody>
      </p:sp>
      <p:sp>
        <p:nvSpPr>
          <p:cNvPr id="12" name="Text 10"/>
          <p:cNvSpPr/>
          <p:nvPr/>
        </p:nvSpPr>
        <p:spPr>
          <a:xfrm>
            <a:off x="4864608" y="1316736"/>
            <a:ext cx="548640" cy="347472"/>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5349240" y="1353312"/>
            <a:ext cx="3429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Install &amp; Configure rsconnect</a:t>
            </a:r>
            <a:endParaRPr lang="en-US" sz="1300" dirty="0"/>
          </a:p>
        </p:txBody>
      </p:sp>
      <p:sp>
        <p:nvSpPr>
          <p:cNvPr id="14" name="Text 12"/>
          <p:cNvSpPr/>
          <p:nvPr/>
        </p:nvSpPr>
        <p:spPr>
          <a:xfrm>
            <a:off x="4892040" y="1828800"/>
            <a:ext cx="3904488" cy="96012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In RStudio, install the </a:t>
            </a:r>
            <a:r>
              <a:rPr lang="en-US" sz="1050" dirty="0" err="1">
                <a:solidFill>
                  <a:srgbClr val="5A6A7E"/>
                </a:solidFill>
                <a:latin typeface="Calibri" pitchFamily="34" charset="0"/>
                <a:ea typeface="Calibri" pitchFamily="34" charset="-122"/>
                <a:cs typeface="Calibri" pitchFamily="34" charset="-120"/>
              </a:rPr>
              <a:t>rsconnect</a:t>
            </a:r>
            <a:r>
              <a:rPr lang="en-US" sz="1050" dirty="0">
                <a:solidFill>
                  <a:srgbClr val="5A6A7E"/>
                </a:solidFill>
                <a:latin typeface="Calibri" pitchFamily="34" charset="0"/>
                <a:ea typeface="Calibri" pitchFamily="34" charset="-122"/>
                <a:cs typeface="Calibri" pitchFamily="34" charset="-120"/>
              </a:rPr>
              <a:t> package</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Then go to Tools → Global Options → Publishing → Connect</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Paste in your shinyapps.io account token and secret</a:t>
            </a:r>
            <a:endParaRPr lang="en-US" sz="1050" dirty="0"/>
          </a:p>
        </p:txBody>
      </p:sp>
      <p:sp>
        <p:nvSpPr>
          <p:cNvPr id="15" name="Shape 13"/>
          <p:cNvSpPr/>
          <p:nvPr/>
        </p:nvSpPr>
        <p:spPr>
          <a:xfrm>
            <a:off x="320040" y="3072384"/>
            <a:ext cx="4160520" cy="1627632"/>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16" name="Shape 14"/>
          <p:cNvSpPr/>
          <p:nvPr/>
        </p:nvSpPr>
        <p:spPr>
          <a:xfrm>
            <a:off x="320040" y="3072384"/>
            <a:ext cx="4160520" cy="457200"/>
          </a:xfrm>
          <a:prstGeom prst="rect">
            <a:avLst/>
          </a:prstGeom>
          <a:solidFill>
            <a:srgbClr val="1A7245"/>
          </a:solidFill>
          <a:ln w="12700">
            <a:solidFill>
              <a:srgbClr val="1A7245"/>
            </a:solidFill>
            <a:prstDash val="solid"/>
          </a:ln>
        </p:spPr>
        <p:txBody>
          <a:bodyPr/>
          <a:lstStyle/>
          <a:p>
            <a:endParaRPr lang="en-US"/>
          </a:p>
        </p:txBody>
      </p:sp>
      <p:sp>
        <p:nvSpPr>
          <p:cNvPr id="17" name="Text 15"/>
          <p:cNvSpPr/>
          <p:nvPr/>
        </p:nvSpPr>
        <p:spPr>
          <a:xfrm>
            <a:off x="429768" y="3127248"/>
            <a:ext cx="548640" cy="347472"/>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8" name="Text 16"/>
          <p:cNvSpPr/>
          <p:nvPr/>
        </p:nvSpPr>
        <p:spPr>
          <a:xfrm>
            <a:off x="914400" y="3163824"/>
            <a:ext cx="3429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Publish from RStudio</a:t>
            </a:r>
            <a:endParaRPr lang="en-US" sz="1300" dirty="0"/>
          </a:p>
        </p:txBody>
      </p:sp>
      <p:sp>
        <p:nvSpPr>
          <p:cNvPr id="19" name="Text 17"/>
          <p:cNvSpPr/>
          <p:nvPr/>
        </p:nvSpPr>
        <p:spPr>
          <a:xfrm>
            <a:off x="457200" y="3639312"/>
            <a:ext cx="3904488" cy="96012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With your app.R open, click the blue Publish button (top-right of the editor)</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Select your shinyapps.io account, name your app, and click Publish</a:t>
            </a:r>
          </a:p>
        </p:txBody>
      </p:sp>
      <p:sp>
        <p:nvSpPr>
          <p:cNvPr id="20" name="Shape 18"/>
          <p:cNvSpPr/>
          <p:nvPr/>
        </p:nvSpPr>
        <p:spPr>
          <a:xfrm>
            <a:off x="4754880" y="3072384"/>
            <a:ext cx="4160520" cy="1627632"/>
          </a:xfrm>
          <a:prstGeom prst="rect">
            <a:avLst/>
          </a:prstGeom>
          <a:solidFill>
            <a:srgbClr val="FFFFFF"/>
          </a:solidFill>
          <a:ln w="12700">
            <a:solidFill>
              <a:srgbClr val="C8DCEF"/>
            </a:solidFill>
            <a:prstDash val="solid"/>
          </a:ln>
          <a:effectLst>
            <a:outerShdw blurRad="76200" dist="25400" dir="8100000" algn="bl" rotWithShape="0">
              <a:srgbClr val="000000">
                <a:alpha val="8000"/>
              </a:srgbClr>
            </a:outerShdw>
          </a:effectLst>
        </p:spPr>
        <p:txBody>
          <a:bodyPr/>
          <a:lstStyle/>
          <a:p>
            <a:endParaRPr lang="en-US"/>
          </a:p>
        </p:txBody>
      </p:sp>
      <p:sp>
        <p:nvSpPr>
          <p:cNvPr id="21" name="Shape 19"/>
          <p:cNvSpPr/>
          <p:nvPr/>
        </p:nvSpPr>
        <p:spPr>
          <a:xfrm>
            <a:off x="4754880" y="3072384"/>
            <a:ext cx="4160520" cy="457200"/>
          </a:xfrm>
          <a:prstGeom prst="rect">
            <a:avLst/>
          </a:prstGeom>
          <a:solidFill>
            <a:srgbClr val="6C3483"/>
          </a:solidFill>
          <a:ln w="12700">
            <a:solidFill>
              <a:srgbClr val="6C3483"/>
            </a:solidFill>
            <a:prstDash val="solid"/>
          </a:ln>
        </p:spPr>
        <p:txBody>
          <a:bodyPr/>
          <a:lstStyle/>
          <a:p>
            <a:endParaRPr lang="en-US"/>
          </a:p>
        </p:txBody>
      </p:sp>
      <p:sp>
        <p:nvSpPr>
          <p:cNvPr id="22" name="Text 20"/>
          <p:cNvSpPr/>
          <p:nvPr/>
        </p:nvSpPr>
        <p:spPr>
          <a:xfrm>
            <a:off x="4864608" y="3127248"/>
            <a:ext cx="548640" cy="347472"/>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5349240" y="3163824"/>
            <a:ext cx="3429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Share Your Live URL</a:t>
            </a:r>
            <a:endParaRPr lang="en-US" sz="1300" dirty="0"/>
          </a:p>
        </p:txBody>
      </p:sp>
      <p:sp>
        <p:nvSpPr>
          <p:cNvPr id="24" name="Text 22"/>
          <p:cNvSpPr/>
          <p:nvPr/>
        </p:nvSpPr>
        <p:spPr>
          <a:xfrm>
            <a:off x="4892040" y="3639312"/>
            <a:ext cx="3904488" cy="96012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Once deployed, your app is live at a public URL instantly shareable with anyone</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No R installation needed to open URL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App: 5 Analytical Views</a:t>
            </a:r>
            <a:endParaRPr lang="en-US" sz="2400" dirty="0"/>
          </a:p>
        </p:txBody>
      </p:sp>
      <p:sp>
        <p:nvSpPr>
          <p:cNvPr id="4" name="Shape 2"/>
          <p:cNvSpPr/>
          <p:nvPr/>
        </p:nvSpPr>
        <p:spPr>
          <a:xfrm>
            <a:off x="320040" y="868680"/>
            <a:ext cx="2770632" cy="1901952"/>
          </a:xfrm>
          <a:prstGeom prst="rect">
            <a:avLst/>
          </a:prstGeom>
          <a:solidFill>
            <a:srgbClr val="FFFFFF"/>
          </a:solidFill>
          <a:ln w="12700">
            <a:solidFill>
              <a:srgbClr val="C8DCEF"/>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20040" y="868680"/>
            <a:ext cx="2770632" cy="457200"/>
          </a:xfrm>
          <a:prstGeom prst="rect">
            <a:avLst/>
          </a:prstGeom>
          <a:solidFill>
            <a:srgbClr val="1B2A4A"/>
          </a:solidFill>
          <a:ln w="12700">
            <a:solidFill>
              <a:srgbClr val="1B2A4A"/>
            </a:solidFill>
            <a:prstDash val="solid"/>
          </a:ln>
        </p:spPr>
        <p:txBody>
          <a:bodyPr/>
          <a:lstStyle/>
          <a:p>
            <a:endParaRPr lang="en-US"/>
          </a:p>
        </p:txBody>
      </p:sp>
      <p:sp>
        <p:nvSpPr>
          <p:cNvPr id="6" name="Text 4"/>
          <p:cNvSpPr/>
          <p:nvPr/>
        </p:nvSpPr>
        <p:spPr>
          <a:xfrm>
            <a:off x="411480" y="932688"/>
            <a:ext cx="263347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Movement &amp; Metrics</a:t>
            </a:r>
            <a:endParaRPr lang="en-US" sz="1100" dirty="0"/>
          </a:p>
        </p:txBody>
      </p:sp>
      <p:sp>
        <p:nvSpPr>
          <p:cNvPr id="7" name="Text 5"/>
          <p:cNvSpPr/>
          <p:nvPr/>
        </p:nvSpPr>
        <p:spPr>
          <a:xfrm>
            <a:off x="411480" y="1435608"/>
            <a:ext cx="2633472" cy="123444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Scatter plot of horizontal vs. induced vertical break</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Reveals pitch shape and arsenal diversity</a:t>
            </a:r>
            <a:endParaRPr lang="en-US" sz="1050" dirty="0"/>
          </a:p>
        </p:txBody>
      </p:sp>
      <p:sp>
        <p:nvSpPr>
          <p:cNvPr id="8" name="Shape 6"/>
          <p:cNvSpPr/>
          <p:nvPr/>
        </p:nvSpPr>
        <p:spPr>
          <a:xfrm>
            <a:off x="3227832" y="868680"/>
            <a:ext cx="2770632" cy="1901952"/>
          </a:xfrm>
          <a:prstGeom prst="rect">
            <a:avLst/>
          </a:prstGeom>
          <a:solidFill>
            <a:srgbClr val="FFFFFF"/>
          </a:solidFill>
          <a:ln w="12700">
            <a:solidFill>
              <a:srgbClr val="C8DCEF"/>
            </a:solidFill>
            <a:prstDash val="solid"/>
          </a:ln>
          <a:effectLst>
            <a:outerShdw blurRad="63500" dist="25400" dir="8100000" algn="bl" rotWithShape="0">
              <a:srgbClr val="000000">
                <a:alpha val="8000"/>
              </a:srgbClr>
            </a:outerShdw>
          </a:effectLst>
        </p:spPr>
        <p:txBody>
          <a:bodyPr/>
          <a:lstStyle/>
          <a:p>
            <a:endParaRPr lang="en-US" dirty="0"/>
          </a:p>
        </p:txBody>
      </p:sp>
      <p:sp>
        <p:nvSpPr>
          <p:cNvPr id="9" name="Shape 7"/>
          <p:cNvSpPr/>
          <p:nvPr/>
        </p:nvSpPr>
        <p:spPr>
          <a:xfrm>
            <a:off x="3227832" y="868680"/>
            <a:ext cx="2770632" cy="457200"/>
          </a:xfrm>
          <a:prstGeom prst="rect">
            <a:avLst/>
          </a:prstGeom>
          <a:solidFill>
            <a:srgbClr val="1B2A4A"/>
          </a:solidFill>
          <a:ln w="12700">
            <a:solidFill>
              <a:srgbClr val="1B2A4A"/>
            </a:solidFill>
            <a:prstDash val="solid"/>
          </a:ln>
        </p:spPr>
        <p:txBody>
          <a:bodyPr/>
          <a:lstStyle/>
          <a:p>
            <a:endParaRPr lang="en-US"/>
          </a:p>
        </p:txBody>
      </p:sp>
      <p:sp>
        <p:nvSpPr>
          <p:cNvPr id="10" name="Text 8"/>
          <p:cNvSpPr/>
          <p:nvPr/>
        </p:nvSpPr>
        <p:spPr>
          <a:xfrm>
            <a:off x="3319272" y="932688"/>
            <a:ext cx="263347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Spin Clock</a:t>
            </a:r>
            <a:endParaRPr lang="en-US" sz="1100" dirty="0"/>
          </a:p>
        </p:txBody>
      </p:sp>
      <p:sp>
        <p:nvSpPr>
          <p:cNvPr id="11" name="Text 9"/>
          <p:cNvSpPr/>
          <p:nvPr/>
        </p:nvSpPr>
        <p:spPr>
          <a:xfrm>
            <a:off x="3319272" y="1435608"/>
            <a:ext cx="2633472" cy="123444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Polar bar chart of average spin axis and rate</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Visualizes release point like a clock face</a:t>
            </a:r>
            <a:endParaRPr lang="en-US" sz="1050" dirty="0"/>
          </a:p>
        </p:txBody>
      </p:sp>
      <p:sp>
        <p:nvSpPr>
          <p:cNvPr id="12" name="Shape 10"/>
          <p:cNvSpPr/>
          <p:nvPr/>
        </p:nvSpPr>
        <p:spPr>
          <a:xfrm>
            <a:off x="6135624" y="868680"/>
            <a:ext cx="2770632" cy="1901952"/>
          </a:xfrm>
          <a:prstGeom prst="rect">
            <a:avLst/>
          </a:prstGeom>
          <a:solidFill>
            <a:srgbClr val="FFFFFF"/>
          </a:solidFill>
          <a:ln w="12700">
            <a:solidFill>
              <a:srgbClr val="C8DCEF"/>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6135624" y="868680"/>
            <a:ext cx="2770632" cy="457200"/>
          </a:xfrm>
          <a:prstGeom prst="rect">
            <a:avLst/>
          </a:prstGeom>
          <a:solidFill>
            <a:srgbClr val="1B2A4A"/>
          </a:solidFill>
          <a:ln w="12700">
            <a:solidFill>
              <a:srgbClr val="1B2A4A"/>
            </a:solidFill>
            <a:prstDash val="solid"/>
          </a:ln>
        </p:spPr>
        <p:txBody>
          <a:bodyPr/>
          <a:lstStyle/>
          <a:p>
            <a:endParaRPr lang="en-US"/>
          </a:p>
        </p:txBody>
      </p:sp>
      <p:sp>
        <p:nvSpPr>
          <p:cNvPr id="14" name="Text 12"/>
          <p:cNvSpPr/>
          <p:nvPr/>
        </p:nvSpPr>
        <p:spPr>
          <a:xfrm>
            <a:off x="6227064" y="932688"/>
            <a:ext cx="263347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Velo Distribution</a:t>
            </a:r>
            <a:endParaRPr lang="en-US" sz="1100" dirty="0"/>
          </a:p>
        </p:txBody>
      </p:sp>
      <p:sp>
        <p:nvSpPr>
          <p:cNvPr id="15" name="Text 13"/>
          <p:cNvSpPr/>
          <p:nvPr/>
        </p:nvSpPr>
        <p:spPr>
          <a:xfrm>
            <a:off x="6227064" y="1435608"/>
            <a:ext cx="2633472" cy="123444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Density plots per pitch type with mean velocity labeled</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Stacked facets reveal separation between offerings</a:t>
            </a:r>
            <a:endParaRPr lang="en-US" sz="1050" dirty="0"/>
          </a:p>
        </p:txBody>
      </p:sp>
      <p:sp>
        <p:nvSpPr>
          <p:cNvPr id="16" name="Shape 14"/>
          <p:cNvSpPr/>
          <p:nvPr/>
        </p:nvSpPr>
        <p:spPr>
          <a:xfrm>
            <a:off x="1051560" y="3035808"/>
            <a:ext cx="3337560" cy="1901952"/>
          </a:xfrm>
          <a:prstGeom prst="rect">
            <a:avLst/>
          </a:prstGeom>
          <a:solidFill>
            <a:srgbClr val="FFFFFF"/>
          </a:solidFill>
          <a:ln w="12700">
            <a:solidFill>
              <a:srgbClr val="C8DCEF"/>
            </a:solidFill>
            <a:prstDash val="solid"/>
          </a:ln>
          <a:effectLst>
            <a:outerShdw blurRad="63500" dist="25400" dir="8100000" algn="bl" rotWithShape="0">
              <a:srgbClr val="000000">
                <a:alpha val="8000"/>
              </a:srgbClr>
            </a:outerShdw>
          </a:effectLst>
        </p:spPr>
        <p:txBody>
          <a:bodyPr/>
          <a:lstStyle/>
          <a:p>
            <a:endParaRPr lang="en-US"/>
          </a:p>
        </p:txBody>
      </p:sp>
      <p:sp>
        <p:nvSpPr>
          <p:cNvPr id="17" name="Shape 15"/>
          <p:cNvSpPr/>
          <p:nvPr/>
        </p:nvSpPr>
        <p:spPr>
          <a:xfrm>
            <a:off x="1051560" y="3035808"/>
            <a:ext cx="3337560" cy="457200"/>
          </a:xfrm>
          <a:prstGeom prst="rect">
            <a:avLst/>
          </a:prstGeom>
          <a:solidFill>
            <a:srgbClr val="1B2A4A"/>
          </a:solidFill>
          <a:ln w="12700">
            <a:solidFill>
              <a:srgbClr val="1B2A4A"/>
            </a:solidFill>
            <a:prstDash val="solid"/>
          </a:ln>
        </p:spPr>
        <p:txBody>
          <a:bodyPr/>
          <a:lstStyle/>
          <a:p>
            <a:endParaRPr lang="en-US"/>
          </a:p>
        </p:txBody>
      </p:sp>
      <p:sp>
        <p:nvSpPr>
          <p:cNvPr id="18" name="Text 16"/>
          <p:cNvSpPr/>
          <p:nvPr/>
        </p:nvSpPr>
        <p:spPr>
          <a:xfrm>
            <a:off x="1143000" y="3099816"/>
            <a:ext cx="320040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Pitch Locations</a:t>
            </a:r>
            <a:endParaRPr lang="en-US" sz="1100" dirty="0"/>
          </a:p>
        </p:txBody>
      </p:sp>
      <p:sp>
        <p:nvSpPr>
          <p:cNvPr id="19" name="Text 17"/>
          <p:cNvSpPr/>
          <p:nvPr/>
        </p:nvSpPr>
        <p:spPr>
          <a:xfrm>
            <a:off x="1143000" y="3602736"/>
            <a:ext cx="3200400" cy="123444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2D density heatmap at the plate, faceted by pitch type </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Shows command tendencies (pitcher's POV)</a:t>
            </a:r>
            <a:endParaRPr lang="en-US" sz="1050" dirty="0"/>
          </a:p>
        </p:txBody>
      </p:sp>
      <p:sp>
        <p:nvSpPr>
          <p:cNvPr id="20" name="Shape 18"/>
          <p:cNvSpPr/>
          <p:nvPr/>
        </p:nvSpPr>
        <p:spPr>
          <a:xfrm>
            <a:off x="4572000" y="3035808"/>
            <a:ext cx="3337560" cy="1901952"/>
          </a:xfrm>
          <a:prstGeom prst="rect">
            <a:avLst/>
          </a:prstGeom>
          <a:solidFill>
            <a:srgbClr val="FFFFFF"/>
          </a:solidFill>
          <a:ln w="12700">
            <a:solidFill>
              <a:srgbClr val="C8DCEF"/>
            </a:solidFill>
            <a:prstDash val="solid"/>
          </a:ln>
          <a:effectLst>
            <a:outerShdw blurRad="63500" dist="25400" dir="8100000" algn="bl" rotWithShape="0">
              <a:srgbClr val="000000">
                <a:alpha val="8000"/>
              </a:srgbClr>
            </a:outerShdw>
          </a:effectLst>
        </p:spPr>
        <p:txBody>
          <a:bodyPr/>
          <a:lstStyle/>
          <a:p>
            <a:endParaRPr lang="en-US"/>
          </a:p>
        </p:txBody>
      </p:sp>
      <p:sp>
        <p:nvSpPr>
          <p:cNvPr id="21" name="Shape 19"/>
          <p:cNvSpPr/>
          <p:nvPr/>
        </p:nvSpPr>
        <p:spPr>
          <a:xfrm>
            <a:off x="4572000" y="3035808"/>
            <a:ext cx="3337560" cy="457200"/>
          </a:xfrm>
          <a:prstGeom prst="rect">
            <a:avLst/>
          </a:prstGeom>
          <a:solidFill>
            <a:srgbClr val="1B2A4A"/>
          </a:solidFill>
          <a:ln w="12700">
            <a:solidFill>
              <a:srgbClr val="1B2A4A"/>
            </a:solidFill>
            <a:prstDash val="solid"/>
          </a:ln>
        </p:spPr>
        <p:txBody>
          <a:bodyPr/>
          <a:lstStyle/>
          <a:p>
            <a:endParaRPr lang="en-US"/>
          </a:p>
        </p:txBody>
      </p:sp>
      <p:sp>
        <p:nvSpPr>
          <p:cNvPr id="22" name="Text 20"/>
          <p:cNvSpPr/>
          <p:nvPr/>
        </p:nvSpPr>
        <p:spPr>
          <a:xfrm>
            <a:off x="4663440" y="3099816"/>
            <a:ext cx="320040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Whiffs / Chase / Called Strikes</a:t>
            </a:r>
            <a:endParaRPr lang="en-US" sz="1100" dirty="0"/>
          </a:p>
        </p:txBody>
      </p:sp>
      <p:sp>
        <p:nvSpPr>
          <p:cNvPr id="23" name="Text 21"/>
          <p:cNvSpPr/>
          <p:nvPr/>
        </p:nvSpPr>
        <p:spPr>
          <a:xfrm>
            <a:off x="4663440" y="3602736"/>
            <a:ext cx="3200400" cy="123444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Three outcome scatter plots </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Where hitters missed, chased out of zone, and took called strikes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a:extLst>
            <a:ext uri="{FF2B5EF4-FFF2-40B4-BE49-F238E27FC236}">
              <a16:creationId xmlns:a16="http://schemas.microsoft.com/office/drawing/2014/main" id="{4732B693-149F-F085-FD9A-57D4722CFB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7E5EE3-3533-42A3-6642-8B8E0E8F2304}"/>
              </a:ext>
            </a:extLst>
          </p:cNvPr>
          <p:cNvSpPr/>
          <p:nvPr/>
        </p:nvSpPr>
        <p:spPr>
          <a:xfrm>
            <a:off x="0" y="0"/>
            <a:ext cx="137160" cy="5143500"/>
          </a:xfrm>
          <a:prstGeom prst="rect">
            <a:avLst/>
          </a:prstGeom>
          <a:solidFill>
            <a:srgbClr val="C0392B"/>
          </a:solidFill>
          <a:ln w="12700">
            <a:solidFill>
              <a:srgbClr val="C0392B"/>
            </a:solidFill>
            <a:prstDash val="solid"/>
          </a:ln>
        </p:spPr>
        <p:txBody>
          <a:bodyPr/>
          <a:lstStyle/>
          <a:p>
            <a:endParaRPr lang="en-US"/>
          </a:p>
        </p:txBody>
      </p:sp>
      <p:sp>
        <p:nvSpPr>
          <p:cNvPr id="3" name="Shape 1">
            <a:extLst>
              <a:ext uri="{FF2B5EF4-FFF2-40B4-BE49-F238E27FC236}">
                <a16:creationId xmlns:a16="http://schemas.microsoft.com/office/drawing/2014/main" id="{F5CD6C32-C7D5-5866-E781-9376A6C86383}"/>
              </a:ext>
            </a:extLst>
          </p:cNvPr>
          <p:cNvSpPr/>
          <p:nvPr/>
        </p:nvSpPr>
        <p:spPr>
          <a:xfrm>
            <a:off x="7132320" y="3200400"/>
            <a:ext cx="3200400" cy="3200400"/>
          </a:xfrm>
          <a:prstGeom prst="ellipse">
            <a:avLst/>
          </a:prstGeom>
          <a:solidFill>
            <a:srgbClr val="22396B"/>
          </a:solidFill>
          <a:ln w="12700">
            <a:solidFill>
              <a:srgbClr val="22396B"/>
            </a:solidFill>
            <a:prstDash val="solid"/>
          </a:ln>
        </p:spPr>
        <p:txBody>
          <a:bodyPr/>
          <a:lstStyle/>
          <a:p>
            <a:endParaRPr lang="en-US"/>
          </a:p>
        </p:txBody>
      </p:sp>
      <p:sp>
        <p:nvSpPr>
          <p:cNvPr id="4" name="Text 2">
            <a:extLst>
              <a:ext uri="{FF2B5EF4-FFF2-40B4-BE49-F238E27FC236}">
                <a16:creationId xmlns:a16="http://schemas.microsoft.com/office/drawing/2014/main" id="{44540D90-517F-F78A-8B61-484C45C2119C}"/>
              </a:ext>
            </a:extLst>
          </p:cNvPr>
          <p:cNvSpPr/>
          <p:nvPr/>
        </p:nvSpPr>
        <p:spPr>
          <a:xfrm>
            <a:off x="1775337" y="1645920"/>
            <a:ext cx="5593325" cy="5943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Let’s explore the finalized app:</a:t>
            </a:r>
          </a:p>
          <a:p>
            <a:pPr marL="0" indent="0" algn="ctr">
              <a:buNone/>
            </a:pPr>
            <a:r>
              <a:rPr lang="en-US" sz="2000" b="1" dirty="0">
                <a:solidFill>
                  <a:srgbClr val="FFFFFF"/>
                </a:solidFill>
                <a:latin typeface="Calibri" pitchFamily="34" charset="0"/>
                <a:ea typeface="Calibri" pitchFamily="34" charset="-122"/>
                <a:cs typeface="Calibri" pitchFamily="34" charset="-120"/>
                <a:hlinkClick r:id="rId3"/>
              </a:rPr>
              <a:t>https://sara-clokey.shinyapps.io/uconn-pitchers/</a:t>
            </a:r>
            <a:endParaRPr lang="en-US" sz="2000"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91145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Other Applications of R Shiny</a:t>
            </a:r>
            <a:endParaRPr lang="en-US" sz="2400" dirty="0"/>
          </a:p>
        </p:txBody>
      </p:sp>
      <p:sp>
        <p:nvSpPr>
          <p:cNvPr id="5" name="Shape 3"/>
          <p:cNvSpPr/>
          <p:nvPr/>
        </p:nvSpPr>
        <p:spPr>
          <a:xfrm>
            <a:off x="320040" y="1234440"/>
            <a:ext cx="4160520" cy="105156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dirty="0"/>
          </a:p>
        </p:txBody>
      </p:sp>
      <p:sp>
        <p:nvSpPr>
          <p:cNvPr id="6" name="Shape 4"/>
          <p:cNvSpPr/>
          <p:nvPr/>
        </p:nvSpPr>
        <p:spPr>
          <a:xfrm>
            <a:off x="320040" y="1234440"/>
            <a:ext cx="64008" cy="1051560"/>
          </a:xfrm>
          <a:prstGeom prst="rect">
            <a:avLst/>
          </a:prstGeom>
          <a:solidFill>
            <a:srgbClr val="C0392B"/>
          </a:solidFill>
          <a:ln w="12700">
            <a:solidFill>
              <a:srgbClr val="C0392B"/>
            </a:solidFill>
            <a:prstDash val="solid"/>
          </a:ln>
        </p:spPr>
        <p:txBody>
          <a:bodyPr/>
          <a:lstStyle/>
          <a:p>
            <a:endParaRPr lang="en-US"/>
          </a:p>
        </p:txBody>
      </p:sp>
      <p:sp>
        <p:nvSpPr>
          <p:cNvPr id="7" name="Text 5"/>
          <p:cNvSpPr/>
          <p:nvPr/>
        </p:nvSpPr>
        <p:spPr>
          <a:xfrm>
            <a:off x="475488" y="1307592"/>
            <a:ext cx="3840480" cy="29260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Sports Analytics</a:t>
            </a:r>
            <a:endParaRPr lang="en-US" sz="1300" dirty="0"/>
          </a:p>
        </p:txBody>
      </p:sp>
      <p:sp>
        <p:nvSpPr>
          <p:cNvPr id="8" name="Text 6"/>
          <p:cNvSpPr/>
          <p:nvPr/>
        </p:nvSpPr>
        <p:spPr>
          <a:xfrm>
            <a:off x="475488" y="1577786"/>
            <a:ext cx="3840480" cy="566928"/>
          </a:xfrm>
          <a:prstGeom prst="rect">
            <a:avLst/>
          </a:prstGeom>
          <a:noFill/>
          <a:ln/>
        </p:spPr>
        <p:txBody>
          <a:bodyPr wrap="square" rtlCol="0" anchor="ctr"/>
          <a:lstStyle/>
          <a:p>
            <a:pPr marL="171450" indent="-171450">
              <a:buFontTx/>
              <a:buChar char="-"/>
            </a:pPr>
            <a:r>
              <a:rPr lang="en-US" sz="1100" dirty="0">
                <a:solidFill>
                  <a:srgbClr val="5A6A7E"/>
                </a:solidFill>
                <a:latin typeface="Calibri" pitchFamily="34" charset="0"/>
                <a:ea typeface="Calibri" pitchFamily="34" charset="-122"/>
                <a:cs typeface="Calibri" pitchFamily="34" charset="-120"/>
              </a:rPr>
              <a:t>Filter-by-player dashboards</a:t>
            </a:r>
          </a:p>
          <a:p>
            <a:pPr marL="171450" indent="-171450">
              <a:buFontTx/>
              <a:buChar char="-"/>
            </a:pPr>
            <a:r>
              <a:rPr lang="en-US" sz="1100" dirty="0">
                <a:solidFill>
                  <a:srgbClr val="5A6A7E"/>
                </a:solidFill>
                <a:latin typeface="Calibri" pitchFamily="34" charset="0"/>
                <a:ea typeface="Calibri" pitchFamily="34" charset="-122"/>
                <a:cs typeface="Calibri" pitchFamily="34" charset="-120"/>
              </a:rPr>
              <a:t>Shot charts</a:t>
            </a:r>
          </a:p>
          <a:p>
            <a:pPr marL="171450" indent="-171450">
              <a:buFontTx/>
              <a:buChar char="-"/>
            </a:pPr>
            <a:r>
              <a:rPr lang="en-US" sz="1100" dirty="0">
                <a:solidFill>
                  <a:srgbClr val="5A6A7E"/>
                </a:solidFill>
                <a:latin typeface="Calibri" pitchFamily="34" charset="0"/>
                <a:ea typeface="Calibri" pitchFamily="34" charset="-122"/>
                <a:cs typeface="Calibri" pitchFamily="34" charset="-120"/>
              </a:rPr>
              <a:t>Game-by-game trend explorers</a:t>
            </a:r>
            <a:endParaRPr lang="en-US" sz="1100" dirty="0"/>
          </a:p>
        </p:txBody>
      </p:sp>
      <p:sp>
        <p:nvSpPr>
          <p:cNvPr id="9" name="Shape 7"/>
          <p:cNvSpPr/>
          <p:nvPr/>
        </p:nvSpPr>
        <p:spPr>
          <a:xfrm>
            <a:off x="4754880" y="1234440"/>
            <a:ext cx="4160520" cy="105156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10" name="Shape 8"/>
          <p:cNvSpPr/>
          <p:nvPr/>
        </p:nvSpPr>
        <p:spPr>
          <a:xfrm>
            <a:off x="4754880" y="1234440"/>
            <a:ext cx="64008" cy="1051560"/>
          </a:xfrm>
          <a:prstGeom prst="rect">
            <a:avLst/>
          </a:prstGeom>
          <a:solidFill>
            <a:srgbClr val="1A7245"/>
          </a:solidFill>
          <a:ln w="12700">
            <a:solidFill>
              <a:srgbClr val="1A7245"/>
            </a:solidFill>
            <a:prstDash val="solid"/>
          </a:ln>
        </p:spPr>
        <p:txBody>
          <a:bodyPr/>
          <a:lstStyle/>
          <a:p>
            <a:endParaRPr lang="en-US"/>
          </a:p>
        </p:txBody>
      </p:sp>
      <p:sp>
        <p:nvSpPr>
          <p:cNvPr id="11" name="Text 9"/>
          <p:cNvSpPr/>
          <p:nvPr/>
        </p:nvSpPr>
        <p:spPr>
          <a:xfrm>
            <a:off x="4910328" y="1307592"/>
            <a:ext cx="3840480" cy="29260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Public Health</a:t>
            </a:r>
            <a:endParaRPr lang="en-US" sz="1300" dirty="0"/>
          </a:p>
        </p:txBody>
      </p:sp>
      <p:sp>
        <p:nvSpPr>
          <p:cNvPr id="12" name="Text 10"/>
          <p:cNvSpPr/>
          <p:nvPr/>
        </p:nvSpPr>
        <p:spPr>
          <a:xfrm>
            <a:off x="4910328" y="1554190"/>
            <a:ext cx="3840480" cy="566928"/>
          </a:xfrm>
          <a:prstGeom prst="rect">
            <a:avLst/>
          </a:prstGeom>
          <a:noFill/>
          <a:ln/>
        </p:spPr>
        <p:txBody>
          <a:bodyPr wrap="square" rtlCol="0" anchor="ctr"/>
          <a:lstStyle/>
          <a:p>
            <a:pPr marL="171450" indent="-171450">
              <a:buFontTx/>
              <a:buChar char="-"/>
            </a:pPr>
            <a:r>
              <a:rPr lang="en-US" sz="1100" dirty="0">
                <a:solidFill>
                  <a:srgbClr val="5A6A7E"/>
                </a:solidFill>
                <a:latin typeface="Calibri" pitchFamily="34" charset="0"/>
                <a:ea typeface="Calibri" pitchFamily="34" charset="-122"/>
                <a:cs typeface="Calibri" pitchFamily="34" charset="-120"/>
              </a:rPr>
              <a:t>Epidemiological explorers</a:t>
            </a:r>
          </a:p>
          <a:p>
            <a:pPr marL="628650" lvl="1" indent="-171450">
              <a:buFontTx/>
              <a:buChar char="-"/>
            </a:pPr>
            <a:r>
              <a:rPr lang="en-US" sz="1100" dirty="0">
                <a:solidFill>
                  <a:srgbClr val="5A6A7E"/>
                </a:solidFill>
                <a:latin typeface="Calibri" pitchFamily="34" charset="0"/>
                <a:ea typeface="Calibri" pitchFamily="34" charset="-122"/>
                <a:cs typeface="Calibri" pitchFamily="34" charset="-120"/>
              </a:rPr>
              <a:t>Filter by region, date, demographic</a:t>
            </a:r>
            <a:endParaRPr lang="en-US" sz="1100" dirty="0"/>
          </a:p>
        </p:txBody>
      </p:sp>
      <p:sp>
        <p:nvSpPr>
          <p:cNvPr id="13" name="Shape 11"/>
          <p:cNvSpPr/>
          <p:nvPr/>
        </p:nvSpPr>
        <p:spPr>
          <a:xfrm>
            <a:off x="320040" y="2468880"/>
            <a:ext cx="4160520" cy="105156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dirty="0"/>
          </a:p>
        </p:txBody>
      </p:sp>
      <p:sp>
        <p:nvSpPr>
          <p:cNvPr id="14" name="Shape 12"/>
          <p:cNvSpPr/>
          <p:nvPr/>
        </p:nvSpPr>
        <p:spPr>
          <a:xfrm>
            <a:off x="320040" y="2468880"/>
            <a:ext cx="64008" cy="1051560"/>
          </a:xfrm>
          <a:prstGeom prst="rect">
            <a:avLst/>
          </a:prstGeom>
          <a:solidFill>
            <a:srgbClr val="1A5276"/>
          </a:solidFill>
          <a:ln w="12700">
            <a:solidFill>
              <a:srgbClr val="1A5276"/>
            </a:solidFill>
            <a:prstDash val="solid"/>
          </a:ln>
        </p:spPr>
        <p:txBody>
          <a:bodyPr/>
          <a:lstStyle/>
          <a:p>
            <a:endParaRPr lang="en-US"/>
          </a:p>
        </p:txBody>
      </p:sp>
      <p:sp>
        <p:nvSpPr>
          <p:cNvPr id="15" name="Text 13"/>
          <p:cNvSpPr/>
          <p:nvPr/>
        </p:nvSpPr>
        <p:spPr>
          <a:xfrm>
            <a:off x="475488" y="2542032"/>
            <a:ext cx="3840480" cy="29260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Business / Finance</a:t>
            </a:r>
            <a:endParaRPr lang="en-US" sz="1300" dirty="0"/>
          </a:p>
        </p:txBody>
      </p:sp>
      <p:sp>
        <p:nvSpPr>
          <p:cNvPr id="16" name="Text 14"/>
          <p:cNvSpPr/>
          <p:nvPr/>
        </p:nvSpPr>
        <p:spPr>
          <a:xfrm>
            <a:off x="475488" y="2812226"/>
            <a:ext cx="3840480" cy="566928"/>
          </a:xfrm>
          <a:prstGeom prst="rect">
            <a:avLst/>
          </a:prstGeom>
          <a:noFill/>
          <a:ln/>
        </p:spPr>
        <p:txBody>
          <a:bodyPr wrap="square" rtlCol="0" anchor="ctr"/>
          <a:lstStyle/>
          <a:p>
            <a:pPr marL="171450" indent="-171450">
              <a:buFontTx/>
              <a:buChar char="-"/>
            </a:pPr>
            <a:r>
              <a:rPr lang="en-US" sz="1100" dirty="0">
                <a:solidFill>
                  <a:srgbClr val="5A6A7E"/>
                </a:solidFill>
                <a:latin typeface="Calibri" pitchFamily="34" charset="0"/>
                <a:ea typeface="Calibri" pitchFamily="34" charset="-122"/>
                <a:cs typeface="Calibri" pitchFamily="34" charset="-120"/>
              </a:rPr>
              <a:t>Sales KPI dashboards</a:t>
            </a:r>
          </a:p>
          <a:p>
            <a:pPr marL="171450" indent="-171450">
              <a:buFontTx/>
              <a:buChar char="-"/>
            </a:pPr>
            <a:r>
              <a:rPr lang="en-US" sz="1100" dirty="0">
                <a:solidFill>
                  <a:srgbClr val="5A6A7E"/>
                </a:solidFill>
                <a:latin typeface="Calibri" pitchFamily="34" charset="0"/>
                <a:ea typeface="Calibri" pitchFamily="34" charset="-122"/>
                <a:cs typeface="Calibri" pitchFamily="34" charset="-120"/>
              </a:rPr>
              <a:t>Regional performance maps</a:t>
            </a:r>
          </a:p>
          <a:p>
            <a:pPr marL="171450" indent="-171450">
              <a:buFontTx/>
              <a:buChar char="-"/>
            </a:pPr>
            <a:r>
              <a:rPr lang="en-US" sz="1100" dirty="0">
                <a:solidFill>
                  <a:srgbClr val="5A6A7E"/>
                </a:solidFill>
                <a:latin typeface="Calibri" pitchFamily="34" charset="0"/>
                <a:ea typeface="Calibri" pitchFamily="34" charset="-122"/>
                <a:cs typeface="Calibri" pitchFamily="34" charset="-120"/>
              </a:rPr>
              <a:t>Forecasting tools</a:t>
            </a:r>
            <a:endParaRPr lang="en-US" sz="1100" dirty="0"/>
          </a:p>
        </p:txBody>
      </p:sp>
      <p:sp>
        <p:nvSpPr>
          <p:cNvPr id="17" name="Shape 15"/>
          <p:cNvSpPr/>
          <p:nvPr/>
        </p:nvSpPr>
        <p:spPr>
          <a:xfrm>
            <a:off x="4754880" y="2468880"/>
            <a:ext cx="4160520" cy="105156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18" name="Shape 16"/>
          <p:cNvSpPr/>
          <p:nvPr/>
        </p:nvSpPr>
        <p:spPr>
          <a:xfrm>
            <a:off x="4754880" y="2468880"/>
            <a:ext cx="64008" cy="1051560"/>
          </a:xfrm>
          <a:prstGeom prst="rect">
            <a:avLst/>
          </a:prstGeom>
          <a:solidFill>
            <a:srgbClr val="6C3483"/>
          </a:solidFill>
          <a:ln w="12700">
            <a:solidFill>
              <a:srgbClr val="6C3483"/>
            </a:solidFill>
            <a:prstDash val="solid"/>
          </a:ln>
        </p:spPr>
        <p:txBody>
          <a:bodyPr/>
          <a:lstStyle/>
          <a:p>
            <a:endParaRPr lang="en-US"/>
          </a:p>
        </p:txBody>
      </p:sp>
      <p:sp>
        <p:nvSpPr>
          <p:cNvPr id="19" name="Text 17"/>
          <p:cNvSpPr/>
          <p:nvPr/>
        </p:nvSpPr>
        <p:spPr>
          <a:xfrm>
            <a:off x="4910328" y="2542032"/>
            <a:ext cx="3840480" cy="29260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Academia / Research</a:t>
            </a:r>
            <a:endParaRPr lang="en-US" sz="1300" dirty="0"/>
          </a:p>
        </p:txBody>
      </p:sp>
      <p:sp>
        <p:nvSpPr>
          <p:cNvPr id="20" name="Text 18"/>
          <p:cNvSpPr/>
          <p:nvPr/>
        </p:nvSpPr>
        <p:spPr>
          <a:xfrm>
            <a:off x="4910328" y="2829923"/>
            <a:ext cx="3840480" cy="566928"/>
          </a:xfrm>
          <a:prstGeom prst="rect">
            <a:avLst/>
          </a:prstGeom>
          <a:noFill/>
          <a:ln/>
        </p:spPr>
        <p:txBody>
          <a:bodyPr wrap="square" rtlCol="0" anchor="ctr"/>
          <a:lstStyle/>
          <a:p>
            <a:pPr marL="171450" indent="-171450">
              <a:buFontTx/>
              <a:buChar char="-"/>
            </a:pPr>
            <a:r>
              <a:rPr lang="en-US" sz="1100" dirty="0">
                <a:solidFill>
                  <a:srgbClr val="5A6A7E"/>
                </a:solidFill>
                <a:latin typeface="Calibri" pitchFamily="34" charset="0"/>
                <a:ea typeface="Calibri" pitchFamily="34" charset="-122"/>
                <a:cs typeface="Calibri" pitchFamily="34" charset="-120"/>
              </a:rPr>
              <a:t>Survey explorers</a:t>
            </a:r>
          </a:p>
          <a:p>
            <a:pPr marL="171450" indent="-171450">
              <a:buFontTx/>
              <a:buChar char="-"/>
            </a:pPr>
            <a:r>
              <a:rPr lang="en-US" sz="1100" dirty="0">
                <a:solidFill>
                  <a:srgbClr val="5A6A7E"/>
                </a:solidFill>
                <a:latin typeface="Calibri" pitchFamily="34" charset="0"/>
                <a:ea typeface="Calibri" pitchFamily="34" charset="-122"/>
                <a:cs typeface="Calibri" pitchFamily="34" charset="-120"/>
              </a:rPr>
              <a:t>Model diagnostic viewers</a:t>
            </a:r>
          </a:p>
          <a:p>
            <a:pPr marL="171450" indent="-171450">
              <a:buFontTx/>
              <a:buChar char="-"/>
            </a:pPr>
            <a:r>
              <a:rPr lang="en-US" sz="1100" dirty="0">
                <a:solidFill>
                  <a:srgbClr val="5A6A7E"/>
                </a:solidFill>
                <a:latin typeface="Calibri" pitchFamily="34" charset="0"/>
                <a:ea typeface="Calibri" pitchFamily="34" charset="-122"/>
                <a:cs typeface="Calibri" pitchFamily="34" charset="-120"/>
              </a:rPr>
              <a:t>Reproducible portals</a:t>
            </a:r>
            <a:endParaRPr lang="en-US" sz="1100" dirty="0"/>
          </a:p>
        </p:txBody>
      </p:sp>
      <p:sp>
        <p:nvSpPr>
          <p:cNvPr id="21" name="Shape 19"/>
          <p:cNvSpPr/>
          <p:nvPr/>
        </p:nvSpPr>
        <p:spPr>
          <a:xfrm>
            <a:off x="320040" y="3703320"/>
            <a:ext cx="4160520" cy="105156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dirty="0"/>
          </a:p>
        </p:txBody>
      </p:sp>
      <p:sp>
        <p:nvSpPr>
          <p:cNvPr id="22" name="Shape 20"/>
          <p:cNvSpPr/>
          <p:nvPr/>
        </p:nvSpPr>
        <p:spPr>
          <a:xfrm>
            <a:off x="320040" y="3703320"/>
            <a:ext cx="64008" cy="1051560"/>
          </a:xfrm>
          <a:prstGeom prst="rect">
            <a:avLst/>
          </a:prstGeom>
          <a:solidFill>
            <a:srgbClr val="B7950B"/>
          </a:solidFill>
          <a:ln w="12700">
            <a:solidFill>
              <a:srgbClr val="B7950B"/>
            </a:solidFill>
            <a:prstDash val="solid"/>
          </a:ln>
        </p:spPr>
        <p:txBody>
          <a:bodyPr/>
          <a:lstStyle/>
          <a:p>
            <a:endParaRPr lang="en-US"/>
          </a:p>
        </p:txBody>
      </p:sp>
      <p:sp>
        <p:nvSpPr>
          <p:cNvPr id="23" name="Text 21"/>
          <p:cNvSpPr/>
          <p:nvPr/>
        </p:nvSpPr>
        <p:spPr>
          <a:xfrm>
            <a:off x="475488" y="3776472"/>
            <a:ext cx="3840480" cy="29260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Education</a:t>
            </a:r>
            <a:endParaRPr lang="en-US" sz="1300" dirty="0"/>
          </a:p>
        </p:txBody>
      </p:sp>
      <p:sp>
        <p:nvSpPr>
          <p:cNvPr id="24" name="Text 22"/>
          <p:cNvSpPr/>
          <p:nvPr/>
        </p:nvSpPr>
        <p:spPr>
          <a:xfrm>
            <a:off x="475488" y="3968496"/>
            <a:ext cx="3840480" cy="566928"/>
          </a:xfrm>
          <a:prstGeom prst="rect">
            <a:avLst/>
          </a:prstGeom>
          <a:noFill/>
          <a:ln/>
        </p:spPr>
        <p:txBody>
          <a:bodyPr wrap="square" rtlCol="0" anchor="ctr"/>
          <a:lstStyle/>
          <a:p>
            <a:pPr marL="171450" indent="-171450">
              <a:buFontTx/>
              <a:buChar char="-"/>
            </a:pPr>
            <a:r>
              <a:rPr lang="en-US" sz="1100" dirty="0">
                <a:solidFill>
                  <a:srgbClr val="5A6A7E"/>
                </a:solidFill>
                <a:latin typeface="Calibri" pitchFamily="34" charset="0"/>
                <a:ea typeface="Calibri" pitchFamily="34" charset="-122"/>
                <a:cs typeface="Calibri" pitchFamily="34" charset="-120"/>
              </a:rPr>
              <a:t>Interactive demonstrations of dynamic concepts</a:t>
            </a:r>
          </a:p>
        </p:txBody>
      </p:sp>
      <p:sp>
        <p:nvSpPr>
          <p:cNvPr id="25" name="Shape 23"/>
          <p:cNvSpPr/>
          <p:nvPr/>
        </p:nvSpPr>
        <p:spPr>
          <a:xfrm>
            <a:off x="4754880" y="3703320"/>
            <a:ext cx="4160520" cy="1051560"/>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26" name="Shape 24"/>
          <p:cNvSpPr/>
          <p:nvPr/>
        </p:nvSpPr>
        <p:spPr>
          <a:xfrm>
            <a:off x="4754880" y="3703320"/>
            <a:ext cx="64008" cy="1051560"/>
          </a:xfrm>
          <a:prstGeom prst="rect">
            <a:avLst/>
          </a:prstGeom>
          <a:solidFill>
            <a:srgbClr val="784212"/>
          </a:solidFill>
          <a:ln w="12700">
            <a:solidFill>
              <a:srgbClr val="784212"/>
            </a:solidFill>
            <a:prstDash val="solid"/>
          </a:ln>
        </p:spPr>
        <p:txBody>
          <a:bodyPr/>
          <a:lstStyle/>
          <a:p>
            <a:endParaRPr lang="en-US"/>
          </a:p>
        </p:txBody>
      </p:sp>
      <p:sp>
        <p:nvSpPr>
          <p:cNvPr id="27" name="Text 25"/>
          <p:cNvSpPr/>
          <p:nvPr/>
        </p:nvSpPr>
        <p:spPr>
          <a:xfrm>
            <a:off x="4910328" y="3776472"/>
            <a:ext cx="3840480" cy="29260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Civic / Government</a:t>
            </a:r>
            <a:endParaRPr lang="en-US" sz="1300" dirty="0"/>
          </a:p>
        </p:txBody>
      </p:sp>
      <p:sp>
        <p:nvSpPr>
          <p:cNvPr id="28" name="Text 26"/>
          <p:cNvSpPr/>
          <p:nvPr/>
        </p:nvSpPr>
        <p:spPr>
          <a:xfrm>
            <a:off x="4910328" y="4070262"/>
            <a:ext cx="3840480" cy="566928"/>
          </a:xfrm>
          <a:prstGeom prst="rect">
            <a:avLst/>
          </a:prstGeom>
          <a:noFill/>
          <a:ln/>
        </p:spPr>
        <p:txBody>
          <a:bodyPr wrap="square" rtlCol="0" anchor="ctr"/>
          <a:lstStyle/>
          <a:p>
            <a:pPr marL="171450" indent="-171450">
              <a:buFontTx/>
              <a:buChar char="-"/>
            </a:pPr>
            <a:r>
              <a:rPr lang="en-US" sz="1100" dirty="0">
                <a:solidFill>
                  <a:srgbClr val="5A6A7E"/>
                </a:solidFill>
                <a:latin typeface="Calibri" pitchFamily="34" charset="0"/>
                <a:ea typeface="Calibri" pitchFamily="34" charset="-122"/>
                <a:cs typeface="Calibri" pitchFamily="34" charset="-120"/>
              </a:rPr>
              <a:t>Census explorers</a:t>
            </a:r>
          </a:p>
          <a:p>
            <a:pPr marL="171450" indent="-171450">
              <a:buFontTx/>
              <a:buChar char="-"/>
            </a:pPr>
            <a:r>
              <a:rPr lang="en-US" sz="1100" dirty="0">
                <a:solidFill>
                  <a:srgbClr val="5A6A7E"/>
                </a:solidFill>
                <a:latin typeface="Calibri" pitchFamily="34" charset="0"/>
                <a:ea typeface="Calibri" pitchFamily="34" charset="-122"/>
                <a:cs typeface="Calibri" pitchFamily="34" charset="-120"/>
              </a:rPr>
              <a:t>Budget allocation tools</a:t>
            </a:r>
          </a:p>
          <a:p>
            <a:pPr marL="171450" indent="-171450">
              <a:buFontTx/>
              <a:buChar char="-"/>
            </a:pPr>
            <a:r>
              <a:rPr lang="en-US" sz="1100" dirty="0">
                <a:solidFill>
                  <a:srgbClr val="5A6A7E"/>
                </a:solidFill>
                <a:latin typeface="Calibri" pitchFamily="34" charset="0"/>
                <a:ea typeface="Calibri" pitchFamily="34" charset="-122"/>
                <a:cs typeface="Calibri" pitchFamily="34" charset="-120"/>
              </a:rPr>
              <a:t>Permit and zoning maps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Limitations of R Shiny</a:t>
            </a:r>
            <a:endParaRPr lang="en-US" sz="2400" dirty="0"/>
          </a:p>
        </p:txBody>
      </p:sp>
      <p:sp>
        <p:nvSpPr>
          <p:cNvPr id="4" name="Shape 2"/>
          <p:cNvSpPr/>
          <p:nvPr/>
        </p:nvSpPr>
        <p:spPr>
          <a:xfrm>
            <a:off x="320040" y="868680"/>
            <a:ext cx="4160520" cy="1901952"/>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5" name="Shape 3"/>
          <p:cNvSpPr/>
          <p:nvPr/>
        </p:nvSpPr>
        <p:spPr>
          <a:xfrm>
            <a:off x="320040" y="868680"/>
            <a:ext cx="4160520" cy="411480"/>
          </a:xfrm>
          <a:prstGeom prst="rect">
            <a:avLst/>
          </a:prstGeom>
          <a:solidFill>
            <a:srgbClr val="2C3E50"/>
          </a:solidFill>
          <a:ln w="12700">
            <a:solidFill>
              <a:srgbClr val="2C3E50"/>
            </a:solidFill>
            <a:prstDash val="solid"/>
          </a:ln>
        </p:spPr>
        <p:txBody>
          <a:bodyPr/>
          <a:lstStyle/>
          <a:p>
            <a:endParaRPr lang="en-US"/>
          </a:p>
        </p:txBody>
      </p:sp>
      <p:sp>
        <p:nvSpPr>
          <p:cNvPr id="6" name="Text 4"/>
          <p:cNvSpPr/>
          <p:nvPr/>
        </p:nvSpPr>
        <p:spPr>
          <a:xfrm>
            <a:off x="429768" y="923544"/>
            <a:ext cx="393192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Scalability &amp; Hosting</a:t>
            </a:r>
            <a:endParaRPr lang="en-US" sz="1250" dirty="0"/>
          </a:p>
        </p:txBody>
      </p:sp>
      <p:sp>
        <p:nvSpPr>
          <p:cNvPr id="7" name="Text 5"/>
          <p:cNvSpPr/>
          <p:nvPr/>
        </p:nvSpPr>
        <p:spPr>
          <a:xfrm>
            <a:off x="429768" y="1371600"/>
            <a:ext cx="3931920" cy="82296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Free shinyapps.io allows for 5 apps, 25 active hours/month</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Heavy concurrent users require paid hosting (Posit Connect)</a:t>
            </a:r>
            <a:endParaRPr lang="en-US" sz="1050" dirty="0"/>
          </a:p>
        </p:txBody>
      </p:sp>
      <p:sp>
        <p:nvSpPr>
          <p:cNvPr id="10" name="Shape 8"/>
          <p:cNvSpPr/>
          <p:nvPr/>
        </p:nvSpPr>
        <p:spPr>
          <a:xfrm>
            <a:off x="4754880" y="868680"/>
            <a:ext cx="4160520" cy="1901952"/>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11" name="Shape 9"/>
          <p:cNvSpPr/>
          <p:nvPr/>
        </p:nvSpPr>
        <p:spPr>
          <a:xfrm>
            <a:off x="4754880" y="868680"/>
            <a:ext cx="4160520" cy="411480"/>
          </a:xfrm>
          <a:prstGeom prst="rect">
            <a:avLst/>
          </a:prstGeom>
          <a:solidFill>
            <a:srgbClr val="2C3E50"/>
          </a:solidFill>
          <a:ln w="12700">
            <a:solidFill>
              <a:srgbClr val="2C3E50"/>
            </a:solidFill>
            <a:prstDash val="solid"/>
          </a:ln>
        </p:spPr>
        <p:txBody>
          <a:bodyPr/>
          <a:lstStyle/>
          <a:p>
            <a:endParaRPr lang="en-US"/>
          </a:p>
        </p:txBody>
      </p:sp>
      <p:sp>
        <p:nvSpPr>
          <p:cNvPr id="12" name="Text 10"/>
          <p:cNvSpPr/>
          <p:nvPr/>
        </p:nvSpPr>
        <p:spPr>
          <a:xfrm>
            <a:off x="4864608" y="923544"/>
            <a:ext cx="393192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Performance with Large Data</a:t>
            </a:r>
            <a:endParaRPr lang="en-US" sz="1250" dirty="0"/>
          </a:p>
        </p:txBody>
      </p:sp>
      <p:sp>
        <p:nvSpPr>
          <p:cNvPr id="13" name="Text 11"/>
          <p:cNvSpPr/>
          <p:nvPr/>
        </p:nvSpPr>
        <p:spPr>
          <a:xfrm>
            <a:off x="4864608" y="1371600"/>
            <a:ext cx="3931920" cy="82296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Each reactive update can refilter and replot the full dataset</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No caching by default — complex apps with large CSVs feel slow</a:t>
            </a:r>
            <a:endParaRPr lang="en-US" sz="1050" dirty="0"/>
          </a:p>
        </p:txBody>
      </p:sp>
      <p:sp>
        <p:nvSpPr>
          <p:cNvPr id="16" name="Shape 14"/>
          <p:cNvSpPr/>
          <p:nvPr/>
        </p:nvSpPr>
        <p:spPr>
          <a:xfrm>
            <a:off x="320040" y="2926080"/>
            <a:ext cx="4160520" cy="1901952"/>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17" name="Shape 15"/>
          <p:cNvSpPr/>
          <p:nvPr/>
        </p:nvSpPr>
        <p:spPr>
          <a:xfrm>
            <a:off x="320040" y="2926080"/>
            <a:ext cx="4160520" cy="411480"/>
          </a:xfrm>
          <a:prstGeom prst="rect">
            <a:avLst/>
          </a:prstGeom>
          <a:solidFill>
            <a:srgbClr val="2C3E50"/>
          </a:solidFill>
          <a:ln w="12700">
            <a:solidFill>
              <a:srgbClr val="2C3E50"/>
            </a:solidFill>
            <a:prstDash val="solid"/>
          </a:ln>
        </p:spPr>
        <p:txBody>
          <a:bodyPr/>
          <a:lstStyle/>
          <a:p>
            <a:endParaRPr lang="en-US"/>
          </a:p>
        </p:txBody>
      </p:sp>
      <p:sp>
        <p:nvSpPr>
          <p:cNvPr id="18" name="Text 16"/>
          <p:cNvSpPr/>
          <p:nvPr/>
        </p:nvSpPr>
        <p:spPr>
          <a:xfrm>
            <a:off x="429768" y="2980944"/>
            <a:ext cx="393192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UI Customization Ceiling</a:t>
            </a:r>
            <a:endParaRPr lang="en-US" sz="1250" dirty="0"/>
          </a:p>
        </p:txBody>
      </p:sp>
      <p:sp>
        <p:nvSpPr>
          <p:cNvPr id="19" name="Text 17"/>
          <p:cNvSpPr/>
          <p:nvPr/>
        </p:nvSpPr>
        <p:spPr>
          <a:xfrm>
            <a:off x="429768" y="3429000"/>
            <a:ext cx="3931920" cy="822960"/>
          </a:xfrm>
          <a:prstGeom prst="rect">
            <a:avLst/>
          </a:prstGeom>
          <a:noFill/>
          <a:ln/>
        </p:spPr>
        <p:txBody>
          <a:bodyPr wrap="square" rtlCol="0" anchor="ctr"/>
          <a:lstStyle/>
          <a:p>
            <a:pPr marL="0" indent="0">
              <a:buNone/>
            </a:pPr>
            <a:r>
              <a:rPr lang="en-US" sz="1050" dirty="0">
                <a:solidFill>
                  <a:srgbClr val="5A6A7E"/>
                </a:solidFill>
                <a:latin typeface="Calibri" pitchFamily="34" charset="0"/>
                <a:ea typeface="Calibri" pitchFamily="34" charset="-122"/>
                <a:cs typeface="Calibri" pitchFamily="34" charset="-120"/>
              </a:rPr>
              <a:t>- Extensive UI work (animations, complex layouts, interactions) requires HTML/CSS/JS</a:t>
            </a:r>
            <a:endParaRPr lang="en-US" sz="1050" dirty="0"/>
          </a:p>
        </p:txBody>
      </p:sp>
      <p:sp>
        <p:nvSpPr>
          <p:cNvPr id="22" name="Shape 20"/>
          <p:cNvSpPr/>
          <p:nvPr/>
        </p:nvSpPr>
        <p:spPr>
          <a:xfrm>
            <a:off x="4754880" y="2926080"/>
            <a:ext cx="4160520" cy="1901952"/>
          </a:xfrm>
          <a:prstGeom prst="rect">
            <a:avLst/>
          </a:prstGeom>
          <a:solidFill>
            <a:srgbClr val="FFFFFF"/>
          </a:solidFill>
          <a:ln w="12700">
            <a:solidFill>
              <a:srgbClr val="C8DCEF"/>
            </a:solidFill>
            <a:prstDash val="solid"/>
          </a:ln>
          <a:effectLst>
            <a:outerShdw blurRad="50800" dist="25400" dir="8100000" algn="bl" rotWithShape="0">
              <a:srgbClr val="000000">
                <a:alpha val="7000"/>
              </a:srgbClr>
            </a:outerShdw>
          </a:effectLst>
        </p:spPr>
        <p:txBody>
          <a:bodyPr/>
          <a:lstStyle/>
          <a:p>
            <a:endParaRPr lang="en-US"/>
          </a:p>
        </p:txBody>
      </p:sp>
      <p:sp>
        <p:nvSpPr>
          <p:cNvPr id="23" name="Shape 21"/>
          <p:cNvSpPr/>
          <p:nvPr/>
        </p:nvSpPr>
        <p:spPr>
          <a:xfrm>
            <a:off x="4754880" y="2926080"/>
            <a:ext cx="4160520" cy="411480"/>
          </a:xfrm>
          <a:prstGeom prst="rect">
            <a:avLst/>
          </a:prstGeom>
          <a:solidFill>
            <a:srgbClr val="2C3E50"/>
          </a:solidFill>
          <a:ln w="12700">
            <a:solidFill>
              <a:srgbClr val="2C3E50"/>
            </a:solidFill>
            <a:prstDash val="solid"/>
          </a:ln>
        </p:spPr>
        <p:txBody>
          <a:bodyPr/>
          <a:lstStyle/>
          <a:p>
            <a:endParaRPr lang="en-US"/>
          </a:p>
        </p:txBody>
      </p:sp>
      <p:sp>
        <p:nvSpPr>
          <p:cNvPr id="24" name="Text 22"/>
          <p:cNvSpPr/>
          <p:nvPr/>
        </p:nvSpPr>
        <p:spPr>
          <a:xfrm>
            <a:off x="4864608" y="2980944"/>
            <a:ext cx="393192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Not Built for Production Security</a:t>
            </a:r>
            <a:endParaRPr lang="en-US" sz="1250" dirty="0"/>
          </a:p>
        </p:txBody>
      </p:sp>
      <p:sp>
        <p:nvSpPr>
          <p:cNvPr id="25" name="Text 23"/>
          <p:cNvSpPr/>
          <p:nvPr/>
        </p:nvSpPr>
        <p:spPr>
          <a:xfrm>
            <a:off x="4864608" y="3429000"/>
            <a:ext cx="3931920" cy="822960"/>
          </a:xfrm>
          <a:prstGeom prst="rect">
            <a:avLst/>
          </a:prstGeom>
          <a:noFill/>
          <a:ln/>
        </p:spPr>
        <p:txBody>
          <a:bodyPr wrap="square" rtlCol="0" anchor="ctr"/>
          <a:lstStyle/>
          <a:p>
            <a:pPr marL="171450" indent="-171450">
              <a:buFontTx/>
              <a:buChar char="-"/>
            </a:pPr>
            <a:r>
              <a:rPr lang="en-US" sz="1050" dirty="0">
                <a:solidFill>
                  <a:srgbClr val="5A6A7E"/>
                </a:solidFill>
                <a:latin typeface="Calibri" pitchFamily="34" charset="0"/>
                <a:ea typeface="Calibri" pitchFamily="34" charset="-122"/>
                <a:cs typeface="Calibri" pitchFamily="34" charset="-120"/>
              </a:rPr>
              <a:t>No built-in authentication, session management, or audit logging</a:t>
            </a:r>
          </a:p>
          <a:p>
            <a:pPr marL="171450" indent="-171450">
              <a:buFontTx/>
              <a:buChar char="-"/>
            </a:pPr>
            <a:r>
              <a:rPr lang="en-US" sz="1050" dirty="0">
                <a:solidFill>
                  <a:srgbClr val="5A6A7E"/>
                </a:solidFill>
                <a:latin typeface="Calibri" pitchFamily="34" charset="0"/>
                <a:ea typeface="Calibri" pitchFamily="34" charset="-122"/>
                <a:cs typeface="Calibri" pitchFamily="34" charset="-120"/>
              </a:rPr>
              <a:t>Not appropriate for apps requiring user accounts or compliance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7132320" y="3200400"/>
            <a:ext cx="3200400" cy="3200400"/>
          </a:xfrm>
          <a:prstGeom prst="ellipse">
            <a:avLst/>
          </a:prstGeom>
          <a:solidFill>
            <a:srgbClr val="22396B"/>
          </a:solidFill>
          <a:ln w="12700">
            <a:solidFill>
              <a:srgbClr val="22396B"/>
            </a:solidFill>
            <a:prstDash val="solid"/>
          </a:ln>
        </p:spPr>
        <p:txBody>
          <a:bodyPr/>
          <a:lstStyle/>
          <a:p>
            <a:endParaRPr lang="en-US"/>
          </a:p>
        </p:txBody>
      </p:sp>
      <p:sp>
        <p:nvSpPr>
          <p:cNvPr id="4" name="Text 2"/>
          <p:cNvSpPr/>
          <p:nvPr/>
        </p:nvSpPr>
        <p:spPr>
          <a:xfrm>
            <a:off x="365760" y="548640"/>
            <a:ext cx="8412480" cy="5943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Key Takeaways</a:t>
            </a:r>
            <a:endParaRPr lang="en-US" sz="3000" dirty="0"/>
          </a:p>
        </p:txBody>
      </p:sp>
      <p:sp>
        <p:nvSpPr>
          <p:cNvPr id="5" name="Shape 3"/>
          <p:cNvSpPr/>
          <p:nvPr/>
        </p:nvSpPr>
        <p:spPr>
          <a:xfrm>
            <a:off x="365760" y="1188720"/>
            <a:ext cx="2286000" cy="45720"/>
          </a:xfrm>
          <a:prstGeom prst="rect">
            <a:avLst/>
          </a:prstGeom>
          <a:solidFill>
            <a:srgbClr val="C0392B"/>
          </a:solidFill>
          <a:ln w="12700">
            <a:solidFill>
              <a:srgbClr val="C0392B"/>
            </a:solidFill>
            <a:prstDash val="solid"/>
          </a:ln>
        </p:spPr>
        <p:txBody>
          <a:bodyPr/>
          <a:lstStyle/>
          <a:p>
            <a:endParaRPr lang="en-US"/>
          </a:p>
        </p:txBody>
      </p:sp>
      <p:sp>
        <p:nvSpPr>
          <p:cNvPr id="6" name="Shape 4"/>
          <p:cNvSpPr/>
          <p:nvPr/>
        </p:nvSpPr>
        <p:spPr>
          <a:xfrm>
            <a:off x="365760" y="1444752"/>
            <a:ext cx="228600" cy="228600"/>
          </a:xfrm>
          <a:prstGeom prst="rect">
            <a:avLst/>
          </a:prstGeom>
          <a:solidFill>
            <a:srgbClr val="C0392B"/>
          </a:solidFill>
          <a:ln w="12700">
            <a:solidFill>
              <a:srgbClr val="C0392B"/>
            </a:solidFill>
            <a:prstDash val="solid"/>
          </a:ln>
        </p:spPr>
        <p:txBody>
          <a:bodyPr/>
          <a:lstStyle/>
          <a:p>
            <a:endParaRPr lang="en-US"/>
          </a:p>
        </p:txBody>
      </p:sp>
      <p:sp>
        <p:nvSpPr>
          <p:cNvPr id="7" name="Text 5"/>
          <p:cNvSpPr/>
          <p:nvPr/>
        </p:nvSpPr>
        <p:spPr>
          <a:xfrm>
            <a:off x="704088" y="1417320"/>
            <a:ext cx="7955280" cy="320040"/>
          </a:xfrm>
          <a:prstGeom prst="rect">
            <a:avLst/>
          </a:prstGeom>
          <a:noFill/>
          <a:ln/>
        </p:spPr>
        <p:txBody>
          <a:bodyPr wrap="square" rtlCol="0" anchor="ctr"/>
          <a:lstStyle/>
          <a:p>
            <a:pPr marL="0" indent="0">
              <a:buNone/>
            </a:pPr>
            <a:r>
              <a:rPr lang="en-US" sz="1300" dirty="0">
                <a:solidFill>
                  <a:srgbClr val="C8DCEF"/>
                </a:solidFill>
                <a:latin typeface="Calibri" pitchFamily="34" charset="0"/>
                <a:ea typeface="Calibri" pitchFamily="34" charset="-122"/>
                <a:cs typeface="Calibri" pitchFamily="34" charset="-120"/>
              </a:rPr>
              <a:t>Shiny turns R analysis into shareable, interactive web apps</a:t>
            </a:r>
            <a:endParaRPr lang="en-US" sz="1300" dirty="0"/>
          </a:p>
        </p:txBody>
      </p:sp>
      <p:sp>
        <p:nvSpPr>
          <p:cNvPr id="8" name="Shape 6"/>
          <p:cNvSpPr/>
          <p:nvPr/>
        </p:nvSpPr>
        <p:spPr>
          <a:xfrm>
            <a:off x="365760" y="2066544"/>
            <a:ext cx="228600" cy="228600"/>
          </a:xfrm>
          <a:prstGeom prst="rect">
            <a:avLst/>
          </a:prstGeom>
          <a:solidFill>
            <a:srgbClr val="C0392B"/>
          </a:solidFill>
          <a:ln w="12700">
            <a:solidFill>
              <a:srgbClr val="C0392B"/>
            </a:solidFill>
            <a:prstDash val="solid"/>
          </a:ln>
        </p:spPr>
        <p:txBody>
          <a:bodyPr/>
          <a:lstStyle/>
          <a:p>
            <a:endParaRPr lang="en-US"/>
          </a:p>
        </p:txBody>
      </p:sp>
      <p:sp>
        <p:nvSpPr>
          <p:cNvPr id="9" name="Text 7"/>
          <p:cNvSpPr/>
          <p:nvPr/>
        </p:nvSpPr>
        <p:spPr>
          <a:xfrm>
            <a:off x="704088" y="2039112"/>
            <a:ext cx="7955280" cy="320040"/>
          </a:xfrm>
          <a:prstGeom prst="rect">
            <a:avLst/>
          </a:prstGeom>
          <a:noFill/>
          <a:ln/>
        </p:spPr>
        <p:txBody>
          <a:bodyPr wrap="square" rtlCol="0" anchor="ctr"/>
          <a:lstStyle/>
          <a:p>
            <a:pPr marL="0" indent="0">
              <a:buNone/>
            </a:pPr>
            <a:r>
              <a:rPr lang="en-US" sz="1300" dirty="0">
                <a:solidFill>
                  <a:srgbClr val="C8DCEF"/>
                </a:solidFill>
                <a:latin typeface="Calibri" pitchFamily="34" charset="0"/>
                <a:ea typeface="Calibri" pitchFamily="34" charset="-122"/>
                <a:cs typeface="Calibri" pitchFamily="34" charset="-120"/>
              </a:rPr>
              <a:t>The UI + Server architecture separates interface design from data logic</a:t>
            </a:r>
            <a:endParaRPr lang="en-US" sz="1300" dirty="0"/>
          </a:p>
        </p:txBody>
      </p:sp>
      <p:sp>
        <p:nvSpPr>
          <p:cNvPr id="10" name="Shape 8"/>
          <p:cNvSpPr/>
          <p:nvPr/>
        </p:nvSpPr>
        <p:spPr>
          <a:xfrm>
            <a:off x="365760" y="2688336"/>
            <a:ext cx="228600" cy="228600"/>
          </a:xfrm>
          <a:prstGeom prst="rect">
            <a:avLst/>
          </a:prstGeom>
          <a:solidFill>
            <a:srgbClr val="C0392B"/>
          </a:solidFill>
          <a:ln w="12700">
            <a:solidFill>
              <a:srgbClr val="C0392B"/>
            </a:solidFill>
            <a:prstDash val="solid"/>
          </a:ln>
        </p:spPr>
        <p:txBody>
          <a:bodyPr/>
          <a:lstStyle/>
          <a:p>
            <a:endParaRPr lang="en-US"/>
          </a:p>
        </p:txBody>
      </p:sp>
      <p:sp>
        <p:nvSpPr>
          <p:cNvPr id="11" name="Text 9"/>
          <p:cNvSpPr/>
          <p:nvPr/>
        </p:nvSpPr>
        <p:spPr>
          <a:xfrm>
            <a:off x="704088" y="2660904"/>
            <a:ext cx="7955280" cy="320040"/>
          </a:xfrm>
          <a:prstGeom prst="rect">
            <a:avLst/>
          </a:prstGeom>
          <a:noFill/>
          <a:ln/>
        </p:spPr>
        <p:txBody>
          <a:bodyPr wrap="square" rtlCol="0" anchor="ctr"/>
          <a:lstStyle/>
          <a:p>
            <a:pPr marL="0" indent="0">
              <a:buNone/>
            </a:pPr>
            <a:r>
              <a:rPr lang="en-US" sz="1300" dirty="0">
                <a:solidFill>
                  <a:srgbClr val="C8DCEF"/>
                </a:solidFill>
                <a:latin typeface="Calibri" pitchFamily="34" charset="0"/>
                <a:ea typeface="Calibri" pitchFamily="34" charset="-122"/>
                <a:cs typeface="Calibri" pitchFamily="34" charset="-120"/>
              </a:rPr>
              <a:t>Reactive outputs update automatically as inputs change</a:t>
            </a:r>
            <a:endParaRPr lang="en-US" sz="1300" dirty="0"/>
          </a:p>
        </p:txBody>
      </p:sp>
      <p:sp>
        <p:nvSpPr>
          <p:cNvPr id="12" name="Shape 10"/>
          <p:cNvSpPr/>
          <p:nvPr/>
        </p:nvSpPr>
        <p:spPr>
          <a:xfrm>
            <a:off x="365760" y="3310128"/>
            <a:ext cx="228600" cy="228600"/>
          </a:xfrm>
          <a:prstGeom prst="rect">
            <a:avLst/>
          </a:prstGeom>
          <a:solidFill>
            <a:srgbClr val="C0392B"/>
          </a:solidFill>
          <a:ln w="12700">
            <a:solidFill>
              <a:srgbClr val="C0392B"/>
            </a:solidFill>
            <a:prstDash val="solid"/>
          </a:ln>
        </p:spPr>
        <p:txBody>
          <a:bodyPr/>
          <a:lstStyle/>
          <a:p>
            <a:endParaRPr lang="en-US"/>
          </a:p>
        </p:txBody>
      </p:sp>
      <p:sp>
        <p:nvSpPr>
          <p:cNvPr id="13" name="Text 11"/>
          <p:cNvSpPr/>
          <p:nvPr/>
        </p:nvSpPr>
        <p:spPr>
          <a:xfrm>
            <a:off x="704088" y="3282696"/>
            <a:ext cx="7955280" cy="320040"/>
          </a:xfrm>
          <a:prstGeom prst="rect">
            <a:avLst/>
          </a:prstGeom>
          <a:noFill/>
          <a:ln/>
        </p:spPr>
        <p:txBody>
          <a:bodyPr wrap="square" rtlCol="0" anchor="ctr"/>
          <a:lstStyle/>
          <a:p>
            <a:pPr marL="0" indent="0">
              <a:buNone/>
            </a:pPr>
            <a:r>
              <a:rPr lang="en-US" sz="1300" dirty="0">
                <a:solidFill>
                  <a:srgbClr val="C8DCEF"/>
                </a:solidFill>
                <a:latin typeface="Calibri" pitchFamily="34" charset="0"/>
                <a:ea typeface="Calibri" pitchFamily="34" charset="-122"/>
                <a:cs typeface="Calibri" pitchFamily="34" charset="-120"/>
              </a:rPr>
              <a:t>Use cases span sports, health, finance, research, education, and more</a:t>
            </a:r>
            <a:endParaRPr lang="en-US" sz="1300" dirty="0"/>
          </a:p>
        </p:txBody>
      </p:sp>
      <p:sp>
        <p:nvSpPr>
          <p:cNvPr id="14" name="Shape 12"/>
          <p:cNvSpPr/>
          <p:nvPr/>
        </p:nvSpPr>
        <p:spPr>
          <a:xfrm>
            <a:off x="365760" y="3931920"/>
            <a:ext cx="228600" cy="228600"/>
          </a:xfrm>
          <a:prstGeom prst="rect">
            <a:avLst/>
          </a:prstGeom>
          <a:solidFill>
            <a:srgbClr val="C0392B"/>
          </a:solidFill>
          <a:ln w="12700">
            <a:solidFill>
              <a:srgbClr val="C0392B"/>
            </a:solidFill>
            <a:prstDash val="solid"/>
          </a:ln>
        </p:spPr>
        <p:txBody>
          <a:bodyPr/>
          <a:lstStyle/>
          <a:p>
            <a:endParaRPr lang="en-US"/>
          </a:p>
        </p:txBody>
      </p:sp>
      <p:sp>
        <p:nvSpPr>
          <p:cNvPr id="15" name="Text 13"/>
          <p:cNvSpPr/>
          <p:nvPr/>
        </p:nvSpPr>
        <p:spPr>
          <a:xfrm>
            <a:off x="704088" y="3904488"/>
            <a:ext cx="7955280" cy="320040"/>
          </a:xfrm>
          <a:prstGeom prst="rect">
            <a:avLst/>
          </a:prstGeom>
          <a:noFill/>
          <a:ln/>
        </p:spPr>
        <p:txBody>
          <a:bodyPr wrap="square" rtlCol="0" anchor="ctr"/>
          <a:lstStyle/>
          <a:p>
            <a:pPr marL="0" indent="0">
              <a:buNone/>
            </a:pPr>
            <a:r>
              <a:rPr lang="en-US" sz="1300" dirty="0">
                <a:solidFill>
                  <a:srgbClr val="C8DCEF"/>
                </a:solidFill>
                <a:latin typeface="Calibri" pitchFamily="34" charset="0"/>
                <a:ea typeface="Calibri" pitchFamily="34" charset="-122"/>
                <a:cs typeface="Calibri" pitchFamily="34" charset="-120"/>
              </a:rPr>
              <a:t>Limitations include scalability, performance, and security need deliberate planning</a:t>
            </a:r>
            <a:endParaRPr lang="en-US" sz="1300" dirty="0"/>
          </a:p>
        </p:txBody>
      </p:sp>
      <p:sp>
        <p:nvSpPr>
          <p:cNvPr id="16" name="Text 14"/>
          <p:cNvSpPr/>
          <p:nvPr/>
        </p:nvSpPr>
        <p:spPr>
          <a:xfrm>
            <a:off x="365760" y="4663440"/>
            <a:ext cx="8412480" cy="365760"/>
          </a:xfrm>
          <a:prstGeom prst="rect">
            <a:avLst/>
          </a:prstGeom>
          <a:noFill/>
          <a:ln/>
        </p:spPr>
        <p:txBody>
          <a:bodyPr wrap="square" rtlCol="0" anchor="ctr"/>
          <a:lstStyle/>
          <a:p>
            <a:pPr marL="0" indent="0">
              <a:buNone/>
            </a:pPr>
            <a:r>
              <a:rPr lang="en-US" sz="1600" i="1" dirty="0">
                <a:solidFill>
                  <a:srgbClr val="8AAFD4"/>
                </a:solidFill>
                <a:latin typeface="Calibri" pitchFamily="34" charset="0"/>
                <a:ea typeface="Calibri" pitchFamily="34" charset="-122"/>
                <a:cs typeface="Calibri" pitchFamily="34" charset="-120"/>
              </a:rPr>
              <a:t>Questions?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a:extLst>
            <a:ext uri="{FF2B5EF4-FFF2-40B4-BE49-F238E27FC236}">
              <a16:creationId xmlns:a16="http://schemas.microsoft.com/office/drawing/2014/main" id="{4CA38790-52B3-D795-1975-8E25E0C306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B4424D7-78D0-6310-3DAB-D0CD62F61324}"/>
              </a:ext>
            </a:extLst>
          </p:cNvPr>
          <p:cNvSpPr/>
          <p:nvPr/>
        </p:nvSpPr>
        <p:spPr>
          <a:xfrm>
            <a:off x="0" y="0"/>
            <a:ext cx="137160" cy="5143500"/>
          </a:xfrm>
          <a:prstGeom prst="rect">
            <a:avLst/>
          </a:prstGeom>
          <a:solidFill>
            <a:srgbClr val="C0392B"/>
          </a:solidFill>
          <a:ln w="12700">
            <a:solidFill>
              <a:srgbClr val="C0392B"/>
            </a:solidFill>
            <a:prstDash val="solid"/>
          </a:ln>
        </p:spPr>
        <p:txBody>
          <a:bodyPr/>
          <a:lstStyle/>
          <a:p>
            <a:endParaRPr lang="en-US"/>
          </a:p>
        </p:txBody>
      </p:sp>
      <p:sp>
        <p:nvSpPr>
          <p:cNvPr id="3" name="Shape 1">
            <a:extLst>
              <a:ext uri="{FF2B5EF4-FFF2-40B4-BE49-F238E27FC236}">
                <a16:creationId xmlns:a16="http://schemas.microsoft.com/office/drawing/2014/main" id="{099184DD-0530-1ECC-F577-5C49923D13D9}"/>
              </a:ext>
            </a:extLst>
          </p:cNvPr>
          <p:cNvSpPr/>
          <p:nvPr/>
        </p:nvSpPr>
        <p:spPr>
          <a:xfrm>
            <a:off x="7132320" y="3200400"/>
            <a:ext cx="3200400" cy="3200400"/>
          </a:xfrm>
          <a:prstGeom prst="ellipse">
            <a:avLst/>
          </a:prstGeom>
          <a:solidFill>
            <a:srgbClr val="22396B"/>
          </a:solidFill>
          <a:ln w="12700">
            <a:solidFill>
              <a:srgbClr val="22396B"/>
            </a:solidFill>
            <a:prstDash val="solid"/>
          </a:ln>
        </p:spPr>
        <p:txBody>
          <a:bodyPr/>
          <a:lstStyle/>
          <a:p>
            <a:endParaRPr lang="en-US"/>
          </a:p>
        </p:txBody>
      </p:sp>
      <p:sp>
        <p:nvSpPr>
          <p:cNvPr id="4" name="Text 2">
            <a:extLst>
              <a:ext uri="{FF2B5EF4-FFF2-40B4-BE49-F238E27FC236}">
                <a16:creationId xmlns:a16="http://schemas.microsoft.com/office/drawing/2014/main" id="{F1D23159-EEC3-2400-197F-C0446DBFBBA4}"/>
              </a:ext>
            </a:extLst>
          </p:cNvPr>
          <p:cNvSpPr/>
          <p:nvPr/>
        </p:nvSpPr>
        <p:spPr>
          <a:xfrm>
            <a:off x="1775337" y="1977390"/>
            <a:ext cx="5593325" cy="5943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Thanks!</a:t>
            </a:r>
          </a:p>
          <a:p>
            <a:pPr marL="0" indent="0" algn="ctr">
              <a:buNone/>
            </a:pPr>
            <a:endParaRPr lang="en-US" sz="3000" b="1" dirty="0">
              <a:solidFill>
                <a:srgbClr val="FFFFFF"/>
              </a:solidFill>
              <a:latin typeface="Calibri" pitchFamily="34" charset="0"/>
              <a:ea typeface="Calibri" pitchFamily="34" charset="-122"/>
              <a:cs typeface="Calibri" pitchFamily="34" charset="-120"/>
            </a:endParaRPr>
          </a:p>
          <a:p>
            <a:pPr marL="0" indent="0" algn="ctr">
              <a:buNone/>
            </a:pPr>
            <a:endParaRPr lang="en-US" sz="3000" b="1" dirty="0">
              <a:solidFill>
                <a:srgbClr val="FFFFFF"/>
              </a:solidFill>
              <a:latin typeface="Calibri" pitchFamily="34" charset="0"/>
              <a:ea typeface="Calibri" pitchFamily="34" charset="-122"/>
              <a:cs typeface="Calibri" pitchFamily="34" charset="-120"/>
            </a:endParaRPr>
          </a:p>
          <a:p>
            <a:pPr marL="0" indent="0" algn="ctr">
              <a:buNone/>
            </a:pPr>
            <a:r>
              <a:rPr lang="en-US" sz="3000" b="1" dirty="0">
                <a:solidFill>
                  <a:srgbClr val="FFFFFF"/>
                </a:solidFill>
                <a:latin typeface="Calibri" pitchFamily="34" charset="0"/>
                <a:ea typeface="Calibri" pitchFamily="34" charset="-122"/>
                <a:cs typeface="Calibri" pitchFamily="34" charset="-120"/>
              </a:rPr>
              <a:t>Questions?</a:t>
            </a:r>
          </a:p>
        </p:txBody>
      </p:sp>
    </p:spTree>
    <p:extLst>
      <p:ext uri="{BB962C8B-B14F-4D97-AF65-F5344CB8AC3E}">
        <p14:creationId xmlns:p14="http://schemas.microsoft.com/office/powerpoint/2010/main" val="1064401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537</TotalTime>
  <Words>3308</Words>
  <Application>Microsoft Office PowerPoint</Application>
  <PresentationFormat>On-screen Show (16:9)</PresentationFormat>
  <Paragraphs>284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Interactive Apps with R Shiny</dc:title>
  <dc:subject>PptxGenJS Presentation</dc:subject>
  <dc:creator>PptxGenJS</dc:creator>
  <cp:lastModifiedBy>Clokey, Sara</cp:lastModifiedBy>
  <cp:revision>2</cp:revision>
  <dcterms:created xsi:type="dcterms:W3CDTF">2026-02-19T19:49:48Z</dcterms:created>
  <dcterms:modified xsi:type="dcterms:W3CDTF">2026-03-03T03:01:32Z</dcterms:modified>
</cp:coreProperties>
</file>